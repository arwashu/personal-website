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78" r:id="rId3"/>
    <p:sldId id="261" r:id="rId4"/>
    <p:sldId id="260" r:id="rId5"/>
    <p:sldId id="267" r:id="rId6"/>
    <p:sldId id="258" r:id="rId7"/>
    <p:sldId id="265" r:id="rId8"/>
    <p:sldId id="264" r:id="rId9"/>
    <p:sldId id="268" r:id="rId10"/>
    <p:sldId id="271" r:id="rId11"/>
    <p:sldId id="273" r:id="rId12"/>
    <p:sldId id="262" r:id="rId13"/>
    <p:sldId id="276" r:id="rId14"/>
    <p:sldId id="272" r:id="rId15"/>
    <p:sldId id="280" r:id="rId16"/>
    <p:sldId id="279"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F4A4D2-B1A3-45E6-8996-9EC914B54710}" v="2" dt="2023-11-29T02:36:52.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967" autoAdjust="0"/>
  </p:normalViewPr>
  <p:slideViewPr>
    <p:cSldViewPr snapToGrid="0">
      <p:cViewPr varScale="1">
        <p:scale>
          <a:sx n="53" d="100"/>
          <a:sy n="53" d="100"/>
        </p:scale>
        <p:origin x="1152" y="3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abadran, Anand" userId="eef7bb7c-ecad-46ff-a629-21d297239687" providerId="ADAL" clId="{8CF4A4D2-B1A3-45E6-8996-9EC914B54710}"/>
    <pc:docChg chg="undo custSel modSld">
      <pc:chgData name="Ramabadran, Anand" userId="eef7bb7c-ecad-46ff-a629-21d297239687" providerId="ADAL" clId="{8CF4A4D2-B1A3-45E6-8996-9EC914B54710}" dt="2025-04-19T04:17:56.843" v="10" actId="20577"/>
      <pc:docMkLst>
        <pc:docMk/>
      </pc:docMkLst>
      <pc:sldChg chg="modNotesTx">
        <pc:chgData name="Ramabadran, Anand" userId="eef7bb7c-ecad-46ff-a629-21d297239687" providerId="ADAL" clId="{8CF4A4D2-B1A3-45E6-8996-9EC914B54710}" dt="2025-04-19T04:17:42.807" v="5" actId="20577"/>
        <pc:sldMkLst>
          <pc:docMk/>
          <pc:sldMk cId="1836785114" sldId="262"/>
        </pc:sldMkLst>
      </pc:sldChg>
      <pc:sldChg chg="modNotesTx">
        <pc:chgData name="Ramabadran, Anand" userId="eef7bb7c-ecad-46ff-a629-21d297239687" providerId="ADAL" clId="{8CF4A4D2-B1A3-45E6-8996-9EC914B54710}" dt="2025-04-19T04:17:33.627" v="2" actId="20577"/>
        <pc:sldMkLst>
          <pc:docMk/>
          <pc:sldMk cId="2479358424" sldId="268"/>
        </pc:sldMkLst>
      </pc:sldChg>
      <pc:sldChg chg="modNotesTx">
        <pc:chgData name="Ramabadran, Anand" userId="eef7bb7c-ecad-46ff-a629-21d297239687" providerId="ADAL" clId="{8CF4A4D2-B1A3-45E6-8996-9EC914B54710}" dt="2025-04-19T04:17:35.834" v="3" actId="20577"/>
        <pc:sldMkLst>
          <pc:docMk/>
          <pc:sldMk cId="544727208" sldId="271"/>
        </pc:sldMkLst>
      </pc:sldChg>
      <pc:sldChg chg="modNotesTx">
        <pc:chgData name="Ramabadran, Anand" userId="eef7bb7c-ecad-46ff-a629-21d297239687" providerId="ADAL" clId="{8CF4A4D2-B1A3-45E6-8996-9EC914B54710}" dt="2025-04-19T04:17:51.624" v="8" actId="20577"/>
        <pc:sldMkLst>
          <pc:docMk/>
          <pc:sldMk cId="3711963850" sldId="272"/>
        </pc:sldMkLst>
      </pc:sldChg>
      <pc:sldChg chg="modNotesTx">
        <pc:chgData name="Ramabadran, Anand" userId="eef7bb7c-ecad-46ff-a629-21d297239687" providerId="ADAL" clId="{8CF4A4D2-B1A3-45E6-8996-9EC914B54710}" dt="2025-04-19T04:17:38.003" v="4" actId="20577"/>
        <pc:sldMkLst>
          <pc:docMk/>
          <pc:sldMk cId="3171760728" sldId="273"/>
        </pc:sldMkLst>
      </pc:sldChg>
      <pc:sldChg chg="modNotesTx">
        <pc:chgData name="Ramabadran, Anand" userId="eef7bb7c-ecad-46ff-a629-21d297239687" providerId="ADAL" clId="{8CF4A4D2-B1A3-45E6-8996-9EC914B54710}" dt="2025-04-19T04:17:46.721" v="6" actId="20577"/>
        <pc:sldMkLst>
          <pc:docMk/>
          <pc:sldMk cId="2491959617" sldId="276"/>
        </pc:sldMkLst>
      </pc:sldChg>
      <pc:sldChg chg="modNotesTx">
        <pc:chgData name="Ramabadran, Anand" userId="eef7bb7c-ecad-46ff-a629-21d297239687" providerId="ADAL" clId="{8CF4A4D2-B1A3-45E6-8996-9EC914B54710}" dt="2025-04-19T04:17:56.843" v="10" actId="20577"/>
        <pc:sldMkLst>
          <pc:docMk/>
          <pc:sldMk cId="3539164792" sldId="279"/>
        </pc:sldMkLst>
      </pc:sldChg>
      <pc:sldChg chg="modSp mod modNotesTx">
        <pc:chgData name="Ramabadran, Anand" userId="eef7bb7c-ecad-46ff-a629-21d297239687" providerId="ADAL" clId="{8CF4A4D2-B1A3-45E6-8996-9EC914B54710}" dt="2025-04-19T04:17:54.678" v="9" actId="20577"/>
        <pc:sldMkLst>
          <pc:docMk/>
          <pc:sldMk cId="2868977063" sldId="280"/>
        </pc:sldMkLst>
        <pc:picChg chg="mod">
          <ac:chgData name="Ramabadran, Anand" userId="eef7bb7c-ecad-46ff-a629-21d297239687" providerId="ADAL" clId="{8CF4A4D2-B1A3-45E6-8996-9EC914B54710}" dt="2023-11-29T02:36:52.629" v="1" actId="1076"/>
          <ac:picMkLst>
            <pc:docMk/>
            <pc:sldMk cId="2868977063" sldId="280"/>
            <ac:picMk id="9" creationId="{E794E726-2C62-BC85-F439-737225F6F8E0}"/>
          </ac:picMkLst>
        </pc:picChg>
      </pc:sldChg>
    </pc:docChg>
  </pc:docChgLst>
  <pc:docChgLst>
    <pc:chgData name="Ramabadran, Anand" userId="eef7bb7c-ecad-46ff-a629-21d297239687" providerId="ADAL" clId="{60425E98-BBEB-46D3-B858-5B92A958AEE4}"/>
    <pc:docChg chg="undo custSel addSld delSld modSld">
      <pc:chgData name="Ramabadran, Anand" userId="eef7bb7c-ecad-46ff-a629-21d297239687" providerId="ADAL" clId="{60425E98-BBEB-46D3-B858-5B92A958AEE4}" dt="2023-11-29T02:26:21.429" v="1499"/>
      <pc:docMkLst>
        <pc:docMk/>
      </pc:docMkLst>
      <pc:sldChg chg="addSp delSp modSp mod">
        <pc:chgData name="Ramabadran, Anand" userId="eef7bb7c-ecad-46ff-a629-21d297239687" providerId="ADAL" clId="{60425E98-BBEB-46D3-B858-5B92A958AEE4}" dt="2023-11-28T02:48:46.738" v="121" actId="1076"/>
        <pc:sldMkLst>
          <pc:docMk/>
          <pc:sldMk cId="2990791366" sldId="258"/>
        </pc:sldMkLst>
        <pc:spChg chg="add mod">
          <ac:chgData name="Ramabadran, Anand" userId="eef7bb7c-ecad-46ff-a629-21d297239687" providerId="ADAL" clId="{60425E98-BBEB-46D3-B858-5B92A958AEE4}" dt="2023-11-28T02:48:46.738" v="121" actId="1076"/>
          <ac:spMkLst>
            <pc:docMk/>
            <pc:sldMk cId="2990791366" sldId="258"/>
            <ac:spMk id="3" creationId="{0C2B7F91-ABB4-6E0A-3E7C-DA620487E5E6}"/>
          </ac:spMkLst>
        </pc:spChg>
        <pc:spChg chg="del">
          <ac:chgData name="Ramabadran, Anand" userId="eef7bb7c-ecad-46ff-a629-21d297239687" providerId="ADAL" clId="{60425E98-BBEB-46D3-B858-5B92A958AEE4}" dt="2023-11-28T02:47:22.058" v="112" actId="478"/>
          <ac:spMkLst>
            <pc:docMk/>
            <pc:sldMk cId="2990791366" sldId="258"/>
            <ac:spMk id="10" creationId="{4A9222E1-4794-092C-39B3-10C995A70F7E}"/>
          </ac:spMkLst>
        </pc:spChg>
      </pc:sldChg>
      <pc:sldChg chg="modNotes">
        <pc:chgData name="Ramabadran, Anand" userId="eef7bb7c-ecad-46ff-a629-21d297239687" providerId="ADAL" clId="{60425E98-BBEB-46D3-B858-5B92A958AEE4}" dt="2023-11-28T01:29:31.254" v="18" actId="6549"/>
        <pc:sldMkLst>
          <pc:docMk/>
          <pc:sldMk cId="1750504004" sldId="260"/>
        </pc:sldMkLst>
      </pc:sldChg>
      <pc:sldChg chg="addSp modSp mod modNotes">
        <pc:chgData name="Ramabadran, Anand" userId="eef7bb7c-ecad-46ff-a629-21d297239687" providerId="ADAL" clId="{60425E98-BBEB-46D3-B858-5B92A958AEE4}" dt="2023-11-29T01:42:11.306" v="1496" actId="1036"/>
        <pc:sldMkLst>
          <pc:docMk/>
          <pc:sldMk cId="1836785114" sldId="262"/>
        </pc:sldMkLst>
        <pc:spChg chg="mod">
          <ac:chgData name="Ramabadran, Anand" userId="eef7bb7c-ecad-46ff-a629-21d297239687" providerId="ADAL" clId="{60425E98-BBEB-46D3-B858-5B92A958AEE4}" dt="2023-11-29T01:41:43.785" v="1488" actId="5793"/>
          <ac:spMkLst>
            <pc:docMk/>
            <pc:sldMk cId="1836785114" sldId="262"/>
            <ac:spMk id="2" creationId="{4928EFB0-AA67-C02E-2961-5C6CAFC9DA9E}"/>
          </ac:spMkLst>
        </pc:spChg>
        <pc:spChg chg="add mod">
          <ac:chgData name="Ramabadran, Anand" userId="eef7bb7c-ecad-46ff-a629-21d297239687" providerId="ADAL" clId="{60425E98-BBEB-46D3-B858-5B92A958AEE4}" dt="2023-11-27T01:36:07.977" v="6" actId="692"/>
          <ac:spMkLst>
            <pc:docMk/>
            <pc:sldMk cId="1836785114" sldId="262"/>
            <ac:spMk id="4" creationId="{05E57C85-29C8-34A2-2718-62702B90F317}"/>
          </ac:spMkLst>
        </pc:spChg>
        <pc:spChg chg="mod">
          <ac:chgData name="Ramabadran, Anand" userId="eef7bb7c-ecad-46ff-a629-21d297239687" providerId="ADAL" clId="{60425E98-BBEB-46D3-B858-5B92A958AEE4}" dt="2023-11-29T01:42:11.306" v="1496" actId="1036"/>
          <ac:spMkLst>
            <pc:docMk/>
            <pc:sldMk cId="1836785114" sldId="262"/>
            <ac:spMk id="9" creationId="{105CD877-FA3C-437B-AD09-887E3143630B}"/>
          </ac:spMkLst>
        </pc:spChg>
      </pc:sldChg>
      <pc:sldChg chg="addSp delSp modSp del mod">
        <pc:chgData name="Ramabadran, Anand" userId="eef7bb7c-ecad-46ff-a629-21d297239687" providerId="ADAL" clId="{60425E98-BBEB-46D3-B858-5B92A958AEE4}" dt="2023-11-29T01:26:26.819" v="1115" actId="2696"/>
        <pc:sldMkLst>
          <pc:docMk/>
          <pc:sldMk cId="364276083" sldId="272"/>
        </pc:sldMkLst>
        <pc:spChg chg="mod">
          <ac:chgData name="Ramabadran, Anand" userId="eef7bb7c-ecad-46ff-a629-21d297239687" providerId="ADAL" clId="{60425E98-BBEB-46D3-B858-5B92A958AEE4}" dt="2023-11-29T00:27:51.229" v="791" actId="20577"/>
          <ac:spMkLst>
            <pc:docMk/>
            <pc:sldMk cId="364276083" sldId="272"/>
            <ac:spMk id="2" creationId="{9C053726-495F-9562-0712-2CFCFF049E0B}"/>
          </ac:spMkLst>
        </pc:spChg>
        <pc:spChg chg="add del mod">
          <ac:chgData name="Ramabadran, Anand" userId="eef7bb7c-ecad-46ff-a629-21d297239687" providerId="ADAL" clId="{60425E98-BBEB-46D3-B858-5B92A958AEE4}" dt="2023-11-29T00:31:29.106" v="803" actId="478"/>
          <ac:spMkLst>
            <pc:docMk/>
            <pc:sldMk cId="364276083" sldId="272"/>
            <ac:spMk id="13" creationId="{3AD9B3BE-41FF-3FB2-F580-1E14FFBB0641}"/>
          </ac:spMkLst>
        </pc:spChg>
        <pc:spChg chg="add del mod">
          <ac:chgData name="Ramabadran, Anand" userId="eef7bb7c-ecad-46ff-a629-21d297239687" providerId="ADAL" clId="{60425E98-BBEB-46D3-B858-5B92A958AEE4}" dt="2023-11-29T00:37:19.590" v="851" actId="478"/>
          <ac:spMkLst>
            <pc:docMk/>
            <pc:sldMk cId="364276083" sldId="272"/>
            <ac:spMk id="18" creationId="{4C47638C-A8BA-A91A-25DF-011C525CB834}"/>
          </ac:spMkLst>
        </pc:spChg>
        <pc:spChg chg="add mod">
          <ac:chgData name="Ramabadran, Anand" userId="eef7bb7c-ecad-46ff-a629-21d297239687" providerId="ADAL" clId="{60425E98-BBEB-46D3-B858-5B92A958AEE4}" dt="2023-11-29T00:38:22.489" v="869" actId="1076"/>
          <ac:spMkLst>
            <pc:docMk/>
            <pc:sldMk cId="364276083" sldId="272"/>
            <ac:spMk id="21" creationId="{F8FEF603-E7D2-CD97-D4B8-23A18A59EBA9}"/>
          </ac:spMkLst>
        </pc:spChg>
        <pc:picChg chg="add mod">
          <ac:chgData name="Ramabadran, Anand" userId="eef7bb7c-ecad-46ff-a629-21d297239687" providerId="ADAL" clId="{60425E98-BBEB-46D3-B858-5B92A958AEE4}" dt="2023-11-29T00:27:09.053" v="767" actId="1076"/>
          <ac:picMkLst>
            <pc:docMk/>
            <pc:sldMk cId="364276083" sldId="272"/>
            <ac:picMk id="4" creationId="{229CD1D9-860F-ABD5-2658-9AA1E69E104F}"/>
          </ac:picMkLst>
        </pc:picChg>
        <pc:picChg chg="add del mod">
          <ac:chgData name="Ramabadran, Anand" userId="eef7bb7c-ecad-46ff-a629-21d297239687" providerId="ADAL" clId="{60425E98-BBEB-46D3-B858-5B92A958AEE4}" dt="2023-11-29T00:22:11.277" v="753" actId="478"/>
          <ac:picMkLst>
            <pc:docMk/>
            <pc:sldMk cId="364276083" sldId="272"/>
            <ac:picMk id="6" creationId="{54C497F6-6057-C8C8-7A27-5D2166EDC90B}"/>
          </ac:picMkLst>
        </pc:picChg>
        <pc:picChg chg="del">
          <ac:chgData name="Ramabadran, Anand" userId="eef7bb7c-ecad-46ff-a629-21d297239687" providerId="ADAL" clId="{60425E98-BBEB-46D3-B858-5B92A958AEE4}" dt="2023-11-29T00:08:50.239" v="741" actId="478"/>
          <ac:picMkLst>
            <pc:docMk/>
            <pc:sldMk cId="364276083" sldId="272"/>
            <ac:picMk id="9" creationId="{64208325-685E-9361-7404-4EC9182D606E}"/>
          </ac:picMkLst>
        </pc:picChg>
        <pc:picChg chg="add mod">
          <ac:chgData name="Ramabadran, Anand" userId="eef7bb7c-ecad-46ff-a629-21d297239687" providerId="ADAL" clId="{60425E98-BBEB-46D3-B858-5B92A958AEE4}" dt="2023-11-29T00:27:03.565" v="766" actId="1076"/>
          <ac:picMkLst>
            <pc:docMk/>
            <pc:sldMk cId="364276083" sldId="272"/>
            <ac:picMk id="10" creationId="{93961908-748D-8FB4-C0C0-9A01ED26B32C}"/>
          </ac:picMkLst>
        </pc:picChg>
        <pc:picChg chg="add mod">
          <ac:chgData name="Ramabadran, Anand" userId="eef7bb7c-ecad-46ff-a629-21d297239687" providerId="ADAL" clId="{60425E98-BBEB-46D3-B858-5B92A958AEE4}" dt="2023-11-29T00:27:11.975" v="768" actId="1076"/>
          <ac:picMkLst>
            <pc:docMk/>
            <pc:sldMk cId="364276083" sldId="272"/>
            <ac:picMk id="12" creationId="{E0425EBD-A7A9-1490-3DDA-EA4ED816229D}"/>
          </ac:picMkLst>
        </pc:picChg>
        <pc:cxnChg chg="add mod">
          <ac:chgData name="Ramabadran, Anand" userId="eef7bb7c-ecad-46ff-a629-21d297239687" providerId="ADAL" clId="{60425E98-BBEB-46D3-B858-5B92A958AEE4}" dt="2023-11-29T00:35:04.593" v="832" actId="14100"/>
          <ac:cxnSpMkLst>
            <pc:docMk/>
            <pc:sldMk cId="364276083" sldId="272"/>
            <ac:cxnSpMk id="15" creationId="{46C1AD3C-6D32-614B-1EA6-8A9427364B8D}"/>
          </ac:cxnSpMkLst>
        </pc:cxnChg>
        <pc:cxnChg chg="add mod">
          <ac:chgData name="Ramabadran, Anand" userId="eef7bb7c-ecad-46ff-a629-21d297239687" providerId="ADAL" clId="{60425E98-BBEB-46D3-B858-5B92A958AEE4}" dt="2023-11-29T00:35:15.924" v="837" actId="1038"/>
          <ac:cxnSpMkLst>
            <pc:docMk/>
            <pc:sldMk cId="364276083" sldId="272"/>
            <ac:cxnSpMk id="17" creationId="{33C2F271-3E06-98B4-02F9-B7038A4CB3F1}"/>
          </ac:cxnSpMkLst>
        </pc:cxnChg>
      </pc:sldChg>
      <pc:sldChg chg="add modNotes">
        <pc:chgData name="Ramabadran, Anand" userId="eef7bb7c-ecad-46ff-a629-21d297239687" providerId="ADAL" clId="{60425E98-BBEB-46D3-B858-5B92A958AEE4}" dt="2023-11-29T01:29:45.724" v="1393" actId="20577"/>
        <pc:sldMkLst>
          <pc:docMk/>
          <pc:sldMk cId="3711963850" sldId="272"/>
        </pc:sldMkLst>
      </pc:sldChg>
      <pc:sldChg chg="modSp del mod">
        <pc:chgData name="Ramabadran, Anand" userId="eef7bb7c-ecad-46ff-a629-21d297239687" providerId="ADAL" clId="{60425E98-BBEB-46D3-B858-5B92A958AEE4}" dt="2023-11-29T01:41:52.146" v="1489" actId="47"/>
        <pc:sldMkLst>
          <pc:docMk/>
          <pc:sldMk cId="3359673184" sldId="275"/>
        </pc:sldMkLst>
        <pc:spChg chg="mod">
          <ac:chgData name="Ramabadran, Anand" userId="eef7bb7c-ecad-46ff-a629-21d297239687" providerId="ADAL" clId="{60425E98-BBEB-46D3-B858-5B92A958AEE4}" dt="2023-11-29T00:39:32.820" v="870" actId="20577"/>
          <ac:spMkLst>
            <pc:docMk/>
            <pc:sldMk cId="3359673184" sldId="275"/>
            <ac:spMk id="4" creationId="{638B4CE4-C357-78D6-00C6-68313BC70F0C}"/>
          </ac:spMkLst>
        </pc:spChg>
      </pc:sldChg>
      <pc:sldChg chg="modNotes">
        <pc:chgData name="Ramabadran, Anand" userId="eef7bb7c-ecad-46ff-a629-21d297239687" providerId="ADAL" clId="{60425E98-BBEB-46D3-B858-5B92A958AEE4}" dt="2023-11-28T01:30:34.189" v="42" actId="6549"/>
        <pc:sldMkLst>
          <pc:docMk/>
          <pc:sldMk cId="2491959617" sldId="276"/>
        </pc:sldMkLst>
      </pc:sldChg>
      <pc:sldChg chg="addSp delSp modSp mod modNotes">
        <pc:chgData name="Ramabadran, Anand" userId="eef7bb7c-ecad-46ff-a629-21d297239687" providerId="ADAL" clId="{60425E98-BBEB-46D3-B858-5B92A958AEE4}" dt="2023-11-29T02:26:21.429" v="1499"/>
        <pc:sldMkLst>
          <pc:docMk/>
          <pc:sldMk cId="2868977063" sldId="280"/>
        </pc:sldMkLst>
        <pc:spChg chg="mod">
          <ac:chgData name="Ramabadran, Anand" userId="eef7bb7c-ecad-46ff-a629-21d297239687" providerId="ADAL" clId="{60425E98-BBEB-46D3-B858-5B92A958AEE4}" dt="2023-11-28T11:47:39.809" v="162" actId="6549"/>
          <ac:spMkLst>
            <pc:docMk/>
            <pc:sldMk cId="2868977063" sldId="280"/>
            <ac:spMk id="2" creationId="{4928EFB0-AA67-C02E-2961-5C6CAFC9DA9E}"/>
          </ac:spMkLst>
        </pc:spChg>
        <pc:spChg chg="add mod">
          <ac:chgData name="Ramabadran, Anand" userId="eef7bb7c-ecad-46ff-a629-21d297239687" providerId="ADAL" clId="{60425E98-BBEB-46D3-B858-5B92A958AEE4}" dt="2023-11-28T11:46:57.454" v="143" actId="1037"/>
          <ac:spMkLst>
            <pc:docMk/>
            <pc:sldMk cId="2868977063" sldId="280"/>
            <ac:spMk id="3" creationId="{0BB7F525-82B2-EBB2-CBAA-3A76487D207E}"/>
          </ac:spMkLst>
        </pc:spChg>
        <pc:spChg chg="add del mod">
          <ac:chgData name="Ramabadran, Anand" userId="eef7bb7c-ecad-46ff-a629-21d297239687" providerId="ADAL" clId="{60425E98-BBEB-46D3-B858-5B92A958AEE4}" dt="2023-11-29T00:45:53.126" v="949" actId="478"/>
          <ac:spMkLst>
            <pc:docMk/>
            <pc:sldMk cId="2868977063" sldId="280"/>
            <ac:spMk id="4" creationId="{C18163B6-506D-E103-A8CB-8E41874D7490}"/>
          </ac:spMkLst>
        </pc:spChg>
        <pc:spChg chg="add mod">
          <ac:chgData name="Ramabadran, Anand" userId="eef7bb7c-ecad-46ff-a629-21d297239687" providerId="ADAL" clId="{60425E98-BBEB-46D3-B858-5B92A958AEE4}" dt="2023-11-29T00:49:58.708" v="1060" actId="207"/>
          <ac:spMkLst>
            <pc:docMk/>
            <pc:sldMk cId="2868977063" sldId="280"/>
            <ac:spMk id="8" creationId="{B5344DA1-4F77-FAF9-9C03-A168CCA54D87}"/>
          </ac:spMkLst>
        </pc:spChg>
        <pc:graphicFrameChg chg="add del mod modGraphic">
          <ac:chgData name="Ramabadran, Anand" userId="eef7bb7c-ecad-46ff-a629-21d297239687" providerId="ADAL" clId="{60425E98-BBEB-46D3-B858-5B92A958AEE4}" dt="2023-11-29T00:45:45.563" v="948" actId="478"/>
          <ac:graphicFrameMkLst>
            <pc:docMk/>
            <pc:sldMk cId="2868977063" sldId="280"/>
            <ac:graphicFrameMk id="5" creationId="{766F701F-526D-4A52-53CB-96D055AB61ED}"/>
          </ac:graphicFrameMkLst>
        </pc:graphicFrameChg>
        <pc:graphicFrameChg chg="add mod modGraphic">
          <ac:chgData name="Ramabadran, Anand" userId="eef7bb7c-ecad-46ff-a629-21d297239687" providerId="ADAL" clId="{60425E98-BBEB-46D3-B858-5B92A958AEE4}" dt="2023-11-29T02:26:21.429" v="1499"/>
          <ac:graphicFrameMkLst>
            <pc:docMk/>
            <pc:sldMk cId="2868977063" sldId="280"/>
            <ac:graphicFrameMk id="6" creationId="{87330476-0B7C-0840-CCFB-46F45CB2770C}"/>
          </ac:graphicFrameMkLst>
        </pc:graphicFrameChg>
        <pc:picChg chg="add del mod ord">
          <ac:chgData name="Ramabadran, Anand" userId="eef7bb7c-ecad-46ff-a629-21d297239687" providerId="ADAL" clId="{60425E98-BBEB-46D3-B858-5B92A958AEE4}" dt="2023-11-28T11:46:26.170" v="131" actId="478"/>
          <ac:picMkLst>
            <pc:docMk/>
            <pc:sldMk cId="2868977063" sldId="280"/>
            <ac:picMk id="5" creationId="{BC38B91B-AB7B-87F6-0496-39CB147047DD}"/>
          </ac:picMkLst>
        </pc:picChg>
        <pc:picChg chg="del">
          <ac:chgData name="Ramabadran, Anand" userId="eef7bb7c-ecad-46ff-a629-21d297239687" providerId="ADAL" clId="{60425E98-BBEB-46D3-B858-5B92A958AEE4}" dt="2023-11-28T11:42:19.083" v="122" actId="478"/>
          <ac:picMkLst>
            <pc:docMk/>
            <pc:sldMk cId="2868977063" sldId="280"/>
            <ac:picMk id="8" creationId="{E1B5FEF6-E1FF-BB5E-706A-AE8C65C4E3C3}"/>
          </ac:picMkLst>
        </pc:picChg>
        <pc:picChg chg="add mod ord">
          <ac:chgData name="Ramabadran, Anand" userId="eef7bb7c-ecad-46ff-a629-21d297239687" providerId="ADAL" clId="{60425E98-BBEB-46D3-B858-5B92A958AEE4}" dt="2023-11-28T11:46:46.793" v="136" actId="14100"/>
          <ac:picMkLst>
            <pc:docMk/>
            <pc:sldMk cId="2868977063" sldId="280"/>
            <ac:picMk id="9" creationId="{E794E726-2C62-BC85-F439-737225F6F8E0}"/>
          </ac:picMkLst>
        </pc:picChg>
      </pc:sldChg>
      <pc:sldChg chg="addSp delSp modSp add del mod modNotes">
        <pc:chgData name="Ramabadran, Anand" userId="eef7bb7c-ecad-46ff-a629-21d297239687" providerId="ADAL" clId="{60425E98-BBEB-46D3-B858-5B92A958AEE4}" dt="2023-11-29T01:18:02.334" v="1114" actId="47"/>
        <pc:sldMkLst>
          <pc:docMk/>
          <pc:sldMk cId="1255189765" sldId="281"/>
        </pc:sldMkLst>
        <pc:spChg chg="mod">
          <ac:chgData name="Ramabadran, Anand" userId="eef7bb7c-ecad-46ff-a629-21d297239687" providerId="ADAL" clId="{60425E98-BBEB-46D3-B858-5B92A958AEE4}" dt="2023-11-28T11:56:30.673" v="740" actId="20577"/>
          <ac:spMkLst>
            <pc:docMk/>
            <pc:sldMk cId="1255189765" sldId="281"/>
            <ac:spMk id="2" creationId="{4928EFB0-AA67-C02E-2961-5C6CAFC9DA9E}"/>
          </ac:spMkLst>
        </pc:spChg>
        <pc:spChg chg="del">
          <ac:chgData name="Ramabadran, Anand" userId="eef7bb7c-ecad-46ff-a629-21d297239687" providerId="ADAL" clId="{60425E98-BBEB-46D3-B858-5B92A958AEE4}" dt="2023-11-28T11:51:18.613" v="323" actId="478"/>
          <ac:spMkLst>
            <pc:docMk/>
            <pc:sldMk cId="1255189765" sldId="281"/>
            <ac:spMk id="3" creationId="{0BB7F525-82B2-EBB2-CBAA-3A76487D207E}"/>
          </ac:spMkLst>
        </pc:spChg>
        <pc:spChg chg="add mod">
          <ac:chgData name="Ramabadran, Anand" userId="eef7bb7c-ecad-46ff-a629-21d297239687" providerId="ADAL" clId="{60425E98-BBEB-46D3-B858-5B92A958AEE4}" dt="2023-11-28T11:53:25.045" v="344" actId="692"/>
          <ac:spMkLst>
            <pc:docMk/>
            <pc:sldMk cId="1255189765" sldId="281"/>
            <ac:spMk id="6" creationId="{5538D5D7-770E-C189-8F09-4E6B1AB1D6CF}"/>
          </ac:spMkLst>
        </pc:spChg>
        <pc:picChg chg="add mod">
          <ac:chgData name="Ramabadran, Anand" userId="eef7bb7c-ecad-46ff-a629-21d297239687" providerId="ADAL" clId="{60425E98-BBEB-46D3-B858-5B92A958AEE4}" dt="2023-11-28T11:52:24.765" v="333" actId="14100"/>
          <ac:picMkLst>
            <pc:docMk/>
            <pc:sldMk cId="1255189765" sldId="281"/>
            <ac:picMk id="5" creationId="{3A21C98E-2B47-C326-A7AA-A86C029AA292}"/>
          </ac:picMkLst>
        </pc:picChg>
        <pc:picChg chg="del">
          <ac:chgData name="Ramabadran, Anand" userId="eef7bb7c-ecad-46ff-a629-21d297239687" providerId="ADAL" clId="{60425E98-BBEB-46D3-B858-5B92A958AEE4}" dt="2023-11-28T11:51:16.162" v="322" actId="478"/>
          <ac:picMkLst>
            <pc:docMk/>
            <pc:sldMk cId="1255189765" sldId="281"/>
            <ac:picMk id="9" creationId="{E794E726-2C62-BC85-F439-737225F6F8E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470D9C-5208-409F-8DAE-06ACB9547689}" type="doc">
      <dgm:prSet loTypeId="urn:microsoft.com/office/officeart/2005/8/layout/hProcess3" loCatId="process" qsTypeId="urn:microsoft.com/office/officeart/2005/8/quickstyle/simple1" qsCatId="simple" csTypeId="urn:microsoft.com/office/officeart/2005/8/colors/accent1_2" csCatId="accent1" phldr="1"/>
      <dgm:spPr/>
    </dgm:pt>
    <dgm:pt modelId="{E566F0D1-1425-42B6-BC5C-FBDD70BD9894}">
      <dgm:prSet phldrT="[Text]" custT="1"/>
      <dgm:spPr/>
      <dgm:t>
        <a:bodyPr/>
        <a:lstStyle/>
        <a:p>
          <a:r>
            <a:rPr lang="en-US" sz="1200" baseline="0"/>
            <a:t>Statistically significant difference in Means</a:t>
          </a:r>
        </a:p>
      </dgm:t>
    </dgm:pt>
    <dgm:pt modelId="{376A47B0-32D5-4DA2-8B3A-27A05541EA28}" type="parTrans" cxnId="{B6B2AAF1-6BBC-40D5-A5C8-2ED7C3CB28AE}">
      <dgm:prSet/>
      <dgm:spPr/>
      <dgm:t>
        <a:bodyPr/>
        <a:lstStyle/>
        <a:p>
          <a:endParaRPr lang="en-US"/>
        </a:p>
      </dgm:t>
    </dgm:pt>
    <dgm:pt modelId="{F4C347FA-E719-4045-9779-DACD82726FEC}" type="sibTrans" cxnId="{B6B2AAF1-6BBC-40D5-A5C8-2ED7C3CB28AE}">
      <dgm:prSet/>
      <dgm:spPr/>
      <dgm:t>
        <a:bodyPr/>
        <a:lstStyle/>
        <a:p>
          <a:endParaRPr lang="en-US"/>
        </a:p>
      </dgm:t>
    </dgm:pt>
    <dgm:pt modelId="{8639E88E-2D31-4C9B-8520-328266399DAD}" type="pres">
      <dgm:prSet presAssocID="{53470D9C-5208-409F-8DAE-06ACB9547689}" presName="Name0" presStyleCnt="0">
        <dgm:presLayoutVars>
          <dgm:dir/>
          <dgm:animLvl val="lvl"/>
          <dgm:resizeHandles val="exact"/>
        </dgm:presLayoutVars>
      </dgm:prSet>
      <dgm:spPr/>
    </dgm:pt>
    <dgm:pt modelId="{C4DFF7CA-3CB4-4611-B5D3-92E3D7438E93}" type="pres">
      <dgm:prSet presAssocID="{53470D9C-5208-409F-8DAE-06ACB9547689}" presName="dummy" presStyleCnt="0"/>
      <dgm:spPr/>
    </dgm:pt>
    <dgm:pt modelId="{DAC5D4BD-71A1-4524-BFAC-C47C3FCCC02A}" type="pres">
      <dgm:prSet presAssocID="{53470D9C-5208-409F-8DAE-06ACB9547689}" presName="linH" presStyleCnt="0"/>
      <dgm:spPr/>
    </dgm:pt>
    <dgm:pt modelId="{C1C9A423-783F-47C8-8963-2216DCD907CC}" type="pres">
      <dgm:prSet presAssocID="{53470D9C-5208-409F-8DAE-06ACB9547689}" presName="padding1" presStyleCnt="0"/>
      <dgm:spPr/>
    </dgm:pt>
    <dgm:pt modelId="{90D754A6-DAB9-43EC-8C39-6AD7169D6D43}" type="pres">
      <dgm:prSet presAssocID="{E566F0D1-1425-42B6-BC5C-FBDD70BD9894}" presName="linV" presStyleCnt="0"/>
      <dgm:spPr/>
    </dgm:pt>
    <dgm:pt modelId="{27685C76-A971-4287-9A4F-3065CB6D03BA}" type="pres">
      <dgm:prSet presAssocID="{E566F0D1-1425-42B6-BC5C-FBDD70BD9894}" presName="spVertical1" presStyleCnt="0"/>
      <dgm:spPr/>
    </dgm:pt>
    <dgm:pt modelId="{9FC99662-CC91-4F54-AF33-BDC31A2AAAEB}" type="pres">
      <dgm:prSet presAssocID="{E566F0D1-1425-42B6-BC5C-FBDD70BD9894}" presName="parTx" presStyleLbl="revTx" presStyleIdx="0" presStyleCnt="1" custScaleX="145092" custLinFactNeighborX="-605" custLinFactNeighborY="17092">
        <dgm:presLayoutVars>
          <dgm:chMax val="0"/>
          <dgm:chPref val="0"/>
          <dgm:bulletEnabled val="1"/>
        </dgm:presLayoutVars>
      </dgm:prSet>
      <dgm:spPr/>
    </dgm:pt>
    <dgm:pt modelId="{629FD4DD-A56D-419D-BE92-9BEBAC031E68}" type="pres">
      <dgm:prSet presAssocID="{E566F0D1-1425-42B6-BC5C-FBDD70BD9894}" presName="spVertical2" presStyleCnt="0"/>
      <dgm:spPr/>
    </dgm:pt>
    <dgm:pt modelId="{0617FBE4-69AF-4D74-86DC-686B1AF7F5FE}" type="pres">
      <dgm:prSet presAssocID="{E566F0D1-1425-42B6-BC5C-FBDD70BD9894}" presName="spVertical3" presStyleCnt="0"/>
      <dgm:spPr/>
    </dgm:pt>
    <dgm:pt modelId="{C44F5342-2358-4FAE-A32E-A2EF64234585}" type="pres">
      <dgm:prSet presAssocID="{53470D9C-5208-409F-8DAE-06ACB9547689}" presName="padding2" presStyleCnt="0"/>
      <dgm:spPr/>
    </dgm:pt>
    <dgm:pt modelId="{76A94D90-F2C7-468C-97ED-317B3C4FBD93}" type="pres">
      <dgm:prSet presAssocID="{53470D9C-5208-409F-8DAE-06ACB9547689}" presName="negArrow" presStyleCnt="0"/>
      <dgm:spPr/>
    </dgm:pt>
    <dgm:pt modelId="{869326F7-66FD-4C34-B8C7-88E751F38AD4}" type="pres">
      <dgm:prSet presAssocID="{53470D9C-5208-409F-8DAE-06ACB9547689}" presName="backgroundArrow" presStyleLbl="node1" presStyleIdx="0" presStyleCnt="1" custAng="10800000" custScaleY="139627" custLinFactNeighborX="4424" custLinFactNeighborY="-1051"/>
      <dgm:spPr/>
    </dgm:pt>
  </dgm:ptLst>
  <dgm:cxnLst>
    <dgm:cxn modelId="{B5F9B558-25AB-4FB6-80F6-F0C7CFCC1AD4}" type="presOf" srcId="{E566F0D1-1425-42B6-BC5C-FBDD70BD9894}" destId="{9FC99662-CC91-4F54-AF33-BDC31A2AAAEB}" srcOrd="0" destOrd="0" presId="urn:microsoft.com/office/officeart/2005/8/layout/hProcess3"/>
    <dgm:cxn modelId="{010766CC-9674-42C6-9442-80C32BE8EC88}" type="presOf" srcId="{53470D9C-5208-409F-8DAE-06ACB9547689}" destId="{8639E88E-2D31-4C9B-8520-328266399DAD}" srcOrd="0" destOrd="0" presId="urn:microsoft.com/office/officeart/2005/8/layout/hProcess3"/>
    <dgm:cxn modelId="{B6B2AAF1-6BBC-40D5-A5C8-2ED7C3CB28AE}" srcId="{53470D9C-5208-409F-8DAE-06ACB9547689}" destId="{E566F0D1-1425-42B6-BC5C-FBDD70BD9894}" srcOrd="0" destOrd="0" parTransId="{376A47B0-32D5-4DA2-8B3A-27A05541EA28}" sibTransId="{F4C347FA-E719-4045-9779-DACD82726FEC}"/>
    <dgm:cxn modelId="{3263C324-A5F9-4BFF-9E0F-644043FFF3DF}" type="presParOf" srcId="{8639E88E-2D31-4C9B-8520-328266399DAD}" destId="{C4DFF7CA-3CB4-4611-B5D3-92E3D7438E93}" srcOrd="0" destOrd="0" presId="urn:microsoft.com/office/officeart/2005/8/layout/hProcess3"/>
    <dgm:cxn modelId="{0128A1FC-1C3E-4EF0-B012-BE563825D138}" type="presParOf" srcId="{8639E88E-2D31-4C9B-8520-328266399DAD}" destId="{DAC5D4BD-71A1-4524-BFAC-C47C3FCCC02A}" srcOrd="1" destOrd="0" presId="urn:microsoft.com/office/officeart/2005/8/layout/hProcess3"/>
    <dgm:cxn modelId="{B0BC03EB-5212-4B9D-928A-9546AC7711F9}" type="presParOf" srcId="{DAC5D4BD-71A1-4524-BFAC-C47C3FCCC02A}" destId="{C1C9A423-783F-47C8-8963-2216DCD907CC}" srcOrd="0" destOrd="0" presId="urn:microsoft.com/office/officeart/2005/8/layout/hProcess3"/>
    <dgm:cxn modelId="{8C977C04-AF8C-4B03-B307-AD1722224524}" type="presParOf" srcId="{DAC5D4BD-71A1-4524-BFAC-C47C3FCCC02A}" destId="{90D754A6-DAB9-43EC-8C39-6AD7169D6D43}" srcOrd="1" destOrd="0" presId="urn:microsoft.com/office/officeart/2005/8/layout/hProcess3"/>
    <dgm:cxn modelId="{F1A6CBCD-9CF7-421B-965A-31E069FDDEAF}" type="presParOf" srcId="{90D754A6-DAB9-43EC-8C39-6AD7169D6D43}" destId="{27685C76-A971-4287-9A4F-3065CB6D03BA}" srcOrd="0" destOrd="0" presId="urn:microsoft.com/office/officeart/2005/8/layout/hProcess3"/>
    <dgm:cxn modelId="{C2E3A5E4-A2E0-4766-8979-E612658D36EB}" type="presParOf" srcId="{90D754A6-DAB9-43EC-8C39-6AD7169D6D43}" destId="{9FC99662-CC91-4F54-AF33-BDC31A2AAAEB}" srcOrd="1" destOrd="0" presId="urn:microsoft.com/office/officeart/2005/8/layout/hProcess3"/>
    <dgm:cxn modelId="{A9005AD8-2BFC-48C2-B958-9E9F67C8220A}" type="presParOf" srcId="{90D754A6-DAB9-43EC-8C39-6AD7169D6D43}" destId="{629FD4DD-A56D-419D-BE92-9BEBAC031E68}" srcOrd="2" destOrd="0" presId="urn:microsoft.com/office/officeart/2005/8/layout/hProcess3"/>
    <dgm:cxn modelId="{0316B423-FA6A-4BBF-8E1F-088033038957}" type="presParOf" srcId="{90D754A6-DAB9-43EC-8C39-6AD7169D6D43}" destId="{0617FBE4-69AF-4D74-86DC-686B1AF7F5FE}" srcOrd="3" destOrd="0" presId="urn:microsoft.com/office/officeart/2005/8/layout/hProcess3"/>
    <dgm:cxn modelId="{F3996B74-1D88-4E17-B9A1-9E377937EB53}" type="presParOf" srcId="{DAC5D4BD-71A1-4524-BFAC-C47C3FCCC02A}" destId="{C44F5342-2358-4FAE-A32E-A2EF64234585}" srcOrd="2" destOrd="0" presId="urn:microsoft.com/office/officeart/2005/8/layout/hProcess3"/>
    <dgm:cxn modelId="{C889616F-39F5-4639-866C-45DED749E5D3}" type="presParOf" srcId="{DAC5D4BD-71A1-4524-BFAC-C47C3FCCC02A}" destId="{76A94D90-F2C7-468C-97ED-317B3C4FBD93}" srcOrd="3" destOrd="0" presId="urn:microsoft.com/office/officeart/2005/8/layout/hProcess3"/>
    <dgm:cxn modelId="{4263A249-33AB-4FF7-B455-B4BE3E38BCBB}" type="presParOf" srcId="{DAC5D4BD-71A1-4524-BFAC-C47C3FCCC02A}" destId="{869326F7-66FD-4C34-B8C7-88E751F38AD4}" srcOrd="4" destOrd="0" presId="urn:microsoft.com/office/officeart/2005/8/layout/h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9326F7-66FD-4C34-B8C7-88E751F38AD4}">
      <dsp:nvSpPr>
        <dsp:cNvPr id="0" name=""/>
        <dsp:cNvSpPr/>
      </dsp:nvSpPr>
      <dsp:spPr>
        <a:xfrm rot="10800000">
          <a:off x="6401" y="0"/>
          <a:ext cx="3272883" cy="1214633"/>
        </a:xfrm>
        <a:prstGeom prst="right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C99662-CC91-4F54-AF33-BDC31A2AAAEB}">
      <dsp:nvSpPr>
        <dsp:cNvPr id="0" name=""/>
        <dsp:cNvSpPr/>
      </dsp:nvSpPr>
      <dsp:spPr>
        <a:xfrm>
          <a:off x="258144" y="340447"/>
          <a:ext cx="2703600" cy="581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1920" rIns="0" bIns="121920" numCol="1" spcCol="1270" anchor="ctr" anchorCtr="0">
          <a:noAutofit/>
        </a:bodyPr>
        <a:lstStyle/>
        <a:p>
          <a:pPr marL="0" lvl="0" indent="0" algn="ctr" defTabSz="533400">
            <a:lnSpc>
              <a:spcPct val="90000"/>
            </a:lnSpc>
            <a:spcBef>
              <a:spcPct val="0"/>
            </a:spcBef>
            <a:spcAft>
              <a:spcPct val="35000"/>
            </a:spcAft>
            <a:buNone/>
          </a:pPr>
          <a:r>
            <a:rPr lang="en-US" sz="1200" kern="1200" baseline="0"/>
            <a:t>Statistically significant difference in Means</a:t>
          </a:r>
        </a:p>
      </dsp:txBody>
      <dsp:txXfrm>
        <a:off x="258144" y="340447"/>
        <a:ext cx="2703600" cy="58150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62730861-52A4-4667-AB28-5A3810D59894}" type="datetimeFigureOut">
              <a:rPr lang="en-US" smtClean="0"/>
              <a:t>4/18/2025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4C5F45B-2344-4E9F-9D04-0E9A5386050E}" type="slidenum">
              <a:rPr lang="en-US" smtClean="0"/>
              <a:t>‹#›</a:t>
            </a:fld>
            <a:endParaRPr lang="en-US"/>
          </a:p>
        </p:txBody>
      </p:sp>
    </p:spTree>
    <p:extLst>
      <p:ext uri="{BB962C8B-B14F-4D97-AF65-F5344CB8AC3E}">
        <p14:creationId xmlns:p14="http://schemas.microsoft.com/office/powerpoint/2010/main" val="254577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9e449b38f5_0_4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9e449b38f5_0_4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words on the left are my guesses as to what I thought this group might say. </a:t>
            </a:r>
          </a:p>
          <a:p>
            <a:endParaRPr lang="en-US"/>
          </a:p>
          <a:p>
            <a:r>
              <a:rPr lang="en-US"/>
              <a:t>The chart on the right are the results from a Gallup survey in March 2023. Although enjoyment ranked the highest, I was surprised that the next several choices….stress….worry…..loneliness…..sadness…..and anger were all negative emotions.</a:t>
            </a:r>
          </a:p>
        </p:txBody>
      </p:sp>
      <p:sp>
        <p:nvSpPr>
          <p:cNvPr id="4" name="Slide Number Placeholder 3"/>
          <p:cNvSpPr>
            <a:spLocks noGrp="1"/>
          </p:cNvSpPr>
          <p:nvPr>
            <p:ph type="sldNum" sz="quarter" idx="5"/>
          </p:nvPr>
        </p:nvSpPr>
        <p:spPr/>
        <p:txBody>
          <a:bodyPr/>
          <a:lstStyle/>
          <a:p>
            <a:fld id="{C4C5F45B-2344-4E9F-9D04-0E9A5386050E}" type="slidenum">
              <a:rPr lang="en-US" smtClean="0"/>
              <a:t>2</a:t>
            </a:fld>
            <a:endParaRPr lang="en-US"/>
          </a:p>
        </p:txBody>
      </p:sp>
    </p:spTree>
    <p:extLst>
      <p:ext uri="{BB962C8B-B14F-4D97-AF65-F5344CB8AC3E}">
        <p14:creationId xmlns:p14="http://schemas.microsoft.com/office/powerpoint/2010/main" val="2428452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508617"/>
            <a:ext cx="5608320" cy="3660458"/>
          </a:xfrm>
        </p:spPr>
        <p:txBody>
          <a:bodyPr/>
          <a:lstStyle/>
          <a:p>
            <a:r>
              <a:rPr lang="en-US"/>
              <a:t>To put the Gallup results in context, here is a chart of the mental health spectrum, with good mental health over in green on the left – which is indicated by positive feelings like happiness, satisfaction, and peace of mind. Bad mental health, over in red on the right, is indicated by problems like anxiety, depression, and suicidal thoughts.</a:t>
            </a:r>
          </a:p>
          <a:p>
            <a:endParaRPr lang="en-US"/>
          </a:p>
          <a:p>
            <a:r>
              <a:rPr lang="en-US"/>
              <a:t>Precursors of bad mental health are shown in the middle yellow column. </a:t>
            </a:r>
            <a:r>
              <a:rPr lang="en-US" b="1" u="sng"/>
              <a:t>Note the 5 negative emotions from the Gallup survey all appear word for word here. </a:t>
            </a:r>
            <a:r>
              <a:rPr lang="en-US"/>
              <a:t>As these emotions are risk indicators of potential mental health problems, this is a topic all students should pay attention to.</a:t>
            </a:r>
          </a:p>
        </p:txBody>
      </p:sp>
      <p:sp>
        <p:nvSpPr>
          <p:cNvPr id="4" name="Slide Number Placeholder 3"/>
          <p:cNvSpPr>
            <a:spLocks noGrp="1"/>
          </p:cNvSpPr>
          <p:nvPr>
            <p:ph type="sldNum" sz="quarter" idx="5"/>
          </p:nvPr>
        </p:nvSpPr>
        <p:spPr/>
        <p:txBody>
          <a:bodyPr/>
          <a:lstStyle/>
          <a:p>
            <a:fld id="{C4C5F45B-2344-4E9F-9D04-0E9A5386050E}" type="slidenum">
              <a:rPr lang="en-US" smtClean="0"/>
              <a:t>3</a:t>
            </a:fld>
            <a:endParaRPr lang="en-US"/>
          </a:p>
        </p:txBody>
      </p:sp>
    </p:spTree>
    <p:extLst>
      <p:ext uri="{BB962C8B-B14F-4D97-AF65-F5344CB8AC3E}">
        <p14:creationId xmlns:p14="http://schemas.microsoft.com/office/powerpoint/2010/main" val="2631536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from the Healthy Minds Network provides further evidence as to why we should take this topic seriously. </a:t>
            </a:r>
          </a:p>
          <a:p>
            <a:endParaRPr lang="en-US"/>
          </a:p>
          <a:p>
            <a:r>
              <a:rPr lang="en-US"/>
              <a:t>Going clockwise from the top left chart, the charts show negative metrics like depression, major depression, suicidal thoughts, anxiety disorder, and eating disorder go from already bad levels in 2018-2019, to worse, in 2021-2022. Depression, for instance, went from 36% to 44%.</a:t>
            </a:r>
          </a:p>
          <a:p>
            <a:endParaRPr lang="en-US"/>
          </a:p>
          <a:p>
            <a:r>
              <a:rPr lang="en-US"/>
              <a:t>These data suggest we are in the midst of a student mental health epidemic.</a:t>
            </a:r>
          </a:p>
        </p:txBody>
      </p:sp>
      <p:sp>
        <p:nvSpPr>
          <p:cNvPr id="4" name="Slide Number Placeholder 3"/>
          <p:cNvSpPr>
            <a:spLocks noGrp="1"/>
          </p:cNvSpPr>
          <p:nvPr>
            <p:ph type="sldNum" sz="quarter" idx="5"/>
          </p:nvPr>
        </p:nvSpPr>
        <p:spPr/>
        <p:txBody>
          <a:bodyPr/>
          <a:lstStyle/>
          <a:p>
            <a:fld id="{C4C5F45B-2344-4E9F-9D04-0E9A5386050E}" type="slidenum">
              <a:rPr lang="en-US" smtClean="0"/>
              <a:t>4</a:t>
            </a:fld>
            <a:endParaRPr lang="en-US"/>
          </a:p>
        </p:txBody>
      </p:sp>
    </p:spTree>
    <p:extLst>
      <p:ext uri="{BB962C8B-B14F-4D97-AF65-F5344CB8AC3E}">
        <p14:creationId xmlns:p14="http://schemas.microsoft.com/office/powerpoint/2010/main" val="2273419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2021-2022 school year, tragically, there were four suicides between WashU and St. Louis University. </a:t>
            </a:r>
          </a:p>
          <a:p>
            <a:endParaRPr lang="en-US"/>
          </a:p>
          <a:p>
            <a:r>
              <a:rPr lang="en-US"/>
              <a:t>For many students, bad mental health starts with stress.</a:t>
            </a:r>
          </a:p>
        </p:txBody>
      </p:sp>
      <p:sp>
        <p:nvSpPr>
          <p:cNvPr id="4" name="Slide Number Placeholder 3"/>
          <p:cNvSpPr>
            <a:spLocks noGrp="1"/>
          </p:cNvSpPr>
          <p:nvPr>
            <p:ph type="sldNum" sz="quarter" idx="5"/>
          </p:nvPr>
        </p:nvSpPr>
        <p:spPr/>
        <p:txBody>
          <a:bodyPr/>
          <a:lstStyle/>
          <a:p>
            <a:fld id="{C4C5F45B-2344-4E9F-9D04-0E9A5386050E}" type="slidenum">
              <a:rPr lang="en-US" smtClean="0"/>
              <a:t>5</a:t>
            </a:fld>
            <a:endParaRPr lang="en-US"/>
          </a:p>
        </p:txBody>
      </p:sp>
    </p:spTree>
    <p:extLst>
      <p:ext uri="{BB962C8B-B14F-4D97-AF65-F5344CB8AC3E}">
        <p14:creationId xmlns:p14="http://schemas.microsoft.com/office/powerpoint/2010/main" val="853123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chart on the right comes from  a survey of 3000 college students by Inside Higher Ed. It is easy to relate to some of the academic stressors they identify like doing well on exams or the fallout from a bad grade.</a:t>
            </a:r>
          </a:p>
          <a:p>
            <a:endParaRPr lang="en-US"/>
          </a:p>
          <a:p>
            <a:r>
              <a:rPr lang="en-US"/>
              <a:t>In addition to academic stressors, we feel the pressure to develop our support social support and relationship networks away from home.</a:t>
            </a:r>
          </a:p>
          <a:p>
            <a:endParaRPr lang="en-US"/>
          </a:p>
          <a:p>
            <a:r>
              <a:rPr lang="en-US"/>
              <a:t>And all this stress has an impact on our mental health.</a:t>
            </a:r>
          </a:p>
        </p:txBody>
      </p:sp>
      <p:sp>
        <p:nvSpPr>
          <p:cNvPr id="4" name="Slide Number Placeholder 3"/>
          <p:cNvSpPr>
            <a:spLocks noGrp="1"/>
          </p:cNvSpPr>
          <p:nvPr>
            <p:ph type="sldNum" sz="quarter" idx="5"/>
          </p:nvPr>
        </p:nvSpPr>
        <p:spPr/>
        <p:txBody>
          <a:bodyPr/>
          <a:lstStyle/>
          <a:p>
            <a:fld id="{C4C5F45B-2344-4E9F-9D04-0E9A5386050E}" type="slidenum">
              <a:rPr lang="en-US" smtClean="0"/>
              <a:t>6</a:t>
            </a:fld>
            <a:endParaRPr lang="en-US"/>
          </a:p>
        </p:txBody>
      </p:sp>
    </p:spTree>
    <p:extLst>
      <p:ext uri="{BB962C8B-B14F-4D97-AF65-F5344CB8AC3E}">
        <p14:creationId xmlns:p14="http://schemas.microsoft.com/office/powerpoint/2010/main" val="144489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normal for everyone to feel stressed and to bounce back and forth between being feeling mentally healthy and feeling stressed. The key is to avoid the prolonged periods of stress that can tip us into crisis mode.</a:t>
            </a:r>
          </a:p>
          <a:p>
            <a:endParaRPr lang="en-US"/>
          </a:p>
          <a:p>
            <a:r>
              <a:rPr lang="en-US"/>
              <a:t>With mental health self-care we can stay on the left side of the page.</a:t>
            </a:r>
          </a:p>
        </p:txBody>
      </p:sp>
      <p:sp>
        <p:nvSpPr>
          <p:cNvPr id="4" name="Slide Number Placeholder 3"/>
          <p:cNvSpPr>
            <a:spLocks noGrp="1"/>
          </p:cNvSpPr>
          <p:nvPr>
            <p:ph type="sldNum" sz="quarter" idx="5"/>
          </p:nvPr>
        </p:nvSpPr>
        <p:spPr/>
        <p:txBody>
          <a:bodyPr/>
          <a:lstStyle/>
          <a:p>
            <a:fld id="{C4C5F45B-2344-4E9F-9D04-0E9A5386050E}" type="slidenum">
              <a:rPr lang="en-US" smtClean="0"/>
              <a:t>7</a:t>
            </a:fld>
            <a:endParaRPr lang="en-US"/>
          </a:p>
        </p:txBody>
      </p:sp>
    </p:spTree>
    <p:extLst>
      <p:ext uri="{BB962C8B-B14F-4D97-AF65-F5344CB8AC3E}">
        <p14:creationId xmlns:p14="http://schemas.microsoft.com/office/powerpoint/2010/main" val="4055468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9</a:t>
            </a:fld>
            <a:endParaRPr lang="en-US"/>
          </a:p>
        </p:txBody>
      </p:sp>
    </p:spTree>
    <p:extLst>
      <p:ext uri="{BB962C8B-B14F-4D97-AF65-F5344CB8AC3E}">
        <p14:creationId xmlns:p14="http://schemas.microsoft.com/office/powerpoint/2010/main" val="2593154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10</a:t>
            </a:fld>
            <a:endParaRPr lang="en-US"/>
          </a:p>
        </p:txBody>
      </p:sp>
    </p:spTree>
    <p:extLst>
      <p:ext uri="{BB962C8B-B14F-4D97-AF65-F5344CB8AC3E}">
        <p14:creationId xmlns:p14="http://schemas.microsoft.com/office/powerpoint/2010/main" val="3402480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11</a:t>
            </a:fld>
            <a:endParaRPr lang="en-US"/>
          </a:p>
        </p:txBody>
      </p:sp>
    </p:spTree>
    <p:extLst>
      <p:ext uri="{BB962C8B-B14F-4D97-AF65-F5344CB8AC3E}">
        <p14:creationId xmlns:p14="http://schemas.microsoft.com/office/powerpoint/2010/main" val="3437657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462317"/>
            <a:ext cx="5608320" cy="3660458"/>
          </a:xfrm>
        </p:spPr>
        <p:txBody>
          <a:bodyPr/>
          <a:lstStyle/>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12</a:t>
            </a:fld>
            <a:endParaRPr lang="en-US"/>
          </a:p>
        </p:txBody>
      </p:sp>
    </p:spTree>
    <p:extLst>
      <p:ext uri="{BB962C8B-B14F-4D97-AF65-F5344CB8AC3E}">
        <p14:creationId xmlns:p14="http://schemas.microsoft.com/office/powerpoint/2010/main" val="3623217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473892"/>
            <a:ext cx="5608320" cy="4264724"/>
          </a:xfrm>
        </p:spPr>
        <p:txBody>
          <a:bodyPr/>
          <a:lstStyle/>
          <a:p>
            <a:pPr>
              <a:buClr>
                <a:srgbClr val="00B050"/>
              </a:buClr>
            </a:pPr>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13</a:t>
            </a:fld>
            <a:endParaRPr lang="en-US"/>
          </a:p>
        </p:txBody>
      </p:sp>
    </p:spTree>
    <p:extLst>
      <p:ext uri="{BB962C8B-B14F-4D97-AF65-F5344CB8AC3E}">
        <p14:creationId xmlns:p14="http://schemas.microsoft.com/office/powerpoint/2010/main" val="3151178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14</a:t>
            </a:fld>
            <a:endParaRPr lang="en-US"/>
          </a:p>
        </p:txBody>
      </p:sp>
    </p:spTree>
    <p:extLst>
      <p:ext uri="{BB962C8B-B14F-4D97-AF65-F5344CB8AC3E}">
        <p14:creationId xmlns:p14="http://schemas.microsoft.com/office/powerpoint/2010/main" val="2231901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462317"/>
            <a:ext cx="5608320" cy="3660458"/>
          </a:xfrm>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15</a:t>
            </a:fld>
            <a:endParaRPr lang="en-US"/>
          </a:p>
        </p:txBody>
      </p:sp>
    </p:spTree>
    <p:extLst>
      <p:ext uri="{BB962C8B-B14F-4D97-AF65-F5344CB8AC3E}">
        <p14:creationId xmlns:p14="http://schemas.microsoft.com/office/powerpoint/2010/main" val="1040548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C5F45B-2344-4E9F-9D04-0E9A5386050E}" type="slidenum">
              <a:rPr lang="en-US" smtClean="0"/>
              <a:t>16</a:t>
            </a:fld>
            <a:endParaRPr lang="en-US"/>
          </a:p>
        </p:txBody>
      </p:sp>
    </p:spTree>
    <p:extLst>
      <p:ext uri="{BB962C8B-B14F-4D97-AF65-F5344CB8AC3E}">
        <p14:creationId xmlns:p14="http://schemas.microsoft.com/office/powerpoint/2010/main" val="2345586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1">
              <a:rPr lang="en-US" smtClean="0"/>
              <a:t>4/18/2025</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156838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1">
              <a:rPr lang="en-US" smtClean="0"/>
              <a:t>4/18/2025</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00879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1">
              <a:rPr lang="en-US" smtClean="0"/>
              <a:t>4/18/2025</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71296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1">
              <a:rPr lang="en-US" smtClean="0"/>
              <a:t>4/18/2025</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901623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1">
              <a:rPr lang="en-US" smtClean="0"/>
              <a:t>4/18/2025</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8246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1">
              <a:rPr lang="en-US" smtClean="0"/>
              <a:t>4/18/2025</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594986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1">
              <a:rPr lang="en-US" smtClean="0"/>
              <a:t>4/18/2025</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26125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1">
              <a:rPr lang="en-US" smtClean="0"/>
              <a:t>4/18/2025</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201199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p:cNvSpPr>
          <p:nvPr>
            <p:ph type="pic" idx="1"/>
          </p:nvPr>
        </p:nvSpPr>
        <p:spPr>
          <a:xfrm>
            <a:off x="5105400" y="838200"/>
            <a:ext cx="624998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1">
              <a:rPr lang="en-US" smtClean="0"/>
              <a:t>4/18/2025</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03995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1">
              <a:rPr lang="en-US" smtClean="0"/>
              <a:t>4/18/2025</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340569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1">
              <a:rPr lang="en-US" smtClean="0"/>
              <a:t>4/18/2025</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216301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91431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1">
              <a:rPr lang="en-US" smtClean="0"/>
              <a:t>4/18/2025</a:t>
            </a:fld>
            <a:endParaRPr lang="en-US"/>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smtClean="0"/>
              <a:t>‹#›</a:t>
            </a:fld>
            <a:endParaRPr lang="en-US"/>
          </a:p>
        </p:txBody>
      </p:sp>
    </p:spTree>
    <p:extLst>
      <p:ext uri="{BB962C8B-B14F-4D97-AF65-F5344CB8AC3E}">
        <p14:creationId xmlns:p14="http://schemas.microsoft.com/office/powerpoint/2010/main" val="2888555086"/>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 id="2147483672" r:id="rId12"/>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5.emf"/><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6.emf"/><Relationship Id="rId7" Type="http://schemas.openxmlformats.org/officeDocument/2006/relationships/diagramColors" Target="../diagrams/colors1.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723000" y="862933"/>
            <a:ext cx="10746000" cy="4494000"/>
          </a:xfrm>
          <a:prstGeom prst="rect">
            <a:avLst/>
          </a:prstGeom>
          <a:noFill/>
          <a:ln>
            <a:noFill/>
          </a:ln>
        </p:spPr>
        <p:txBody>
          <a:bodyPr spcFirstLastPara="1" wrap="square" lIns="121900" tIns="121900" rIns="121900" bIns="121900" anchor="t" anchorCtr="0">
            <a:noAutofit/>
          </a:bodyPr>
          <a:lstStyle/>
          <a:p>
            <a:pPr algn="ctr"/>
            <a:r>
              <a:rPr lang="en" sz="8000"/>
              <a:t>What words (feelings) would you use to describe your college experience thus far?</a:t>
            </a:r>
            <a:endParaRPr sz="8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3726-495F-9562-0712-2CFCFF049E0B}"/>
              </a:ext>
            </a:extLst>
          </p:cNvPr>
          <p:cNvSpPr>
            <a:spLocks noGrp="1"/>
          </p:cNvSpPr>
          <p:nvPr>
            <p:ph type="title"/>
          </p:nvPr>
        </p:nvSpPr>
        <p:spPr>
          <a:xfrm>
            <a:off x="303197" y="151841"/>
            <a:ext cx="10846556" cy="1304150"/>
          </a:xfrm>
        </p:spPr>
        <p:txBody>
          <a:bodyPr/>
          <a:lstStyle/>
          <a:p>
            <a:r>
              <a:rPr lang="en-US"/>
              <a:t>College students’ daily emotions</a:t>
            </a:r>
          </a:p>
        </p:txBody>
      </p:sp>
      <p:sp>
        <p:nvSpPr>
          <p:cNvPr id="7" name="Slide Number Placeholder 6">
            <a:extLst>
              <a:ext uri="{FF2B5EF4-FFF2-40B4-BE49-F238E27FC236}">
                <a16:creationId xmlns:a16="http://schemas.microsoft.com/office/drawing/2014/main" id="{F6701EC0-F5C1-CC70-11B5-BA40B54021C8}"/>
              </a:ext>
            </a:extLst>
          </p:cNvPr>
          <p:cNvSpPr>
            <a:spLocks noGrp="1"/>
          </p:cNvSpPr>
          <p:nvPr>
            <p:ph type="sldNum" sz="quarter" idx="12"/>
          </p:nvPr>
        </p:nvSpPr>
        <p:spPr/>
        <p:txBody>
          <a:bodyPr/>
          <a:lstStyle/>
          <a:p>
            <a:fld id="{6E91CC32-6A6B-4E2E-BBA1-6864F305DA26}" type="slidenum">
              <a:rPr lang="en-US" smtClean="0"/>
              <a:t>2</a:t>
            </a:fld>
            <a:endParaRPr lang="en-US"/>
          </a:p>
        </p:txBody>
      </p:sp>
      <p:sp>
        <p:nvSpPr>
          <p:cNvPr id="3" name="TextBox 2">
            <a:extLst>
              <a:ext uri="{FF2B5EF4-FFF2-40B4-BE49-F238E27FC236}">
                <a16:creationId xmlns:a16="http://schemas.microsoft.com/office/drawing/2014/main" id="{2D976124-9A74-E93A-AADA-8DCE5030BB7E}"/>
              </a:ext>
            </a:extLst>
          </p:cNvPr>
          <p:cNvSpPr txBox="1"/>
          <p:nvPr/>
        </p:nvSpPr>
        <p:spPr>
          <a:xfrm>
            <a:off x="465826" y="1691123"/>
            <a:ext cx="4166559" cy="4708981"/>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sz="2000"/>
              <a:t>Excitement</a:t>
            </a:r>
          </a:p>
          <a:p>
            <a:endParaRPr lang="en-US" sz="2000"/>
          </a:p>
          <a:p>
            <a:pPr marL="285750" indent="-285750">
              <a:buFont typeface="Arial" panose="020B0604020202020204" pitchFamily="34" charset="0"/>
              <a:buChar char="•"/>
            </a:pPr>
            <a:r>
              <a:rPr lang="en-US" sz="2000"/>
              <a:t>Sense of belonging</a:t>
            </a:r>
          </a:p>
          <a:p>
            <a:endParaRPr lang="en-US" sz="2000"/>
          </a:p>
          <a:p>
            <a:pPr marL="285750" indent="-285750">
              <a:buFont typeface="Arial" panose="020B0604020202020204" pitchFamily="34" charset="0"/>
              <a:buChar char="•"/>
            </a:pPr>
            <a:r>
              <a:rPr lang="en-US" sz="2000"/>
              <a:t>Enjoyment</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Independence</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Responsibility</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Anxiety</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Stress</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Sadness</a:t>
            </a:r>
          </a:p>
        </p:txBody>
      </p:sp>
      <p:sp>
        <p:nvSpPr>
          <p:cNvPr id="10" name="TextBox 9">
            <a:extLst>
              <a:ext uri="{FF2B5EF4-FFF2-40B4-BE49-F238E27FC236}">
                <a16:creationId xmlns:a16="http://schemas.microsoft.com/office/drawing/2014/main" id="{8BE405A1-24FB-D6A3-13E2-5A8D453C118F}"/>
              </a:ext>
            </a:extLst>
          </p:cNvPr>
          <p:cNvSpPr txBox="1"/>
          <p:nvPr/>
        </p:nvSpPr>
        <p:spPr>
          <a:xfrm>
            <a:off x="465826" y="1073449"/>
            <a:ext cx="4166559" cy="400110"/>
          </a:xfrm>
          <a:prstGeom prst="rect">
            <a:avLst/>
          </a:prstGeom>
          <a:solidFill>
            <a:srgbClr val="FFFF00"/>
          </a:solidFill>
          <a:ln>
            <a:solidFill>
              <a:schemeClr val="tx1"/>
            </a:solidFill>
          </a:ln>
        </p:spPr>
        <p:txBody>
          <a:bodyPr wrap="square" rtlCol="0">
            <a:spAutoFit/>
          </a:bodyPr>
          <a:lstStyle/>
          <a:p>
            <a:pPr algn="ctr"/>
            <a:r>
              <a:rPr lang="en-US" sz="2000">
                <a:solidFill>
                  <a:schemeClr val="bg1"/>
                </a:solidFill>
              </a:rPr>
              <a:t>My guesses……</a:t>
            </a:r>
          </a:p>
        </p:txBody>
      </p:sp>
      <p:sp>
        <p:nvSpPr>
          <p:cNvPr id="11" name="TextBox 10">
            <a:extLst>
              <a:ext uri="{FF2B5EF4-FFF2-40B4-BE49-F238E27FC236}">
                <a16:creationId xmlns:a16="http://schemas.microsoft.com/office/drawing/2014/main" id="{5CAF1C52-62D2-3E5A-40E3-9F843894036E}"/>
              </a:ext>
            </a:extLst>
          </p:cNvPr>
          <p:cNvSpPr txBox="1"/>
          <p:nvPr/>
        </p:nvSpPr>
        <p:spPr>
          <a:xfrm>
            <a:off x="4916416" y="1073449"/>
            <a:ext cx="6809758" cy="400110"/>
          </a:xfrm>
          <a:prstGeom prst="rect">
            <a:avLst/>
          </a:prstGeom>
          <a:solidFill>
            <a:srgbClr val="FFFF00"/>
          </a:solidFill>
          <a:ln>
            <a:solidFill>
              <a:schemeClr val="tx1"/>
            </a:solidFill>
          </a:ln>
        </p:spPr>
        <p:txBody>
          <a:bodyPr wrap="square" rtlCol="0">
            <a:spAutoFit/>
          </a:bodyPr>
          <a:lstStyle/>
          <a:p>
            <a:pPr algn="ctr"/>
            <a:r>
              <a:rPr lang="en-US" sz="2000">
                <a:solidFill>
                  <a:schemeClr val="bg1"/>
                </a:solidFill>
              </a:rPr>
              <a:t>Gallup says…High level of stress and negative emotions</a:t>
            </a:r>
          </a:p>
        </p:txBody>
      </p:sp>
      <p:pic>
        <p:nvPicPr>
          <p:cNvPr id="13" name="Picture 12">
            <a:extLst>
              <a:ext uri="{FF2B5EF4-FFF2-40B4-BE49-F238E27FC236}">
                <a16:creationId xmlns:a16="http://schemas.microsoft.com/office/drawing/2014/main" id="{3C697D45-68E7-B788-85A6-EE2F21B5C848}"/>
              </a:ext>
            </a:extLst>
          </p:cNvPr>
          <p:cNvPicPr>
            <a:picLocks noChangeAspect="1"/>
          </p:cNvPicPr>
          <p:nvPr/>
        </p:nvPicPr>
        <p:blipFill>
          <a:blip r:embed="rId3"/>
          <a:stretch>
            <a:fillRect/>
          </a:stretch>
        </p:blipFill>
        <p:spPr>
          <a:xfrm>
            <a:off x="4906543" y="1691123"/>
            <a:ext cx="6819631" cy="4734693"/>
          </a:xfrm>
          <a:prstGeom prst="rect">
            <a:avLst/>
          </a:prstGeom>
        </p:spPr>
      </p:pic>
    </p:spTree>
    <p:extLst>
      <p:ext uri="{BB962C8B-B14F-4D97-AF65-F5344CB8AC3E}">
        <p14:creationId xmlns:p14="http://schemas.microsoft.com/office/powerpoint/2010/main" val="109872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1653016" cy="1304150"/>
          </a:xfrm>
        </p:spPr>
        <p:txBody>
          <a:bodyPr/>
          <a:lstStyle/>
          <a:p>
            <a:r>
              <a:rPr lang="en-US"/>
              <a:t>Student emotions are mental health warning signs</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3</a:t>
            </a:fld>
            <a:endParaRPr lang="en-US"/>
          </a:p>
        </p:txBody>
      </p:sp>
      <p:pic>
        <p:nvPicPr>
          <p:cNvPr id="1032" name="Picture 8" descr="Introduction - Estonian Human Development Report 2023">
            <a:extLst>
              <a:ext uri="{FF2B5EF4-FFF2-40B4-BE49-F238E27FC236}">
                <a16:creationId xmlns:a16="http://schemas.microsoft.com/office/drawing/2014/main" id="{1EC9DB1B-870B-CD34-A370-F05F8F3A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7157" y="1633167"/>
            <a:ext cx="9426561" cy="5050293"/>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C656364D-E829-A346-9B1E-8700799FBB3E}"/>
              </a:ext>
            </a:extLst>
          </p:cNvPr>
          <p:cNvSpPr/>
          <p:nvPr/>
        </p:nvSpPr>
        <p:spPr>
          <a:xfrm>
            <a:off x="5774579" y="4752415"/>
            <a:ext cx="1092046" cy="2375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99BB3A6-6C0F-D0B1-AD39-61EFBB6E5F42}"/>
              </a:ext>
            </a:extLst>
          </p:cNvPr>
          <p:cNvSpPr/>
          <p:nvPr/>
        </p:nvSpPr>
        <p:spPr>
          <a:xfrm>
            <a:off x="5774578" y="4514835"/>
            <a:ext cx="971276" cy="23758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DD1BE47-6E61-3268-27D3-D9BEA63BF9F4}"/>
              </a:ext>
            </a:extLst>
          </p:cNvPr>
          <p:cNvSpPr/>
          <p:nvPr/>
        </p:nvSpPr>
        <p:spPr>
          <a:xfrm>
            <a:off x="5774578" y="5175592"/>
            <a:ext cx="1196101" cy="2614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46793EB-D73D-24D8-4F86-B2B40C92A662}"/>
              </a:ext>
            </a:extLst>
          </p:cNvPr>
          <p:cNvSpPr/>
          <p:nvPr/>
        </p:nvSpPr>
        <p:spPr>
          <a:xfrm>
            <a:off x="6745854" y="5413780"/>
            <a:ext cx="1095555" cy="2614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F2B7DE3-AD62-58F0-5F36-501F4F2C5E57}"/>
              </a:ext>
            </a:extLst>
          </p:cNvPr>
          <p:cNvSpPr/>
          <p:nvPr/>
        </p:nvSpPr>
        <p:spPr>
          <a:xfrm>
            <a:off x="5774578" y="5869114"/>
            <a:ext cx="718821" cy="2375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556A88-ECC0-4044-5C93-03DA89D45D5A}"/>
              </a:ext>
            </a:extLst>
          </p:cNvPr>
          <p:cNvSpPr txBox="1"/>
          <p:nvPr/>
        </p:nvSpPr>
        <p:spPr>
          <a:xfrm>
            <a:off x="303196" y="1633167"/>
            <a:ext cx="1793024" cy="5047536"/>
          </a:xfrm>
          <a:prstGeom prst="rect">
            <a:avLst/>
          </a:prstGeom>
          <a:noFill/>
          <a:ln>
            <a:solidFill>
              <a:schemeClr val="tx1"/>
            </a:solidFill>
          </a:ln>
        </p:spPr>
        <p:txBody>
          <a:bodyPr wrap="square" rtlCol="0">
            <a:spAutoFit/>
          </a:bodyPr>
          <a:lstStyle/>
          <a:p>
            <a:pPr algn="ctr"/>
            <a:r>
              <a:rPr lang="en-US" sz="2000"/>
              <a:t>Mental Health Spectrum</a:t>
            </a:r>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1600"/>
          </a:p>
          <a:p>
            <a:pPr algn="ctr"/>
            <a:endParaRPr lang="en-US" sz="2000"/>
          </a:p>
          <a:p>
            <a:pPr algn="ctr"/>
            <a:endParaRPr lang="en-US" sz="2000"/>
          </a:p>
          <a:p>
            <a:r>
              <a:rPr lang="en-US" sz="1600" i="1"/>
              <a:t>Source:</a:t>
            </a:r>
            <a:r>
              <a:rPr lang="en-US" sz="2000"/>
              <a:t> </a:t>
            </a:r>
          </a:p>
          <a:p>
            <a:r>
              <a:rPr lang="en-US" sz="1400" i="1"/>
              <a:t>Estonian Human Development Report 2023</a:t>
            </a:r>
          </a:p>
        </p:txBody>
      </p:sp>
    </p:spTree>
    <p:extLst>
      <p:ext uri="{BB962C8B-B14F-4D97-AF65-F5344CB8AC3E}">
        <p14:creationId xmlns:p14="http://schemas.microsoft.com/office/powerpoint/2010/main" val="344905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3726-495F-9562-0712-2CFCFF049E0B}"/>
              </a:ext>
            </a:extLst>
          </p:cNvPr>
          <p:cNvSpPr>
            <a:spLocks noGrp="1"/>
          </p:cNvSpPr>
          <p:nvPr>
            <p:ph type="title"/>
          </p:nvPr>
        </p:nvSpPr>
        <p:spPr>
          <a:xfrm>
            <a:off x="303197" y="151841"/>
            <a:ext cx="10846556" cy="1304150"/>
          </a:xfrm>
        </p:spPr>
        <p:txBody>
          <a:bodyPr/>
          <a:lstStyle/>
          <a:p>
            <a:r>
              <a:rPr lang="en-US"/>
              <a:t>Student mental health in decline</a:t>
            </a:r>
          </a:p>
        </p:txBody>
      </p:sp>
      <p:sp>
        <p:nvSpPr>
          <p:cNvPr id="7" name="Slide Number Placeholder 6">
            <a:extLst>
              <a:ext uri="{FF2B5EF4-FFF2-40B4-BE49-F238E27FC236}">
                <a16:creationId xmlns:a16="http://schemas.microsoft.com/office/drawing/2014/main" id="{F6701EC0-F5C1-CC70-11B5-BA40B54021C8}"/>
              </a:ext>
            </a:extLst>
          </p:cNvPr>
          <p:cNvSpPr>
            <a:spLocks noGrp="1"/>
          </p:cNvSpPr>
          <p:nvPr>
            <p:ph type="sldNum" sz="quarter" idx="12"/>
          </p:nvPr>
        </p:nvSpPr>
        <p:spPr/>
        <p:txBody>
          <a:bodyPr/>
          <a:lstStyle/>
          <a:p>
            <a:fld id="{6E91CC32-6A6B-4E2E-BBA1-6864F305DA26}" type="slidenum">
              <a:rPr lang="en-US" smtClean="0"/>
              <a:t>4</a:t>
            </a:fld>
            <a:endParaRPr lang="en-US"/>
          </a:p>
        </p:txBody>
      </p:sp>
      <p:pic>
        <p:nvPicPr>
          <p:cNvPr id="20" name="Picture 19">
            <a:extLst>
              <a:ext uri="{FF2B5EF4-FFF2-40B4-BE49-F238E27FC236}">
                <a16:creationId xmlns:a16="http://schemas.microsoft.com/office/drawing/2014/main" id="{D24B2A3D-F49F-F9DE-26B4-48F4AB2ACD8E}"/>
              </a:ext>
            </a:extLst>
          </p:cNvPr>
          <p:cNvPicPr>
            <a:picLocks noChangeAspect="1"/>
          </p:cNvPicPr>
          <p:nvPr/>
        </p:nvPicPr>
        <p:blipFill>
          <a:blip r:embed="rId3"/>
          <a:stretch>
            <a:fillRect/>
          </a:stretch>
        </p:blipFill>
        <p:spPr>
          <a:xfrm>
            <a:off x="402659" y="1086238"/>
            <a:ext cx="3652547" cy="2273839"/>
          </a:xfrm>
          <a:prstGeom prst="rect">
            <a:avLst/>
          </a:prstGeom>
        </p:spPr>
      </p:pic>
      <p:pic>
        <p:nvPicPr>
          <p:cNvPr id="22" name="Picture 21">
            <a:extLst>
              <a:ext uri="{FF2B5EF4-FFF2-40B4-BE49-F238E27FC236}">
                <a16:creationId xmlns:a16="http://schemas.microsoft.com/office/drawing/2014/main" id="{3A33137F-E8EE-0DF1-2D77-5AAF558911D9}"/>
              </a:ext>
            </a:extLst>
          </p:cNvPr>
          <p:cNvPicPr>
            <a:picLocks noChangeAspect="1"/>
          </p:cNvPicPr>
          <p:nvPr/>
        </p:nvPicPr>
        <p:blipFill>
          <a:blip r:embed="rId4"/>
          <a:stretch>
            <a:fillRect/>
          </a:stretch>
        </p:blipFill>
        <p:spPr>
          <a:xfrm>
            <a:off x="4285555" y="1086236"/>
            <a:ext cx="3652547" cy="2273839"/>
          </a:xfrm>
          <a:prstGeom prst="rect">
            <a:avLst/>
          </a:prstGeom>
        </p:spPr>
      </p:pic>
      <p:pic>
        <p:nvPicPr>
          <p:cNvPr id="24" name="Picture 23">
            <a:extLst>
              <a:ext uri="{FF2B5EF4-FFF2-40B4-BE49-F238E27FC236}">
                <a16:creationId xmlns:a16="http://schemas.microsoft.com/office/drawing/2014/main" id="{C859E4C2-0375-FF72-124B-166FC6F2CB8B}"/>
              </a:ext>
            </a:extLst>
          </p:cNvPr>
          <p:cNvPicPr>
            <a:picLocks noChangeAspect="1"/>
          </p:cNvPicPr>
          <p:nvPr/>
        </p:nvPicPr>
        <p:blipFill>
          <a:blip r:embed="rId5"/>
          <a:stretch>
            <a:fillRect/>
          </a:stretch>
        </p:blipFill>
        <p:spPr>
          <a:xfrm>
            <a:off x="402659" y="3717983"/>
            <a:ext cx="3652547" cy="2273839"/>
          </a:xfrm>
          <a:prstGeom prst="rect">
            <a:avLst/>
          </a:prstGeom>
        </p:spPr>
      </p:pic>
      <p:pic>
        <p:nvPicPr>
          <p:cNvPr id="26" name="Picture 25">
            <a:extLst>
              <a:ext uri="{FF2B5EF4-FFF2-40B4-BE49-F238E27FC236}">
                <a16:creationId xmlns:a16="http://schemas.microsoft.com/office/drawing/2014/main" id="{B0B18171-069D-B338-4DF5-660E104E6CDF}"/>
              </a:ext>
            </a:extLst>
          </p:cNvPr>
          <p:cNvPicPr>
            <a:picLocks noChangeAspect="1"/>
          </p:cNvPicPr>
          <p:nvPr/>
        </p:nvPicPr>
        <p:blipFill>
          <a:blip r:embed="rId6"/>
          <a:stretch>
            <a:fillRect/>
          </a:stretch>
        </p:blipFill>
        <p:spPr>
          <a:xfrm>
            <a:off x="8200891" y="1086235"/>
            <a:ext cx="3652547" cy="2273839"/>
          </a:xfrm>
          <a:prstGeom prst="rect">
            <a:avLst/>
          </a:prstGeom>
        </p:spPr>
      </p:pic>
      <p:pic>
        <p:nvPicPr>
          <p:cNvPr id="30" name="Picture 29">
            <a:extLst>
              <a:ext uri="{FF2B5EF4-FFF2-40B4-BE49-F238E27FC236}">
                <a16:creationId xmlns:a16="http://schemas.microsoft.com/office/drawing/2014/main" id="{653127BD-D995-1495-33E4-D02BBE39FE0C}"/>
              </a:ext>
            </a:extLst>
          </p:cNvPr>
          <p:cNvPicPr>
            <a:picLocks noChangeAspect="1"/>
          </p:cNvPicPr>
          <p:nvPr/>
        </p:nvPicPr>
        <p:blipFill>
          <a:blip r:embed="rId7"/>
          <a:stretch>
            <a:fillRect/>
          </a:stretch>
        </p:blipFill>
        <p:spPr>
          <a:xfrm>
            <a:off x="4285555" y="3717982"/>
            <a:ext cx="3652547" cy="2273839"/>
          </a:xfrm>
          <a:prstGeom prst="rect">
            <a:avLst/>
          </a:prstGeom>
        </p:spPr>
      </p:pic>
      <p:pic>
        <p:nvPicPr>
          <p:cNvPr id="32" name="Picture 31">
            <a:extLst>
              <a:ext uri="{FF2B5EF4-FFF2-40B4-BE49-F238E27FC236}">
                <a16:creationId xmlns:a16="http://schemas.microsoft.com/office/drawing/2014/main" id="{8191E3C2-82CD-3917-352C-A719E69093BA}"/>
              </a:ext>
            </a:extLst>
          </p:cNvPr>
          <p:cNvPicPr>
            <a:picLocks noChangeAspect="1"/>
          </p:cNvPicPr>
          <p:nvPr/>
        </p:nvPicPr>
        <p:blipFill>
          <a:blip r:embed="rId8"/>
          <a:stretch>
            <a:fillRect/>
          </a:stretch>
        </p:blipFill>
        <p:spPr>
          <a:xfrm>
            <a:off x="8200891" y="3717981"/>
            <a:ext cx="3652547" cy="2273839"/>
          </a:xfrm>
          <a:prstGeom prst="rect">
            <a:avLst/>
          </a:prstGeom>
        </p:spPr>
      </p:pic>
      <p:sp>
        <p:nvSpPr>
          <p:cNvPr id="3" name="TextBox 2">
            <a:extLst>
              <a:ext uri="{FF2B5EF4-FFF2-40B4-BE49-F238E27FC236}">
                <a16:creationId xmlns:a16="http://schemas.microsoft.com/office/drawing/2014/main" id="{681A6294-7B68-AD4F-A569-A225C6D222FC}"/>
              </a:ext>
            </a:extLst>
          </p:cNvPr>
          <p:cNvSpPr txBox="1"/>
          <p:nvPr/>
        </p:nvSpPr>
        <p:spPr>
          <a:xfrm>
            <a:off x="402659" y="6256539"/>
            <a:ext cx="5385669" cy="338554"/>
          </a:xfrm>
          <a:prstGeom prst="rect">
            <a:avLst/>
          </a:prstGeom>
          <a:noFill/>
          <a:ln>
            <a:solidFill>
              <a:schemeClr val="tx1"/>
            </a:solidFill>
          </a:ln>
        </p:spPr>
        <p:txBody>
          <a:bodyPr wrap="square" rtlCol="0">
            <a:spAutoFit/>
          </a:bodyPr>
          <a:lstStyle/>
          <a:p>
            <a:r>
              <a:rPr lang="en-US" sz="1600" i="1"/>
              <a:t>Source: Healthy Minds Network, 2023.</a:t>
            </a:r>
          </a:p>
        </p:txBody>
      </p:sp>
    </p:spTree>
    <p:extLst>
      <p:ext uri="{BB962C8B-B14F-4D97-AF65-F5344CB8AC3E}">
        <p14:creationId xmlns:p14="http://schemas.microsoft.com/office/powerpoint/2010/main" val="1750504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3726-495F-9562-0712-2CFCFF049E0B}"/>
              </a:ext>
            </a:extLst>
          </p:cNvPr>
          <p:cNvSpPr>
            <a:spLocks noGrp="1"/>
          </p:cNvSpPr>
          <p:nvPr>
            <p:ph type="title"/>
          </p:nvPr>
        </p:nvSpPr>
        <p:spPr>
          <a:xfrm>
            <a:off x="303197" y="151841"/>
            <a:ext cx="10846556" cy="1304150"/>
          </a:xfrm>
        </p:spPr>
        <p:txBody>
          <a:bodyPr/>
          <a:lstStyle/>
          <a:p>
            <a:r>
              <a:rPr lang="en-US"/>
              <a:t>Unfortunately, it has hit close to home</a:t>
            </a:r>
          </a:p>
        </p:txBody>
      </p:sp>
      <p:sp>
        <p:nvSpPr>
          <p:cNvPr id="7" name="Slide Number Placeholder 6">
            <a:extLst>
              <a:ext uri="{FF2B5EF4-FFF2-40B4-BE49-F238E27FC236}">
                <a16:creationId xmlns:a16="http://schemas.microsoft.com/office/drawing/2014/main" id="{F6701EC0-F5C1-CC70-11B5-BA40B54021C8}"/>
              </a:ext>
            </a:extLst>
          </p:cNvPr>
          <p:cNvSpPr>
            <a:spLocks noGrp="1"/>
          </p:cNvSpPr>
          <p:nvPr>
            <p:ph type="sldNum" sz="quarter" idx="12"/>
          </p:nvPr>
        </p:nvSpPr>
        <p:spPr/>
        <p:txBody>
          <a:bodyPr/>
          <a:lstStyle/>
          <a:p>
            <a:fld id="{6E91CC32-6A6B-4E2E-BBA1-6864F305DA26}" type="slidenum">
              <a:rPr lang="en-US" smtClean="0"/>
              <a:t>5</a:t>
            </a:fld>
            <a:endParaRPr lang="en-US"/>
          </a:p>
        </p:txBody>
      </p:sp>
      <p:pic>
        <p:nvPicPr>
          <p:cNvPr id="4" name="Google Shape;74;p16">
            <a:extLst>
              <a:ext uri="{FF2B5EF4-FFF2-40B4-BE49-F238E27FC236}">
                <a16:creationId xmlns:a16="http://schemas.microsoft.com/office/drawing/2014/main" id="{F6C7247F-7248-20FB-647D-FC7F4F4D3CF3}"/>
              </a:ext>
            </a:extLst>
          </p:cNvPr>
          <p:cNvPicPr preferRelativeResize="0"/>
          <p:nvPr/>
        </p:nvPicPr>
        <p:blipFill>
          <a:blip r:embed="rId3">
            <a:alphaModFix/>
          </a:blip>
          <a:stretch>
            <a:fillRect/>
          </a:stretch>
        </p:blipFill>
        <p:spPr>
          <a:xfrm>
            <a:off x="1042247" y="1455991"/>
            <a:ext cx="4600233" cy="4555200"/>
          </a:xfrm>
          <a:prstGeom prst="rect">
            <a:avLst/>
          </a:prstGeom>
          <a:noFill/>
          <a:ln>
            <a:noFill/>
          </a:ln>
        </p:spPr>
      </p:pic>
      <p:pic>
        <p:nvPicPr>
          <p:cNvPr id="5" name="Google Shape;75;p16">
            <a:extLst>
              <a:ext uri="{FF2B5EF4-FFF2-40B4-BE49-F238E27FC236}">
                <a16:creationId xmlns:a16="http://schemas.microsoft.com/office/drawing/2014/main" id="{1BD084E0-D4FC-8B54-418C-90DFDE8F346D}"/>
              </a:ext>
            </a:extLst>
          </p:cNvPr>
          <p:cNvPicPr preferRelativeResize="0"/>
          <p:nvPr/>
        </p:nvPicPr>
        <p:blipFill>
          <a:blip r:embed="rId4">
            <a:alphaModFix/>
          </a:blip>
          <a:stretch>
            <a:fillRect/>
          </a:stretch>
        </p:blipFill>
        <p:spPr>
          <a:xfrm>
            <a:off x="6261768" y="1455991"/>
            <a:ext cx="4600233" cy="4555200"/>
          </a:xfrm>
          <a:prstGeom prst="rect">
            <a:avLst/>
          </a:prstGeom>
          <a:noFill/>
          <a:ln>
            <a:noFill/>
          </a:ln>
        </p:spPr>
      </p:pic>
    </p:spTree>
    <p:extLst>
      <p:ext uri="{BB962C8B-B14F-4D97-AF65-F5344CB8AC3E}">
        <p14:creationId xmlns:p14="http://schemas.microsoft.com/office/powerpoint/2010/main" val="1263977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FA04F9-31DE-23D5-9BE0-7E4550CB206C}"/>
              </a:ext>
            </a:extLst>
          </p:cNvPr>
          <p:cNvSpPr>
            <a:spLocks noGrp="1"/>
          </p:cNvSpPr>
          <p:nvPr>
            <p:ph type="sldNum" sz="quarter" idx="12"/>
          </p:nvPr>
        </p:nvSpPr>
        <p:spPr/>
        <p:txBody>
          <a:bodyPr/>
          <a:lstStyle/>
          <a:p>
            <a:fld id="{6E91CC32-6A6B-4E2E-BBA1-6864F305DA26}" type="slidenum">
              <a:rPr lang="en-US" smtClean="0"/>
              <a:t>6</a:t>
            </a:fld>
            <a:endParaRPr lang="en-US"/>
          </a:p>
        </p:txBody>
      </p:sp>
      <p:pic>
        <p:nvPicPr>
          <p:cNvPr id="8" name="Picture 7" descr="A drawing of a person sitting at a table&#10;&#10;Description automatically generated">
            <a:extLst>
              <a:ext uri="{FF2B5EF4-FFF2-40B4-BE49-F238E27FC236}">
                <a16:creationId xmlns:a16="http://schemas.microsoft.com/office/drawing/2014/main" id="{0B57DD9F-3FB1-C3A6-8336-0CF9A588F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82" y="1133622"/>
            <a:ext cx="5188503" cy="5291139"/>
          </a:xfrm>
          <a:prstGeom prst="rect">
            <a:avLst/>
          </a:prstGeom>
        </p:spPr>
      </p:pic>
      <p:sp>
        <p:nvSpPr>
          <p:cNvPr id="2" name="Title 1">
            <a:extLst>
              <a:ext uri="{FF2B5EF4-FFF2-40B4-BE49-F238E27FC236}">
                <a16:creationId xmlns:a16="http://schemas.microsoft.com/office/drawing/2014/main" id="{A58744EC-0F4C-76B5-A599-0DE8AC259DAE}"/>
              </a:ext>
            </a:extLst>
          </p:cNvPr>
          <p:cNvSpPr txBox="1">
            <a:spLocks/>
          </p:cNvSpPr>
          <p:nvPr/>
        </p:nvSpPr>
        <p:spPr>
          <a:xfrm>
            <a:off x="303197" y="151841"/>
            <a:ext cx="10846556" cy="130415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a:t>Students’ biggest academic stressors</a:t>
            </a:r>
          </a:p>
        </p:txBody>
      </p:sp>
      <p:pic>
        <p:nvPicPr>
          <p:cNvPr id="14" name="Picture 13">
            <a:extLst>
              <a:ext uri="{FF2B5EF4-FFF2-40B4-BE49-F238E27FC236}">
                <a16:creationId xmlns:a16="http://schemas.microsoft.com/office/drawing/2014/main" id="{A5BFB2B0-3D26-17E4-6855-67EF4151A9D4}"/>
              </a:ext>
            </a:extLst>
          </p:cNvPr>
          <p:cNvPicPr>
            <a:picLocks noChangeAspect="1"/>
          </p:cNvPicPr>
          <p:nvPr/>
        </p:nvPicPr>
        <p:blipFill>
          <a:blip r:embed="rId4"/>
          <a:stretch>
            <a:fillRect/>
          </a:stretch>
        </p:blipFill>
        <p:spPr>
          <a:xfrm>
            <a:off x="5796951" y="1133622"/>
            <a:ext cx="6172200" cy="5291139"/>
          </a:xfrm>
          <a:prstGeom prst="rect">
            <a:avLst/>
          </a:prstGeom>
        </p:spPr>
      </p:pic>
      <p:sp>
        <p:nvSpPr>
          <p:cNvPr id="3" name="TextBox 2">
            <a:extLst>
              <a:ext uri="{FF2B5EF4-FFF2-40B4-BE49-F238E27FC236}">
                <a16:creationId xmlns:a16="http://schemas.microsoft.com/office/drawing/2014/main" id="{0C2B7F91-ABB4-6E0A-3E7C-DA620487E5E6}"/>
              </a:ext>
            </a:extLst>
          </p:cNvPr>
          <p:cNvSpPr txBox="1"/>
          <p:nvPr/>
        </p:nvSpPr>
        <p:spPr>
          <a:xfrm>
            <a:off x="5705857" y="6452387"/>
            <a:ext cx="6263294" cy="338554"/>
          </a:xfrm>
          <a:prstGeom prst="rect">
            <a:avLst/>
          </a:prstGeom>
          <a:noFill/>
          <a:ln>
            <a:solidFill>
              <a:schemeClr val="tx1"/>
            </a:solidFill>
          </a:ln>
        </p:spPr>
        <p:txBody>
          <a:bodyPr wrap="square" rtlCol="0">
            <a:spAutoFit/>
          </a:bodyPr>
          <a:lstStyle/>
          <a:p>
            <a:pPr algn="r"/>
            <a:r>
              <a:rPr lang="en-US" sz="1600" i="1"/>
              <a:t>Source: Inside Higher Ed College Pulse Survey of 3000 students</a:t>
            </a:r>
          </a:p>
        </p:txBody>
      </p:sp>
    </p:spTree>
    <p:extLst>
      <p:ext uri="{BB962C8B-B14F-4D97-AF65-F5344CB8AC3E}">
        <p14:creationId xmlns:p14="http://schemas.microsoft.com/office/powerpoint/2010/main" val="299079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0846556" cy="1304150"/>
          </a:xfrm>
        </p:spPr>
        <p:txBody>
          <a:bodyPr/>
          <a:lstStyle/>
          <a:p>
            <a:r>
              <a:rPr lang="en-US"/>
              <a:t>Mental health self-care</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7</a:t>
            </a:fld>
            <a:endParaRPr lang="en-US"/>
          </a:p>
        </p:txBody>
      </p:sp>
      <p:pic>
        <p:nvPicPr>
          <p:cNvPr id="2050" name="Picture 2" descr="Mental Health vs. Mental Illness - YouthSMART">
            <a:extLst>
              <a:ext uri="{FF2B5EF4-FFF2-40B4-BE49-F238E27FC236}">
                <a16:creationId xmlns:a16="http://schemas.microsoft.com/office/drawing/2014/main" id="{1AC8EDF6-2C47-E157-6FD2-17D015F04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1802" y="1088636"/>
            <a:ext cx="8887533" cy="5006644"/>
          </a:xfrm>
          <a:prstGeom prst="rect">
            <a:avLst/>
          </a:prstGeom>
          <a:solidFill>
            <a:schemeClr val="bg2">
              <a:lumMod val="25000"/>
              <a:lumOff val="75000"/>
            </a:schemeClr>
          </a:solidFill>
        </p:spPr>
      </p:pic>
    </p:spTree>
    <p:extLst>
      <p:ext uri="{BB962C8B-B14F-4D97-AF65-F5344CB8AC3E}">
        <p14:creationId xmlns:p14="http://schemas.microsoft.com/office/powerpoint/2010/main" val="2205365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888521"/>
            <a:ext cx="11360800" cy="4951562"/>
          </a:xfrm>
          <a:prstGeom prst="rect">
            <a:avLst/>
          </a:prstGeom>
        </p:spPr>
        <p:txBody>
          <a:bodyPr spcFirstLastPara="1" vert="horz" wrap="square" lIns="121900" tIns="121900" rIns="121900" bIns="121900" rtlCol="0" anchor="b" anchorCtr="0">
            <a:noAutofit/>
          </a:bodyPr>
          <a:lstStyle/>
          <a:p>
            <a:pPr algn="ctr">
              <a:spcBef>
                <a:spcPts val="0"/>
              </a:spcBef>
            </a:pPr>
            <a:endParaRPr sz="8000"/>
          </a:p>
          <a:p>
            <a:pPr algn="ctr">
              <a:spcBef>
                <a:spcPts val="0"/>
              </a:spcBef>
            </a:pPr>
            <a:r>
              <a:rPr lang="en" sz="8000"/>
              <a:t>What self-care opportunities do we have to improve our mental wellbeing?</a:t>
            </a:r>
            <a:endParaRPr sz="8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3726-495F-9562-0712-2CFCFF049E0B}"/>
              </a:ext>
            </a:extLst>
          </p:cNvPr>
          <p:cNvSpPr>
            <a:spLocks noGrp="1"/>
          </p:cNvSpPr>
          <p:nvPr>
            <p:ph type="title"/>
          </p:nvPr>
        </p:nvSpPr>
        <p:spPr>
          <a:xfrm>
            <a:off x="303197" y="151841"/>
            <a:ext cx="10846556" cy="1304150"/>
          </a:xfrm>
        </p:spPr>
        <p:txBody>
          <a:bodyPr/>
          <a:lstStyle/>
          <a:p>
            <a:r>
              <a:rPr lang="en-US"/>
              <a:t>Popular stress busters – Survey results</a:t>
            </a:r>
          </a:p>
        </p:txBody>
      </p:sp>
      <p:sp>
        <p:nvSpPr>
          <p:cNvPr id="7" name="Slide Number Placeholder 6">
            <a:extLst>
              <a:ext uri="{FF2B5EF4-FFF2-40B4-BE49-F238E27FC236}">
                <a16:creationId xmlns:a16="http://schemas.microsoft.com/office/drawing/2014/main" id="{F6701EC0-F5C1-CC70-11B5-BA40B54021C8}"/>
              </a:ext>
            </a:extLst>
          </p:cNvPr>
          <p:cNvSpPr>
            <a:spLocks noGrp="1"/>
          </p:cNvSpPr>
          <p:nvPr>
            <p:ph type="sldNum" sz="quarter" idx="12"/>
          </p:nvPr>
        </p:nvSpPr>
        <p:spPr/>
        <p:txBody>
          <a:bodyPr/>
          <a:lstStyle/>
          <a:p>
            <a:fld id="{6E91CC32-6A6B-4E2E-BBA1-6864F305DA26}" type="slidenum">
              <a:rPr lang="en-US" smtClean="0"/>
              <a:t>9</a:t>
            </a:fld>
            <a:endParaRPr lang="en-US"/>
          </a:p>
        </p:txBody>
      </p:sp>
      <p:pic>
        <p:nvPicPr>
          <p:cNvPr id="4" name="Picture 3">
            <a:extLst>
              <a:ext uri="{FF2B5EF4-FFF2-40B4-BE49-F238E27FC236}">
                <a16:creationId xmlns:a16="http://schemas.microsoft.com/office/drawing/2014/main" id="{EEC9CA32-4932-BACD-1DEF-ADDC36840BB4}"/>
              </a:ext>
            </a:extLst>
          </p:cNvPr>
          <p:cNvPicPr>
            <a:picLocks noChangeAspect="1"/>
          </p:cNvPicPr>
          <p:nvPr/>
        </p:nvPicPr>
        <p:blipFill>
          <a:blip r:embed="rId3"/>
          <a:stretch>
            <a:fillRect/>
          </a:stretch>
        </p:blipFill>
        <p:spPr>
          <a:xfrm>
            <a:off x="412630" y="1035080"/>
            <a:ext cx="6005423" cy="5279456"/>
          </a:xfrm>
          <a:prstGeom prst="rect">
            <a:avLst/>
          </a:prstGeom>
        </p:spPr>
      </p:pic>
      <p:pic>
        <p:nvPicPr>
          <p:cNvPr id="5" name="Picture 2">
            <a:extLst>
              <a:ext uri="{FF2B5EF4-FFF2-40B4-BE49-F238E27FC236}">
                <a16:creationId xmlns:a16="http://schemas.microsoft.com/office/drawing/2014/main" id="{77DD48E4-3BE8-2D64-FBDC-705130020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7834" y="1035080"/>
            <a:ext cx="5280969" cy="5280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358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1023288" cy="1304150"/>
          </a:xfrm>
        </p:spPr>
        <p:txBody>
          <a:bodyPr>
            <a:normAutofit/>
          </a:bodyPr>
          <a:lstStyle/>
          <a:p>
            <a:r>
              <a:rPr lang="en-US"/>
              <a:t>Exercise is associated with numerous mental health benefits</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10</a:t>
            </a:fld>
            <a:endParaRPr lang="en-US"/>
          </a:p>
        </p:txBody>
      </p:sp>
      <p:pic>
        <p:nvPicPr>
          <p:cNvPr id="5122" name="Picture 2" descr="Benefits of physical activity on mental health - Priory">
            <a:extLst>
              <a:ext uri="{FF2B5EF4-FFF2-40B4-BE49-F238E27FC236}">
                <a16:creationId xmlns:a16="http://schemas.microsoft.com/office/drawing/2014/main" id="{C1EBC1D2-99D8-E283-2617-EFD07E268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696" y="1528566"/>
            <a:ext cx="6866625" cy="48032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B76A012-E966-3AC8-2EF1-2D5DC25F88E9}"/>
              </a:ext>
            </a:extLst>
          </p:cNvPr>
          <p:cNvPicPr>
            <a:picLocks noChangeAspect="1"/>
          </p:cNvPicPr>
          <p:nvPr/>
        </p:nvPicPr>
        <p:blipFill>
          <a:blip r:embed="rId4"/>
          <a:stretch>
            <a:fillRect/>
          </a:stretch>
        </p:blipFill>
        <p:spPr>
          <a:xfrm>
            <a:off x="7408822" y="1528566"/>
            <a:ext cx="4360482" cy="4803223"/>
          </a:xfrm>
          <a:prstGeom prst="rect">
            <a:avLst/>
          </a:prstGeom>
        </p:spPr>
      </p:pic>
    </p:spTree>
    <p:extLst>
      <p:ext uri="{BB962C8B-B14F-4D97-AF65-F5344CB8AC3E}">
        <p14:creationId xmlns:p14="http://schemas.microsoft.com/office/powerpoint/2010/main" val="544727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1023288" cy="1304150"/>
          </a:xfrm>
        </p:spPr>
        <p:txBody>
          <a:bodyPr/>
          <a:lstStyle/>
          <a:p>
            <a:r>
              <a:rPr lang="en-US"/>
              <a:t>WashU Rec</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11</a:t>
            </a:fld>
            <a:endParaRPr lang="en-US"/>
          </a:p>
        </p:txBody>
      </p:sp>
      <p:pic>
        <p:nvPicPr>
          <p:cNvPr id="3" name="Google Shape;115;p22">
            <a:extLst>
              <a:ext uri="{FF2B5EF4-FFF2-40B4-BE49-F238E27FC236}">
                <a16:creationId xmlns:a16="http://schemas.microsoft.com/office/drawing/2014/main" id="{74DC629E-7669-7A11-445E-6CEAC257ADC5}"/>
              </a:ext>
            </a:extLst>
          </p:cNvPr>
          <p:cNvPicPr preferRelativeResize="0"/>
          <p:nvPr/>
        </p:nvPicPr>
        <p:blipFill>
          <a:blip r:embed="rId3">
            <a:alphaModFix/>
          </a:blip>
          <a:stretch>
            <a:fillRect/>
          </a:stretch>
        </p:blipFill>
        <p:spPr>
          <a:xfrm>
            <a:off x="387007" y="1388854"/>
            <a:ext cx="5418569" cy="4779034"/>
          </a:xfrm>
          <a:prstGeom prst="rect">
            <a:avLst/>
          </a:prstGeom>
          <a:noFill/>
          <a:ln>
            <a:noFill/>
          </a:ln>
        </p:spPr>
      </p:pic>
      <p:pic>
        <p:nvPicPr>
          <p:cNvPr id="10" name="Picture 9">
            <a:extLst>
              <a:ext uri="{FF2B5EF4-FFF2-40B4-BE49-F238E27FC236}">
                <a16:creationId xmlns:a16="http://schemas.microsoft.com/office/drawing/2014/main" id="{C202561F-F650-5C71-788D-6CAD242C10D9}"/>
              </a:ext>
            </a:extLst>
          </p:cNvPr>
          <p:cNvPicPr>
            <a:picLocks noChangeAspect="1"/>
          </p:cNvPicPr>
          <p:nvPr/>
        </p:nvPicPr>
        <p:blipFill>
          <a:blip r:embed="rId4"/>
          <a:stretch>
            <a:fillRect/>
          </a:stretch>
        </p:blipFill>
        <p:spPr>
          <a:xfrm>
            <a:off x="6159260" y="1388854"/>
            <a:ext cx="5692426" cy="4779033"/>
          </a:xfrm>
          <a:prstGeom prst="rect">
            <a:avLst/>
          </a:prstGeom>
          <a:ln>
            <a:solidFill>
              <a:schemeClr val="bg1"/>
            </a:solidFill>
          </a:ln>
        </p:spPr>
      </p:pic>
    </p:spTree>
    <p:extLst>
      <p:ext uri="{BB962C8B-B14F-4D97-AF65-F5344CB8AC3E}">
        <p14:creationId xmlns:p14="http://schemas.microsoft.com/office/powerpoint/2010/main" val="317176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0846556" cy="1304150"/>
          </a:xfrm>
        </p:spPr>
        <p:txBody>
          <a:bodyPr>
            <a:normAutofit/>
          </a:bodyPr>
          <a:lstStyle/>
          <a:p>
            <a:r>
              <a:rPr lang="en-US"/>
              <a:t>Mental health and physical activity: </a:t>
            </a:r>
            <a:br>
              <a:rPr lang="en-US"/>
            </a:br>
            <a:r>
              <a:rPr lang="en-US" sz="3600" i="1">
                <a:latin typeface="Times New Roman" panose="02020603050405020304" pitchFamily="18" charset="0"/>
                <a:cs typeface="Times New Roman" panose="02020603050405020304" pitchFamily="18" charset="0"/>
              </a:rPr>
              <a:t>Rodriguez-Romo et al. cross-sectional study results</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12</a:t>
            </a:fld>
            <a:endParaRPr lang="en-US"/>
          </a:p>
        </p:txBody>
      </p:sp>
      <p:sp>
        <p:nvSpPr>
          <p:cNvPr id="3" name="TextBox 2">
            <a:extLst>
              <a:ext uri="{FF2B5EF4-FFF2-40B4-BE49-F238E27FC236}">
                <a16:creationId xmlns:a16="http://schemas.microsoft.com/office/drawing/2014/main" id="{CEF81149-311A-62A3-2B5B-B86F8E112851}"/>
              </a:ext>
            </a:extLst>
          </p:cNvPr>
          <p:cNvSpPr txBox="1"/>
          <p:nvPr/>
        </p:nvSpPr>
        <p:spPr>
          <a:xfrm>
            <a:off x="303195" y="6422554"/>
            <a:ext cx="7469205" cy="338554"/>
          </a:xfrm>
          <a:prstGeom prst="rect">
            <a:avLst/>
          </a:prstGeom>
          <a:noFill/>
          <a:ln>
            <a:solidFill>
              <a:schemeClr val="tx1"/>
            </a:solidFill>
          </a:ln>
        </p:spPr>
        <p:txBody>
          <a:bodyPr wrap="square" rtlCol="0">
            <a:spAutoFit/>
          </a:bodyPr>
          <a:lstStyle/>
          <a:p>
            <a:r>
              <a:rPr lang="en-US" sz="1600" i="1"/>
              <a:t>Source: Physical Activity and Mental Health in Undergraduate Students, 2022.</a:t>
            </a:r>
          </a:p>
        </p:txBody>
      </p:sp>
      <p:pic>
        <p:nvPicPr>
          <p:cNvPr id="8" name="Picture 7">
            <a:extLst>
              <a:ext uri="{FF2B5EF4-FFF2-40B4-BE49-F238E27FC236}">
                <a16:creationId xmlns:a16="http://schemas.microsoft.com/office/drawing/2014/main" id="{494EA56F-B31E-9272-A1A9-5C6553C21784}"/>
              </a:ext>
            </a:extLst>
          </p:cNvPr>
          <p:cNvPicPr>
            <a:picLocks noChangeAspect="1"/>
          </p:cNvPicPr>
          <p:nvPr/>
        </p:nvPicPr>
        <p:blipFill>
          <a:blip r:embed="rId3"/>
          <a:stretch>
            <a:fillRect/>
          </a:stretch>
        </p:blipFill>
        <p:spPr>
          <a:xfrm>
            <a:off x="715992" y="1373806"/>
            <a:ext cx="8333117" cy="4947239"/>
          </a:xfrm>
          <a:prstGeom prst="rect">
            <a:avLst/>
          </a:prstGeom>
        </p:spPr>
      </p:pic>
      <p:sp>
        <p:nvSpPr>
          <p:cNvPr id="9" name="TextBox 8">
            <a:extLst>
              <a:ext uri="{FF2B5EF4-FFF2-40B4-BE49-F238E27FC236}">
                <a16:creationId xmlns:a16="http://schemas.microsoft.com/office/drawing/2014/main" id="{105CD877-FA3C-437B-AD09-887E3143630B}"/>
              </a:ext>
            </a:extLst>
          </p:cNvPr>
          <p:cNvSpPr txBox="1"/>
          <p:nvPr/>
        </p:nvSpPr>
        <p:spPr>
          <a:xfrm>
            <a:off x="9356727" y="1437814"/>
            <a:ext cx="2476992" cy="4832092"/>
          </a:xfrm>
          <a:prstGeom prst="rect">
            <a:avLst/>
          </a:prstGeom>
          <a:noFill/>
          <a:ln>
            <a:solidFill>
              <a:schemeClr val="tx1"/>
            </a:solidFill>
          </a:ln>
        </p:spPr>
        <p:txBody>
          <a:bodyPr wrap="square" rtlCol="0">
            <a:spAutoFit/>
          </a:bodyPr>
          <a:lstStyle/>
          <a:p>
            <a:pPr algn="ctr"/>
            <a:endParaRPr lang="en-US" sz="1400"/>
          </a:p>
          <a:p>
            <a:pPr marL="285750" indent="-285750">
              <a:buClr>
                <a:srgbClr val="00B050"/>
              </a:buClr>
              <a:buFont typeface="Wingdings" panose="05000000000000000000" pitchFamily="2" charset="2"/>
              <a:buChar char="ü"/>
            </a:pPr>
            <a:r>
              <a:rPr lang="en-US" sz="1400"/>
              <a:t>847 undergraduate students </a:t>
            </a:r>
          </a:p>
          <a:p>
            <a:pPr>
              <a:buClr>
                <a:srgbClr val="00B050"/>
              </a:buClr>
            </a:pPr>
            <a:endParaRPr lang="en-US" sz="1400"/>
          </a:p>
          <a:p>
            <a:pPr marL="285750" indent="-285750">
              <a:buClr>
                <a:srgbClr val="00B050"/>
              </a:buClr>
              <a:buFont typeface="Wingdings" panose="05000000000000000000" pitchFamily="2" charset="2"/>
              <a:buChar char="ü"/>
            </a:pPr>
            <a:r>
              <a:rPr lang="en-US" sz="1400"/>
              <a:t>Physical activity under different settings:</a:t>
            </a:r>
          </a:p>
          <a:p>
            <a:pPr marL="742950" lvl="1" indent="-285750">
              <a:buClr>
                <a:srgbClr val="00B050"/>
              </a:buClr>
              <a:buFont typeface="Wingdings" panose="05000000000000000000" pitchFamily="2" charset="2"/>
              <a:buChar char="§"/>
            </a:pPr>
            <a:r>
              <a:rPr lang="en-US" sz="1400"/>
              <a:t>Leisure</a:t>
            </a:r>
          </a:p>
          <a:p>
            <a:pPr marL="742950" lvl="1" indent="-285750">
              <a:buClr>
                <a:srgbClr val="00B050"/>
              </a:buClr>
              <a:buFont typeface="Wingdings" panose="05000000000000000000" pitchFamily="2" charset="2"/>
              <a:buChar char="§"/>
            </a:pPr>
            <a:r>
              <a:rPr lang="en-US" sz="1400"/>
              <a:t>Commuting</a:t>
            </a:r>
          </a:p>
          <a:p>
            <a:pPr marL="742950" lvl="1" indent="-285750">
              <a:buClr>
                <a:srgbClr val="00B050"/>
              </a:buClr>
              <a:buFont typeface="Wingdings" panose="05000000000000000000" pitchFamily="2" charset="2"/>
              <a:buChar char="§"/>
            </a:pPr>
            <a:r>
              <a:rPr lang="en-US" sz="1400"/>
              <a:t>Occupational, and </a:t>
            </a:r>
          </a:p>
          <a:p>
            <a:pPr marL="742950" lvl="1" indent="-285750">
              <a:buClr>
                <a:srgbClr val="00B050"/>
              </a:buClr>
              <a:buFont typeface="Wingdings" panose="05000000000000000000" pitchFamily="2" charset="2"/>
              <a:buChar char="§"/>
            </a:pPr>
            <a:r>
              <a:rPr lang="en-US" sz="1400"/>
              <a:t>Total</a:t>
            </a:r>
          </a:p>
          <a:p>
            <a:pPr marL="742950" lvl="1" indent="-285750">
              <a:buClr>
                <a:srgbClr val="00B050"/>
              </a:buClr>
              <a:buFont typeface="Wingdings" panose="05000000000000000000" pitchFamily="2" charset="2"/>
              <a:buChar char="§"/>
            </a:pPr>
            <a:endParaRPr lang="en-US" sz="1400"/>
          </a:p>
          <a:p>
            <a:pPr marL="285750" indent="-285750">
              <a:buClr>
                <a:srgbClr val="00B050"/>
              </a:buClr>
              <a:buFont typeface="Wingdings" panose="05000000000000000000" pitchFamily="2" charset="2"/>
              <a:buChar char="ü"/>
            </a:pPr>
            <a:r>
              <a:rPr lang="en-US" sz="1400"/>
              <a:t>Standardized questionnaires for measuring physical activity and mental health</a:t>
            </a:r>
          </a:p>
          <a:p>
            <a:pPr algn="ctr"/>
            <a:endParaRPr lang="en-US" sz="1400"/>
          </a:p>
          <a:p>
            <a:pPr algn="ctr"/>
            <a:r>
              <a:rPr lang="en-US" sz="1400"/>
              <a:t>Lower mental health score = Better mental health</a:t>
            </a:r>
          </a:p>
          <a:p>
            <a:pPr algn="ctr"/>
            <a:endParaRPr lang="en-US" sz="1400"/>
          </a:p>
          <a:p>
            <a:pPr algn="ctr"/>
            <a:r>
              <a:rPr lang="en-US" sz="1400"/>
              <a:t>Higher mental health score = Worse mental health</a:t>
            </a:r>
          </a:p>
        </p:txBody>
      </p:sp>
      <p:sp>
        <p:nvSpPr>
          <p:cNvPr id="4" name="Rectangle 3">
            <a:extLst>
              <a:ext uri="{FF2B5EF4-FFF2-40B4-BE49-F238E27FC236}">
                <a16:creationId xmlns:a16="http://schemas.microsoft.com/office/drawing/2014/main" id="{05E57C85-29C8-34A2-2718-62702B90F317}"/>
              </a:ext>
            </a:extLst>
          </p:cNvPr>
          <p:cNvSpPr/>
          <p:nvPr/>
        </p:nvSpPr>
        <p:spPr>
          <a:xfrm>
            <a:off x="1570008" y="1984075"/>
            <a:ext cx="1397479" cy="350011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785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0846556" cy="1304150"/>
          </a:xfrm>
        </p:spPr>
        <p:txBody>
          <a:bodyPr>
            <a:normAutofit/>
          </a:bodyPr>
          <a:lstStyle/>
          <a:p>
            <a:r>
              <a:rPr lang="en-US"/>
              <a:t>Happiness and physical activity: </a:t>
            </a:r>
            <a:br>
              <a:rPr lang="en-US"/>
            </a:br>
            <a:r>
              <a:rPr lang="en-US" sz="3600" i="1">
                <a:latin typeface="Times New Roman" panose="02020603050405020304" pitchFamily="18" charset="0"/>
                <a:cs typeface="Times New Roman" panose="02020603050405020304" pitchFamily="18" charset="0"/>
              </a:rPr>
              <a:t>A University of Michigan review study </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13</a:t>
            </a:fld>
            <a:endParaRPr lang="en-US"/>
          </a:p>
        </p:txBody>
      </p:sp>
      <p:pic>
        <p:nvPicPr>
          <p:cNvPr id="11" name="Picture 10">
            <a:extLst>
              <a:ext uri="{FF2B5EF4-FFF2-40B4-BE49-F238E27FC236}">
                <a16:creationId xmlns:a16="http://schemas.microsoft.com/office/drawing/2014/main" id="{2370110A-9870-49F9-EC84-53C4D8EC0F47}"/>
              </a:ext>
            </a:extLst>
          </p:cNvPr>
          <p:cNvPicPr>
            <a:picLocks noChangeAspect="1"/>
          </p:cNvPicPr>
          <p:nvPr/>
        </p:nvPicPr>
        <p:blipFill>
          <a:blip r:embed="rId3"/>
          <a:stretch>
            <a:fillRect/>
          </a:stretch>
        </p:blipFill>
        <p:spPr>
          <a:xfrm>
            <a:off x="476710" y="1528567"/>
            <a:ext cx="3296492" cy="4093427"/>
          </a:xfrm>
          <a:prstGeom prst="rect">
            <a:avLst/>
          </a:prstGeom>
          <a:solidFill>
            <a:schemeClr val="tx1"/>
          </a:solidFill>
        </p:spPr>
      </p:pic>
      <p:pic>
        <p:nvPicPr>
          <p:cNvPr id="13" name="Picture 12">
            <a:extLst>
              <a:ext uri="{FF2B5EF4-FFF2-40B4-BE49-F238E27FC236}">
                <a16:creationId xmlns:a16="http://schemas.microsoft.com/office/drawing/2014/main" id="{A25FDB01-5BB8-EF0E-DEAB-5A5991CF252E}"/>
              </a:ext>
            </a:extLst>
          </p:cNvPr>
          <p:cNvPicPr>
            <a:picLocks noChangeAspect="1"/>
          </p:cNvPicPr>
          <p:nvPr/>
        </p:nvPicPr>
        <p:blipFill>
          <a:blip r:embed="rId4"/>
          <a:stretch>
            <a:fillRect/>
          </a:stretch>
        </p:blipFill>
        <p:spPr>
          <a:xfrm>
            <a:off x="4045928" y="1528566"/>
            <a:ext cx="3395704" cy="2439145"/>
          </a:xfrm>
          <a:prstGeom prst="rect">
            <a:avLst/>
          </a:prstGeom>
          <a:solidFill>
            <a:schemeClr val="tx1"/>
          </a:solidFill>
        </p:spPr>
      </p:pic>
      <p:sp>
        <p:nvSpPr>
          <p:cNvPr id="14" name="TextBox 13">
            <a:extLst>
              <a:ext uri="{FF2B5EF4-FFF2-40B4-BE49-F238E27FC236}">
                <a16:creationId xmlns:a16="http://schemas.microsoft.com/office/drawing/2014/main" id="{14A6BA68-B50B-3897-9C45-5F04BED312A3}"/>
              </a:ext>
            </a:extLst>
          </p:cNvPr>
          <p:cNvSpPr txBox="1"/>
          <p:nvPr/>
        </p:nvSpPr>
        <p:spPr>
          <a:xfrm>
            <a:off x="7615146" y="1528566"/>
            <a:ext cx="4323557" cy="4093428"/>
          </a:xfrm>
          <a:prstGeom prst="rect">
            <a:avLst/>
          </a:prstGeom>
          <a:noFill/>
          <a:ln>
            <a:solidFill>
              <a:schemeClr val="tx1"/>
            </a:solidFill>
          </a:ln>
        </p:spPr>
        <p:txBody>
          <a:bodyPr wrap="square" rtlCol="0">
            <a:spAutoFit/>
          </a:bodyPr>
          <a:lstStyle/>
          <a:p>
            <a:r>
              <a:rPr lang="en-US" sz="2000"/>
              <a:t>Key findings in studies</a:t>
            </a:r>
          </a:p>
          <a:p>
            <a:endParaRPr lang="en-US" sz="1600"/>
          </a:p>
          <a:p>
            <a:pPr marL="285750" indent="-285750">
              <a:buFont typeface="Arial" panose="020B0604020202020204" pitchFamily="34" charset="0"/>
              <a:buChar char="•"/>
            </a:pPr>
            <a:r>
              <a:rPr lang="en-US" sz="1600"/>
              <a:t>Nearly universal positive association</a:t>
            </a:r>
          </a:p>
          <a:p>
            <a:endParaRPr lang="en-US" sz="1600"/>
          </a:p>
          <a:p>
            <a:pPr marL="285750" indent="-285750">
              <a:buFont typeface="Arial" panose="020B0604020202020204" pitchFamily="34" charset="0"/>
              <a:buChar char="•"/>
            </a:pPr>
            <a:r>
              <a:rPr lang="en-US" sz="1600"/>
              <a:t>Slightly more is better than slightly less…</a:t>
            </a:r>
          </a:p>
          <a:p>
            <a:pPr marL="742950" lvl="1" indent="-285750">
              <a:buFont typeface="Neue Haas Grotesk Text Pro" panose="020B0504020202020204" pitchFamily="34" charset="0"/>
              <a:buChar char="–"/>
            </a:pPr>
            <a:r>
              <a:rPr lang="en-US" sz="1600"/>
              <a:t>2 days per week vs. 1 </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…but something is better than nothing</a:t>
            </a:r>
          </a:p>
          <a:p>
            <a:pPr marL="742950" lvl="1" indent="-285750">
              <a:buFont typeface="Neue Haas Grotesk Text Pro" panose="020B0504020202020204" pitchFamily="34" charset="0"/>
              <a:buChar char="–"/>
            </a:pPr>
            <a:r>
              <a:rPr lang="en-US" sz="1600"/>
              <a:t>1 day per week vs. none</a:t>
            </a:r>
          </a:p>
          <a:p>
            <a:endParaRPr lang="en-US" sz="1600"/>
          </a:p>
          <a:p>
            <a:pPr marL="285750" indent="-285750">
              <a:buFont typeface="Arial" panose="020B0604020202020204" pitchFamily="34" charset="0"/>
              <a:buChar char="•"/>
            </a:pPr>
            <a:r>
              <a:rPr lang="en-US" sz="1600"/>
              <a:t>Even just 10 mins makes a difference</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endParaRPr lang="en-US" sz="1600"/>
          </a:p>
        </p:txBody>
      </p:sp>
      <p:sp>
        <p:nvSpPr>
          <p:cNvPr id="3" name="TextBox 2">
            <a:extLst>
              <a:ext uri="{FF2B5EF4-FFF2-40B4-BE49-F238E27FC236}">
                <a16:creationId xmlns:a16="http://schemas.microsoft.com/office/drawing/2014/main" id="{97AB19E4-5FE6-03B0-CC9F-184C0073E4A3}"/>
              </a:ext>
            </a:extLst>
          </p:cNvPr>
          <p:cNvSpPr txBox="1"/>
          <p:nvPr/>
        </p:nvSpPr>
        <p:spPr>
          <a:xfrm>
            <a:off x="303195" y="6433186"/>
            <a:ext cx="8935696" cy="338554"/>
          </a:xfrm>
          <a:prstGeom prst="rect">
            <a:avLst/>
          </a:prstGeom>
          <a:noFill/>
          <a:ln>
            <a:solidFill>
              <a:schemeClr val="tx1"/>
            </a:solidFill>
          </a:ln>
        </p:spPr>
        <p:txBody>
          <a:bodyPr wrap="square" rtlCol="0">
            <a:spAutoFit/>
          </a:bodyPr>
          <a:lstStyle/>
          <a:p>
            <a:r>
              <a:rPr lang="en-US" sz="1600" i="1"/>
              <a:t>Source: A systematic review of the relationship between physical activity and happiness, 2018.</a:t>
            </a:r>
          </a:p>
        </p:txBody>
      </p:sp>
    </p:spTree>
    <p:extLst>
      <p:ext uri="{BB962C8B-B14F-4D97-AF65-F5344CB8AC3E}">
        <p14:creationId xmlns:p14="http://schemas.microsoft.com/office/powerpoint/2010/main" val="2491959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3726-495F-9562-0712-2CFCFF049E0B}"/>
              </a:ext>
            </a:extLst>
          </p:cNvPr>
          <p:cNvSpPr>
            <a:spLocks noGrp="1"/>
          </p:cNvSpPr>
          <p:nvPr>
            <p:ph type="title"/>
          </p:nvPr>
        </p:nvSpPr>
        <p:spPr>
          <a:xfrm>
            <a:off x="303197" y="151841"/>
            <a:ext cx="10846556" cy="1304150"/>
          </a:xfrm>
        </p:spPr>
        <p:txBody>
          <a:bodyPr>
            <a:normAutofit/>
          </a:bodyPr>
          <a:lstStyle/>
          <a:p>
            <a:r>
              <a:rPr lang="en-US"/>
              <a:t>The opportunity - nearly 40% indicated Sedentary/Light Leisure Time activity</a:t>
            </a:r>
          </a:p>
        </p:txBody>
      </p:sp>
      <p:sp>
        <p:nvSpPr>
          <p:cNvPr id="7" name="Slide Number Placeholder 6">
            <a:extLst>
              <a:ext uri="{FF2B5EF4-FFF2-40B4-BE49-F238E27FC236}">
                <a16:creationId xmlns:a16="http://schemas.microsoft.com/office/drawing/2014/main" id="{F6701EC0-F5C1-CC70-11B5-BA40B54021C8}"/>
              </a:ext>
            </a:extLst>
          </p:cNvPr>
          <p:cNvSpPr>
            <a:spLocks noGrp="1"/>
          </p:cNvSpPr>
          <p:nvPr>
            <p:ph type="sldNum" sz="quarter" idx="12"/>
          </p:nvPr>
        </p:nvSpPr>
        <p:spPr/>
        <p:txBody>
          <a:bodyPr/>
          <a:lstStyle/>
          <a:p>
            <a:fld id="{6E91CC32-6A6B-4E2E-BBA1-6864F305DA26}" type="slidenum">
              <a:rPr lang="en-US" smtClean="0"/>
              <a:t>14</a:t>
            </a:fld>
            <a:endParaRPr lang="en-US"/>
          </a:p>
        </p:txBody>
      </p:sp>
      <p:pic>
        <p:nvPicPr>
          <p:cNvPr id="4" name="Picture 3">
            <a:extLst>
              <a:ext uri="{FF2B5EF4-FFF2-40B4-BE49-F238E27FC236}">
                <a16:creationId xmlns:a16="http://schemas.microsoft.com/office/drawing/2014/main" id="{229CD1D9-860F-ABD5-2658-9AA1E69E104F}"/>
              </a:ext>
            </a:extLst>
          </p:cNvPr>
          <p:cNvPicPr>
            <a:picLocks noChangeAspect="1"/>
          </p:cNvPicPr>
          <p:nvPr/>
        </p:nvPicPr>
        <p:blipFill>
          <a:blip r:embed="rId3"/>
          <a:stretch>
            <a:fillRect/>
          </a:stretch>
        </p:blipFill>
        <p:spPr>
          <a:xfrm>
            <a:off x="1358359" y="1351701"/>
            <a:ext cx="4298728" cy="2584594"/>
          </a:xfrm>
          <a:prstGeom prst="rect">
            <a:avLst/>
          </a:prstGeom>
        </p:spPr>
      </p:pic>
      <p:pic>
        <p:nvPicPr>
          <p:cNvPr id="10" name="Picture 9">
            <a:extLst>
              <a:ext uri="{FF2B5EF4-FFF2-40B4-BE49-F238E27FC236}">
                <a16:creationId xmlns:a16="http://schemas.microsoft.com/office/drawing/2014/main" id="{93961908-748D-8FB4-C0C0-9A01ED26B32C}"/>
              </a:ext>
            </a:extLst>
          </p:cNvPr>
          <p:cNvPicPr>
            <a:picLocks noChangeAspect="1"/>
          </p:cNvPicPr>
          <p:nvPr/>
        </p:nvPicPr>
        <p:blipFill>
          <a:blip r:embed="rId4"/>
          <a:stretch>
            <a:fillRect/>
          </a:stretch>
        </p:blipFill>
        <p:spPr>
          <a:xfrm>
            <a:off x="5999130" y="1322537"/>
            <a:ext cx="4251293" cy="2613758"/>
          </a:xfrm>
          <a:prstGeom prst="rect">
            <a:avLst/>
          </a:prstGeom>
        </p:spPr>
      </p:pic>
      <p:pic>
        <p:nvPicPr>
          <p:cNvPr id="12" name="Picture 11">
            <a:extLst>
              <a:ext uri="{FF2B5EF4-FFF2-40B4-BE49-F238E27FC236}">
                <a16:creationId xmlns:a16="http://schemas.microsoft.com/office/drawing/2014/main" id="{E0425EBD-A7A9-1490-3DDA-EA4ED816229D}"/>
              </a:ext>
            </a:extLst>
          </p:cNvPr>
          <p:cNvPicPr>
            <a:picLocks noChangeAspect="1"/>
          </p:cNvPicPr>
          <p:nvPr/>
        </p:nvPicPr>
        <p:blipFill>
          <a:blip r:embed="rId5"/>
          <a:stretch>
            <a:fillRect/>
          </a:stretch>
        </p:blipFill>
        <p:spPr>
          <a:xfrm>
            <a:off x="3748848" y="4023928"/>
            <a:ext cx="4500563" cy="2767013"/>
          </a:xfrm>
          <a:prstGeom prst="rect">
            <a:avLst/>
          </a:prstGeom>
        </p:spPr>
      </p:pic>
      <p:cxnSp>
        <p:nvCxnSpPr>
          <p:cNvPr id="15" name="Straight Arrow Connector 14">
            <a:extLst>
              <a:ext uri="{FF2B5EF4-FFF2-40B4-BE49-F238E27FC236}">
                <a16:creationId xmlns:a16="http://schemas.microsoft.com/office/drawing/2014/main" id="{46C1AD3C-6D32-614B-1EA6-8A9427364B8D}"/>
              </a:ext>
            </a:extLst>
          </p:cNvPr>
          <p:cNvCxnSpPr>
            <a:cxnSpLocks/>
          </p:cNvCxnSpPr>
          <p:nvPr/>
        </p:nvCxnSpPr>
        <p:spPr>
          <a:xfrm flipV="1">
            <a:off x="2781385" y="1915378"/>
            <a:ext cx="228600" cy="210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3C2F271-3E06-98B4-02F9-B7038A4CB3F1}"/>
              </a:ext>
            </a:extLst>
          </p:cNvPr>
          <p:cNvCxnSpPr>
            <a:cxnSpLocks/>
          </p:cNvCxnSpPr>
          <p:nvPr/>
        </p:nvCxnSpPr>
        <p:spPr>
          <a:xfrm>
            <a:off x="2758049" y="2125980"/>
            <a:ext cx="114300" cy="260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8FEF603-E7D2-CD97-D4B8-23A18A59EBA9}"/>
              </a:ext>
            </a:extLst>
          </p:cNvPr>
          <p:cNvSpPr txBox="1"/>
          <p:nvPr/>
        </p:nvSpPr>
        <p:spPr>
          <a:xfrm>
            <a:off x="1637252" y="1987480"/>
            <a:ext cx="1258433" cy="276999"/>
          </a:xfrm>
          <a:prstGeom prst="rect">
            <a:avLst/>
          </a:prstGeom>
          <a:noFill/>
        </p:spPr>
        <p:txBody>
          <a:bodyPr wrap="square" rtlCol="0">
            <a:spAutoFit/>
          </a:bodyPr>
          <a:lstStyle/>
          <a:p>
            <a:pPr algn="ctr"/>
            <a:r>
              <a:rPr lang="en-US" sz="1200" b="1">
                <a:solidFill>
                  <a:schemeClr val="bg1"/>
                </a:solidFill>
              </a:rPr>
              <a:t>Opportunity</a:t>
            </a:r>
          </a:p>
        </p:txBody>
      </p:sp>
    </p:spTree>
    <p:extLst>
      <p:ext uri="{BB962C8B-B14F-4D97-AF65-F5344CB8AC3E}">
        <p14:creationId xmlns:p14="http://schemas.microsoft.com/office/powerpoint/2010/main" val="3711963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94E726-2C62-BC85-F439-737225F6F8E0}"/>
              </a:ext>
            </a:extLst>
          </p:cNvPr>
          <p:cNvPicPr>
            <a:picLocks noChangeAspect="1"/>
          </p:cNvPicPr>
          <p:nvPr/>
        </p:nvPicPr>
        <p:blipFill>
          <a:blip r:embed="rId3"/>
          <a:stretch>
            <a:fillRect/>
          </a:stretch>
        </p:blipFill>
        <p:spPr>
          <a:xfrm>
            <a:off x="1722310" y="1323403"/>
            <a:ext cx="8781827" cy="5310181"/>
          </a:xfrm>
          <a:prstGeom prst="rect">
            <a:avLst/>
          </a:prstGeom>
        </p:spPr>
      </p:pic>
      <p:sp>
        <p:nvSpPr>
          <p:cNvPr id="2" name="Title 1">
            <a:extLst>
              <a:ext uri="{FF2B5EF4-FFF2-40B4-BE49-F238E27FC236}">
                <a16:creationId xmlns:a16="http://schemas.microsoft.com/office/drawing/2014/main" id="{4928EFB0-AA67-C02E-2961-5C6CAFC9DA9E}"/>
              </a:ext>
            </a:extLst>
          </p:cNvPr>
          <p:cNvSpPr>
            <a:spLocks noGrp="1"/>
          </p:cNvSpPr>
          <p:nvPr>
            <p:ph type="title"/>
          </p:nvPr>
        </p:nvSpPr>
        <p:spPr>
          <a:xfrm>
            <a:off x="303195" y="224416"/>
            <a:ext cx="11530524" cy="1304150"/>
          </a:xfrm>
        </p:spPr>
        <p:txBody>
          <a:bodyPr>
            <a:normAutofit fontScale="90000"/>
          </a:bodyPr>
          <a:lstStyle/>
          <a:p>
            <a:r>
              <a:rPr lang="en-US"/>
              <a:t>Mean happiness scores by activity and setting </a:t>
            </a:r>
            <a:br>
              <a:rPr lang="en-US"/>
            </a:br>
            <a:r>
              <a:rPr lang="en-US" sz="3600" i="1">
                <a:latin typeface="Times New Roman" panose="02020603050405020304" pitchFamily="18" charset="0"/>
                <a:cs typeface="Times New Roman" panose="02020603050405020304" pitchFamily="18" charset="0"/>
              </a:rPr>
              <a:t>Survey results</a:t>
            </a:r>
          </a:p>
        </p:txBody>
      </p:sp>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15</a:t>
            </a:fld>
            <a:endParaRPr lang="en-US"/>
          </a:p>
        </p:txBody>
      </p:sp>
      <p:sp>
        <p:nvSpPr>
          <p:cNvPr id="3" name="Rectangle 2">
            <a:extLst>
              <a:ext uri="{FF2B5EF4-FFF2-40B4-BE49-F238E27FC236}">
                <a16:creationId xmlns:a16="http://schemas.microsoft.com/office/drawing/2014/main" id="{0BB7F525-82B2-EBB2-CBAA-3A76487D207E}"/>
              </a:ext>
            </a:extLst>
          </p:cNvPr>
          <p:cNvSpPr/>
          <p:nvPr/>
        </p:nvSpPr>
        <p:spPr>
          <a:xfrm>
            <a:off x="3913808" y="1969598"/>
            <a:ext cx="1397479" cy="4266610"/>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87330476-0B7C-0840-CCFB-46F45CB2770C}"/>
              </a:ext>
            </a:extLst>
          </p:cNvPr>
          <p:cNvGraphicFramePr/>
          <p:nvPr>
            <p:extLst>
              <p:ext uri="{D42A27DB-BD31-4B8C-83A1-F6EECF244321}">
                <p14:modId xmlns:p14="http://schemas.microsoft.com/office/powerpoint/2010/main" val="3735874565"/>
              </p:ext>
            </p:extLst>
          </p:nvPr>
        </p:nvGraphicFramePr>
        <p:xfrm>
          <a:off x="5378232" y="1629151"/>
          <a:ext cx="3279285" cy="12146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Oval 7">
            <a:extLst>
              <a:ext uri="{FF2B5EF4-FFF2-40B4-BE49-F238E27FC236}">
                <a16:creationId xmlns:a16="http://schemas.microsoft.com/office/drawing/2014/main" id="{B5344DA1-4F77-FAF9-9C03-A168CCA54D87}"/>
              </a:ext>
            </a:extLst>
          </p:cNvPr>
          <p:cNvSpPr/>
          <p:nvPr/>
        </p:nvSpPr>
        <p:spPr>
          <a:xfrm rot="1485640">
            <a:off x="3675888" y="1783080"/>
            <a:ext cx="1635399" cy="24231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8977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81084B-2F17-D169-C31D-36B6F3366BDE}"/>
              </a:ext>
            </a:extLst>
          </p:cNvPr>
          <p:cNvSpPr>
            <a:spLocks noGrp="1"/>
          </p:cNvSpPr>
          <p:nvPr>
            <p:ph type="sldNum" sz="quarter" idx="12"/>
          </p:nvPr>
        </p:nvSpPr>
        <p:spPr/>
        <p:txBody>
          <a:bodyPr/>
          <a:lstStyle/>
          <a:p>
            <a:fld id="{6E91CC32-6A6B-4E2E-BBA1-6864F305DA26}" type="slidenum">
              <a:rPr lang="en-US" smtClean="0"/>
              <a:t>16</a:t>
            </a:fld>
            <a:endParaRPr lang="en-US"/>
          </a:p>
        </p:txBody>
      </p:sp>
      <p:pic>
        <p:nvPicPr>
          <p:cNvPr id="1026" name="Picture 2" descr="Don't Worry Be Happy | Busy Beaver Button Museum">
            <a:extLst>
              <a:ext uri="{FF2B5EF4-FFF2-40B4-BE49-F238E27FC236}">
                <a16:creationId xmlns:a16="http://schemas.microsoft.com/office/drawing/2014/main" id="{2C3DD374-03AE-3D9A-F86F-8620D9BB7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197479">
            <a:off x="5925504" y="1325969"/>
            <a:ext cx="5282629" cy="4844421"/>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01;p20">
            <a:extLst>
              <a:ext uri="{FF2B5EF4-FFF2-40B4-BE49-F238E27FC236}">
                <a16:creationId xmlns:a16="http://schemas.microsoft.com/office/drawing/2014/main" id="{CD91E88F-3250-DE21-0686-5DE9B515A572}"/>
              </a:ext>
            </a:extLst>
          </p:cNvPr>
          <p:cNvPicPr preferRelativeResize="0"/>
          <p:nvPr/>
        </p:nvPicPr>
        <p:blipFill>
          <a:blip r:embed="rId4">
            <a:alphaModFix/>
          </a:blip>
          <a:stretch>
            <a:fillRect/>
          </a:stretch>
        </p:blipFill>
        <p:spPr>
          <a:xfrm>
            <a:off x="855540" y="1774261"/>
            <a:ext cx="4510090" cy="3947836"/>
          </a:xfrm>
          <a:prstGeom prst="rect">
            <a:avLst/>
          </a:prstGeom>
          <a:noFill/>
          <a:ln>
            <a:noFill/>
          </a:ln>
        </p:spPr>
      </p:pic>
      <p:sp>
        <p:nvSpPr>
          <p:cNvPr id="5" name="Title 1">
            <a:extLst>
              <a:ext uri="{FF2B5EF4-FFF2-40B4-BE49-F238E27FC236}">
                <a16:creationId xmlns:a16="http://schemas.microsoft.com/office/drawing/2014/main" id="{1C3BB5E0-3265-5B06-C3E3-BF6A026F14A6}"/>
              </a:ext>
            </a:extLst>
          </p:cNvPr>
          <p:cNvSpPr>
            <a:spLocks noGrp="1"/>
          </p:cNvSpPr>
          <p:nvPr>
            <p:ph type="title"/>
          </p:nvPr>
        </p:nvSpPr>
        <p:spPr>
          <a:xfrm>
            <a:off x="303195" y="224416"/>
            <a:ext cx="11023288" cy="1304150"/>
          </a:xfrm>
        </p:spPr>
        <p:txBody>
          <a:bodyPr/>
          <a:lstStyle/>
          <a:p>
            <a:r>
              <a:rPr lang="en-US"/>
              <a:t>Take 10 to exercise….it is good for you!</a:t>
            </a:r>
          </a:p>
        </p:txBody>
      </p:sp>
    </p:spTree>
    <p:extLst>
      <p:ext uri="{BB962C8B-B14F-4D97-AF65-F5344CB8AC3E}">
        <p14:creationId xmlns:p14="http://schemas.microsoft.com/office/powerpoint/2010/main" val="3539164792"/>
      </p:ext>
    </p:extLst>
  </p:cSld>
  <p:clrMapOvr>
    <a:masterClrMapping/>
  </p:clrMapOvr>
</p:sld>
</file>

<file path=ppt/theme/theme1.xml><?xml version="1.0" encoding="utf-8"?>
<a:theme xmlns:a="http://schemas.openxmlformats.org/drawingml/2006/main" name="DylanVTI">
  <a:themeElements>
    <a:clrScheme name="AnalogousFromLightSeedRightStep">
      <a:dk1>
        <a:srgbClr val="000000"/>
      </a:dk1>
      <a:lt1>
        <a:srgbClr val="FFFFFF"/>
      </a:lt1>
      <a:dk2>
        <a:srgbClr val="243341"/>
      </a:dk2>
      <a:lt2>
        <a:srgbClr val="E8E2E7"/>
      </a:lt2>
      <a:accent1>
        <a:srgbClr val="7DAD88"/>
      </a:accent1>
      <a:accent2>
        <a:srgbClr val="6FAC96"/>
      </a:accent2>
      <a:accent3>
        <a:srgbClr val="7DA9AC"/>
      </a:accent3>
      <a:accent4>
        <a:srgbClr val="7B9EBE"/>
      </a:accent4>
      <a:accent5>
        <a:srgbClr val="9399CA"/>
      </a:accent5>
      <a:accent6>
        <a:srgbClr val="8F7BBE"/>
      </a:accent6>
      <a:hlink>
        <a:srgbClr val="AE699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602636BD-A055-489B-83EC-AD971B7E5F9C}" vid="{CD33A9BC-C4B5-4F36-8A14-490DC4E38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College Writing RPP.2 Presentation</Template>
  <TotalTime>0</TotalTime>
  <Words>775</Words>
  <Application>Microsoft Office PowerPoint</Application>
  <PresentationFormat>Widescreen</PresentationFormat>
  <Paragraphs>138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Neue Haas Grotesk Text Pro</vt:lpstr>
      <vt:lpstr>Times New Roman</vt:lpstr>
      <vt:lpstr>Wingdings</vt:lpstr>
      <vt:lpstr>DylanVTI</vt:lpstr>
      <vt:lpstr>PowerPoint Presentation</vt:lpstr>
      <vt:lpstr>College students’ daily emotions</vt:lpstr>
      <vt:lpstr>Student emotions are mental health warning signs</vt:lpstr>
      <vt:lpstr>Student mental health in decline</vt:lpstr>
      <vt:lpstr>Unfortunately, it has hit close to home</vt:lpstr>
      <vt:lpstr>PowerPoint Presentation</vt:lpstr>
      <vt:lpstr>Mental health self-care</vt:lpstr>
      <vt:lpstr> What self-care opportunities do we have to improve our mental wellbeing?</vt:lpstr>
      <vt:lpstr>Popular stress busters – Survey results</vt:lpstr>
      <vt:lpstr>Exercise is associated with numerous mental health benefits</vt:lpstr>
      <vt:lpstr>WashU Rec</vt:lpstr>
      <vt:lpstr>Mental health and physical activity:  Rodriguez-Romo et al. cross-sectional study results</vt:lpstr>
      <vt:lpstr>Happiness and physical activity:  A University of Michigan review study </vt:lpstr>
      <vt:lpstr>The opportunity - nearly 40% indicated Sedentary/Light Leisure Time activity</vt:lpstr>
      <vt:lpstr>Mean happiness scores by activity and setting  Survey results</vt:lpstr>
      <vt:lpstr>Take 10 to exercise….it is good for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there an Opportunity and Mental Well-Being?</dc:title>
  <dc:creator>Ramabadran, Anand</dc:creator>
  <cp:lastModifiedBy>Ramabadran, Anand</cp:lastModifiedBy>
  <cp:revision>1</cp:revision>
  <cp:lastPrinted>2023-11-25T15:57:13Z</cp:lastPrinted>
  <dcterms:created xsi:type="dcterms:W3CDTF">2023-11-23T19:37:37Z</dcterms:created>
  <dcterms:modified xsi:type="dcterms:W3CDTF">2025-04-19T04:18:01Z</dcterms:modified>
</cp:coreProperties>
</file>