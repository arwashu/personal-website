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Montserrat Black"/>
      <p:bold r:id="rId21"/>
      <p:boldItalic r:id="rId22"/>
    </p:embeddedFont>
    <p:embeddedFont>
      <p:font typeface="Montserrat"/>
      <p:regular r:id="rId23"/>
      <p:bold r:id="rId24"/>
      <p:italic r:id="rId25"/>
      <p:boldItalic r:id="rId26"/>
    </p:embeddedFont>
    <p:embeddedFont>
      <p:font typeface="Poppins"/>
      <p:regular r:id="rId27"/>
      <p:bold r:id="rId28"/>
      <p:italic r:id="rId29"/>
      <p:boldItalic r:id="rId30"/>
    </p:embeddedFont>
    <p:embeddedFont>
      <p:font typeface="Barlow Condensed"/>
      <p:regular r:id="rId31"/>
      <p:bold r:id="rId32"/>
      <p:italic r:id="rId33"/>
      <p:boldItalic r:id="rId34"/>
    </p:embeddedFont>
    <p:embeddedFont>
      <p:font typeface="Montserrat Medium"/>
      <p:regular r:id="rId35"/>
      <p:bold r:id="rId36"/>
      <p:italic r:id="rId37"/>
      <p:boldItalic r:id="rId38"/>
    </p:embeddedFont>
    <p:embeddedFont>
      <p:font typeface="Homemade Apple"/>
      <p:regular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C54F2A-745E-49F1-AF27-C41236E3E5E9}">
  <a:tblStyle styleId="{04C54F2A-745E-49F1-AF27-C41236E3E5E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MontserratBlack-boldItalic.fntdata"/><Relationship Id="rId21" Type="http://schemas.openxmlformats.org/officeDocument/2006/relationships/font" Target="fonts/MontserratBlack-bold.fntdata"/><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arlowCondensed-regular.fntdata"/><Relationship Id="rId30" Type="http://schemas.openxmlformats.org/officeDocument/2006/relationships/font" Target="fonts/Poppins-boldItalic.fntdata"/><Relationship Id="rId11" Type="http://schemas.openxmlformats.org/officeDocument/2006/relationships/slide" Target="slides/slide5.xml"/><Relationship Id="rId33" Type="http://schemas.openxmlformats.org/officeDocument/2006/relationships/font" Target="fonts/BarlowCondensed-italic.fntdata"/><Relationship Id="rId10" Type="http://schemas.openxmlformats.org/officeDocument/2006/relationships/slide" Target="slides/slide4.xml"/><Relationship Id="rId32" Type="http://schemas.openxmlformats.org/officeDocument/2006/relationships/font" Target="fonts/BarlowCondensed-bold.fntdata"/><Relationship Id="rId13" Type="http://schemas.openxmlformats.org/officeDocument/2006/relationships/slide" Target="slides/slide7.xml"/><Relationship Id="rId35" Type="http://schemas.openxmlformats.org/officeDocument/2006/relationships/font" Target="fonts/MontserratMedium-regular.fntdata"/><Relationship Id="rId12" Type="http://schemas.openxmlformats.org/officeDocument/2006/relationships/slide" Target="slides/slide6.xml"/><Relationship Id="rId34" Type="http://schemas.openxmlformats.org/officeDocument/2006/relationships/font" Target="fonts/BarlowCondensed-boldItalic.fntdata"/><Relationship Id="rId15" Type="http://schemas.openxmlformats.org/officeDocument/2006/relationships/slide" Target="slides/slide9.xml"/><Relationship Id="rId37" Type="http://schemas.openxmlformats.org/officeDocument/2006/relationships/font" Target="fonts/MontserratMedium-italic.fntdata"/><Relationship Id="rId14" Type="http://schemas.openxmlformats.org/officeDocument/2006/relationships/slide" Target="slides/slide8.xml"/><Relationship Id="rId36" Type="http://schemas.openxmlformats.org/officeDocument/2006/relationships/font" Target="fonts/MontserratMedium-bold.fntdata"/><Relationship Id="rId17" Type="http://schemas.openxmlformats.org/officeDocument/2006/relationships/slide" Target="slides/slide11.xml"/><Relationship Id="rId39" Type="http://schemas.openxmlformats.org/officeDocument/2006/relationships/font" Target="fonts/HomemadeApple-regular.fntdata"/><Relationship Id="rId16" Type="http://schemas.openxmlformats.org/officeDocument/2006/relationships/slide" Target="slides/slide10.xml"/><Relationship Id="rId38" Type="http://schemas.openxmlformats.org/officeDocument/2006/relationships/font" Target="fonts/MontserratMedium-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1200"/>
              </a:spcAft>
              <a:buClr>
                <a:schemeClr val="dk1"/>
              </a:buClr>
              <a:buSzPts val="1100"/>
              <a:buFont typeface="Arial"/>
              <a:buNone/>
            </a:pPr>
            <a:r>
              <a:rPr lang="es-ES">
                <a:solidFill>
                  <a:schemeClr val="dk1"/>
                </a:solidFill>
              </a:rPr>
              <a:t>Eli Lilly and Company is a leading global pharmaceutical firm headquartered in Indianapolis, Indiana. Founded in 1876, the company has built a reputation for scientific innovation and clinical excellence, particularly in areas such as diabetes, oncology, immunology, and—more recently—obesity. With a robust portfolio that includes high-demand treatments like Mounjaro and Zepbound, Lilly has emerged as a key player in the fast-growing GLP-1 drug market. Backed by strong financials, sustained R&amp;D investment, and a track record of strategic execution, Eli Lilly is positioned at the forefront of the pharmaceutical industry in 2025.</a:t>
            </a:r>
            <a:endParaRPr/>
          </a:p>
        </p:txBody>
      </p:sp>
      <p:sp>
        <p:nvSpPr>
          <p:cNvPr id="219" name="Google Shape;21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ES"/>
              <a:t>Strengths: </a:t>
            </a:r>
            <a:endParaRPr/>
          </a:p>
          <a:p>
            <a:pPr indent="0" lvl="0" marL="0" rtl="0" algn="l">
              <a:spcBef>
                <a:spcPts val="0"/>
              </a:spcBef>
              <a:spcAft>
                <a:spcPts val="0"/>
              </a:spcAft>
              <a:buNone/>
            </a:pPr>
            <a:r>
              <a:rPr lang="es-ES"/>
              <a:t>Even amid inflation, market selloffs, and regulatory chatter, the pharmaceutical industry (e.g., the XPH ETF) has outperformed major indices like the S&amp;P 500</a:t>
            </a:r>
            <a:endParaRPr/>
          </a:p>
          <a:p>
            <a:pPr indent="0" lvl="0" marL="0" rtl="0" algn="l">
              <a:spcBef>
                <a:spcPts val="0"/>
              </a:spcBef>
              <a:spcAft>
                <a:spcPts val="0"/>
              </a:spcAft>
              <a:buNone/>
            </a:pPr>
            <a:r>
              <a:t/>
            </a:r>
            <a:endParaRPr/>
          </a:p>
          <a:p>
            <a:pPr indent="0" lvl="0" marL="0" rtl="0" algn="l">
              <a:spcBef>
                <a:spcPts val="0"/>
              </a:spcBef>
              <a:spcAft>
                <a:spcPts val="0"/>
              </a:spcAft>
              <a:buNone/>
            </a:pPr>
            <a:r>
              <a:rPr lang="es-ES"/>
              <a:t>Drug development requires years of clinical trials, heavy regulatory approval, and billions in R&amp;D deterring new entrants and protecting existing players.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s-ES"/>
              <a:t>New treatments like GLP-1 receptor agonists (e.g., Ozempic, Mounjaro) have exploded in popularity due to their effectiveness, representing a fast-growing, multi-billion dollar market.</a:t>
            </a:r>
            <a:endParaRPr/>
          </a:p>
          <a:p>
            <a:pPr indent="0" lvl="0" marL="0" rtl="0" algn="l">
              <a:spcBef>
                <a:spcPts val="0"/>
              </a:spcBef>
              <a:spcAft>
                <a:spcPts val="0"/>
              </a:spcAft>
              <a:buNone/>
            </a:pPr>
            <a:r>
              <a:t/>
            </a:r>
            <a:endParaRPr/>
          </a:p>
          <a:p>
            <a:pPr indent="0" lvl="0" marL="0" rtl="0" algn="l">
              <a:spcBef>
                <a:spcPts val="0"/>
              </a:spcBef>
              <a:spcAft>
                <a:spcPts val="0"/>
              </a:spcAft>
              <a:buNone/>
            </a:pPr>
            <a:r>
              <a:rPr lang="es-ES"/>
              <a:t>Weaknesses: </a:t>
            </a:r>
            <a:endParaRPr/>
          </a:p>
          <a:p>
            <a:pPr indent="0" lvl="0" marL="0" rtl="0" algn="l">
              <a:spcBef>
                <a:spcPts val="0"/>
              </a:spcBef>
              <a:spcAft>
                <a:spcPts val="0"/>
              </a:spcAft>
              <a:buNone/>
            </a:pPr>
            <a:r>
              <a:rPr lang="es-ES"/>
              <a:t>The average cost of developing a successful drug exceeds $2 billion, with a high chance of failure. Many R&amp;D efforts never yield commercially viable products.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s-ES"/>
              <a:t>Many top-selling drugs will lose patent protection in 2025, exposing companies to cheaper generic and biosimilar competition, which could result in billions in lost revenue.</a:t>
            </a:r>
            <a:br>
              <a:rPr lang="es-ES"/>
            </a:br>
            <a:endParaRPr/>
          </a:p>
          <a:p>
            <a:pPr indent="0" lvl="0" marL="0" rtl="0" algn="l">
              <a:spcBef>
                <a:spcPts val="0"/>
              </a:spcBef>
              <a:spcAft>
                <a:spcPts val="0"/>
              </a:spcAft>
              <a:buNone/>
            </a:pPr>
            <a:r>
              <a:rPr lang="es-ES"/>
              <a:t>Opportunities: </a:t>
            </a:r>
            <a:endParaRPr/>
          </a:p>
          <a:p>
            <a:pPr indent="0" lvl="0" marL="0" rtl="0" algn="l">
              <a:spcBef>
                <a:spcPts val="0"/>
              </a:spcBef>
              <a:spcAft>
                <a:spcPts val="0"/>
              </a:spcAft>
              <a:buNone/>
            </a:pPr>
            <a:r>
              <a:rPr lang="es-ES"/>
              <a:t>After a quiet 2024, companies are expected to increase mergers and acquisitions to replace lost revenue from expiring patents or enter new therapeutic areas.</a:t>
            </a:r>
            <a:endParaRPr/>
          </a:p>
          <a:p>
            <a:pPr indent="0" lvl="0" marL="0" rtl="0" algn="l">
              <a:spcBef>
                <a:spcPts val="0"/>
              </a:spcBef>
              <a:spcAft>
                <a:spcPts val="0"/>
              </a:spcAft>
              <a:buNone/>
            </a:pPr>
            <a:r>
              <a:t/>
            </a:r>
            <a:endParaRPr/>
          </a:p>
          <a:p>
            <a:pPr indent="0" lvl="0" marL="0" rtl="0" algn="l">
              <a:spcBef>
                <a:spcPts val="0"/>
              </a:spcBef>
              <a:spcAft>
                <a:spcPts val="0"/>
              </a:spcAft>
              <a:buNone/>
            </a:pPr>
            <a:r>
              <a:rPr lang="es-ES"/>
              <a:t>The success of current GLP-1 drugs is just the beginning—future innovations might include combo drugs or expanded indications (e.g., heart disease, Alzheimer’s).</a:t>
            </a:r>
            <a:endParaRPr/>
          </a:p>
          <a:p>
            <a:pPr indent="0" lvl="0" marL="0" rtl="0" algn="l">
              <a:spcBef>
                <a:spcPts val="0"/>
              </a:spcBef>
              <a:spcAft>
                <a:spcPts val="0"/>
              </a:spcAft>
              <a:buNone/>
            </a:pPr>
            <a:r>
              <a:t/>
            </a:r>
            <a:endParaRPr/>
          </a:p>
          <a:p>
            <a:pPr indent="0" lvl="0" marL="0" rtl="0" algn="l">
              <a:spcBef>
                <a:spcPts val="0"/>
              </a:spcBef>
              <a:spcAft>
                <a:spcPts val="0"/>
              </a:spcAft>
              <a:buNone/>
            </a:pPr>
            <a:r>
              <a:rPr lang="es-ES"/>
              <a:t>Threats: </a:t>
            </a:r>
            <a:endParaRPr/>
          </a:p>
          <a:p>
            <a:pPr indent="0" lvl="0" marL="0" rtl="0" algn="l">
              <a:spcBef>
                <a:spcPts val="0"/>
              </a:spcBef>
              <a:spcAft>
                <a:spcPts val="0"/>
              </a:spcAft>
              <a:buNone/>
            </a:pPr>
            <a:r>
              <a:rPr lang="es-ES"/>
              <a:t>Many pharmaceutical ingredients come from overseas (India, China). New tariffs could increase production costs and disrupt supply chains.</a:t>
            </a:r>
            <a:endParaRPr/>
          </a:p>
          <a:p>
            <a:pPr indent="0" lvl="0" marL="0" rtl="0" algn="l">
              <a:spcBef>
                <a:spcPts val="0"/>
              </a:spcBef>
              <a:spcAft>
                <a:spcPts val="0"/>
              </a:spcAft>
              <a:buNone/>
            </a:pPr>
            <a:r>
              <a:t/>
            </a:r>
            <a:endParaRPr/>
          </a:p>
          <a:p>
            <a:pPr indent="0" lvl="0" marL="0" rtl="0" algn="l">
              <a:spcBef>
                <a:spcPts val="0"/>
              </a:spcBef>
              <a:spcAft>
                <a:spcPts val="0"/>
              </a:spcAft>
              <a:buNone/>
            </a:pPr>
            <a:r>
              <a:rPr lang="es-ES"/>
              <a:t>Though Lilly and Novo Nordisk are market leaders now, major firms like Pfizer and AstraZeneca are racing to release their own GLP-1 drugs between 2027–2030.</a:t>
            </a:r>
            <a:endParaRPr/>
          </a:p>
          <a:p>
            <a:pPr indent="0" lvl="0" marL="0" rtl="0" algn="l">
              <a:spcBef>
                <a:spcPts val="0"/>
              </a:spcBef>
              <a:spcAft>
                <a:spcPts val="0"/>
              </a:spcAft>
              <a:buNone/>
            </a:pPr>
            <a:r>
              <a:t/>
            </a:r>
            <a:endParaRPr/>
          </a:p>
        </p:txBody>
      </p:sp>
      <p:sp>
        <p:nvSpPr>
          <p:cNvPr id="226" name="Google Shape;2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49e1983893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ES"/>
              <a:t>This slide summarizes some of the most important financial and operational indicators for Eli Lilly &amp; Co, alongside its position in the broader pharmaceutical landscape.</a:t>
            </a:r>
            <a:endParaRPr/>
          </a:p>
          <a:p>
            <a:pPr indent="0" lvl="0" marL="0" rtl="0" algn="l">
              <a:spcBef>
                <a:spcPts val="0"/>
              </a:spcBef>
              <a:spcAft>
                <a:spcPts val="0"/>
              </a:spcAft>
              <a:buNone/>
            </a:pPr>
            <a:r>
              <a:t/>
            </a:r>
            <a:endParaRPr/>
          </a:p>
          <a:p>
            <a:pPr indent="0" lvl="0" marL="0" rtl="0" algn="l">
              <a:spcBef>
                <a:spcPts val="0"/>
              </a:spcBef>
              <a:spcAft>
                <a:spcPts val="0"/>
              </a:spcAft>
              <a:buNone/>
            </a:pPr>
            <a:r>
              <a:rPr lang="es-ES">
                <a:solidFill>
                  <a:schemeClr val="dk1"/>
                </a:solidFill>
              </a:rPr>
              <a:t>Looking at Eli Lilly specifically, the company stands out for its exceptional financial strength. It holds an A++ rating, which is the highest possible grade, and it’s maintained this level of strength since 2015.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ES">
                <a:solidFill>
                  <a:schemeClr val="dk1"/>
                </a:solidFill>
              </a:rPr>
              <a:t>Lilly also demonstrates outstanding profitability, with an operating margin of 37.6%, which means that nearly 38 cents of every dollar in revenue is converted into operating profit. That’s well above the industry average.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ES">
                <a:solidFill>
                  <a:schemeClr val="dk1"/>
                </a:solidFill>
              </a:rPr>
              <a:t>Even more impressive is the return on equity—at 82.8%, Eli Lilly is generating enormous value relative to shareholder investment. This number is extremely high and reflects the firm’s ability to reinvest profits efficiently.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ES">
                <a:solidFill>
                  <a:schemeClr val="dk1"/>
                </a:solidFill>
              </a:rPr>
              <a:t>We’re seeing that strength reflected in sales growth. If you look at the bar chart on the left, you’ll notice a steady increase in quarterly sales—from $9.5 billion in Q3 of 2023 to an estimated $13.5 billion in Q4 of 2024. That’s a substantial growth trajectory in just over a year.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s-ES">
                <a:solidFill>
                  <a:schemeClr val="dk1"/>
                </a:solidFill>
              </a:rPr>
              <a:t>Overall, these metrics confirm that Eli Lilly is not only financially strong but also strategically positioned for continued growth, especially with its leadership in the obesity and diabetes treatment space.</a:t>
            </a:r>
            <a:endParaRPr>
              <a:solidFill>
                <a:schemeClr val="dk1"/>
              </a:solidFill>
            </a:endParaRPr>
          </a:p>
        </p:txBody>
      </p:sp>
      <p:sp>
        <p:nvSpPr>
          <p:cNvPr id="265" name="Google Shape;265;g349e1983893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4b12af488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s-ES" sz="1300">
                <a:solidFill>
                  <a:schemeClr val="dk1"/>
                </a:solidFill>
              </a:rPr>
              <a:t>Strengths</a:t>
            </a:r>
            <a:endParaRPr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Eli Lilly is incredibly well-positioned in the pharmaceutical landscape, and one of its biggest strengths is its market leadership in GLP-1 drugs—specifically Mounjaro and Zepbound. These medications are central players in the booming obesity and diabetes treatment market, which is expected to exceed $100 billion globally.</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Financially, the company is exceptionally strong. It holds an A++ financial strength rating, boasts an operating margin of 37.6%, and delivers a return on equity of 82.8%, which is remarkably high even within its peer group. These metrics reflect outstanding operational efficiency and investor value creation.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And from a shareholder perspective, Eli Lilly has been a star performer—its stock has returned over 530% in the past five years, far outpacing its competitors.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lang="es-ES" sz="1300">
                <a:solidFill>
                  <a:schemeClr val="dk1"/>
                </a:solidFill>
              </a:rPr>
              <a:t>Weaknesses</a:t>
            </a:r>
            <a:endParaRPr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Despite its strengths, there are a few areas of concern. Lilly’s dividend yield sits at just 0.83%, which is lower than many of its peers. This may not appeal to income-focused investors.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We’ve also seen recent insider selling activity, particularly from Lilly Endowment in March. While not necessarily negative on its own, it may raise questions around insider sentiment.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Finally, Lilly recently received slight downgrades in price stability and earnings predictability scores, indicating that analysts are watching for potential volatility or deviations from expected performance.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lang="es-ES" sz="1300">
                <a:solidFill>
                  <a:schemeClr val="dk1"/>
                </a:solidFill>
              </a:rPr>
              <a:t>Opportunities</a:t>
            </a:r>
            <a:endParaRPr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Looking ahead, the opportunities are substantial. Sales are projected to grow to $71 billion by 2026, driven by expanding demand for its GLP-1 portfolio and potential expansion into adjacent therapeutic areas, such as cardiovascular health.</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The company is also well-positioned to benefit from continued innovation, including next-gen obesity treatments, combination therapies, and broader global distribution.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Analysts forecast a 30% to 55% price appreciation over the next 3 to 5 years, suggesting confidence in both its financials and strategic direction.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lang="es-ES" sz="1300">
                <a:solidFill>
                  <a:schemeClr val="dk1"/>
                </a:solidFill>
              </a:rPr>
              <a:t>Threats</a:t>
            </a:r>
            <a:endParaRPr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But with high performance comes high expectations. Eli Lilly’s current valuation already reflects significant optimism—so any pipeline delays or market shifts could weigh heavily on the stock.</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s-ES">
                <a:solidFill>
                  <a:schemeClr val="dk1"/>
                </a:solidFill>
              </a:rPr>
              <a:t>There’s also rising competition in the GLP-1 space, with major players like Pfizer and AstraZeneca expected to launch competing products by the end of the decade.</a:t>
            </a:r>
            <a:endParaRPr>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s-ES">
                <a:solidFill>
                  <a:schemeClr val="dk1"/>
                </a:solidFill>
              </a:rPr>
              <a:t>Lastly, regulatory pressure—especially around drug pricing—and potential global supply chain disruption due to tariffs could present challenges moving forward.</a:t>
            </a:r>
            <a:endParaRPr/>
          </a:p>
        </p:txBody>
      </p:sp>
      <p:sp>
        <p:nvSpPr>
          <p:cNvPr id="274" name="Google Shape;274;g34b12af4887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49e1983893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49e1983893_3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4a8510760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4a85107609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4a8510760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34a85107609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4a8510760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34a85107609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4a85107609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4a8510760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4a8510760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g34a85107609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4a8510760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g34a85107609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a8510760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4a85107609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4a8510760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34a85107609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mania.com/" TargetMode="External"/><Relationship Id="rId3" Type="http://schemas.openxmlformats.org/officeDocument/2006/relationships/image" Target="../media/image1.png"/><Relationship Id="rId4" Type="http://schemas.openxmlformats.org/officeDocument/2006/relationships/hyperlink" Target="https://slidesmania.com/questions-powerpoint-google-slides/can-i-use-these-templates/" TargetMode="External"/><Relationship Id="rId11" Type="http://schemas.openxmlformats.org/officeDocument/2006/relationships/hyperlink" Target="https://www.instagram.com/slidesmania/" TargetMode="External"/><Relationship Id="rId10" Type="http://schemas.openxmlformats.org/officeDocument/2006/relationships/image" Target="../media/image14.png"/><Relationship Id="rId12" Type="http://schemas.openxmlformats.org/officeDocument/2006/relationships/image" Target="../media/image5.png"/><Relationship Id="rId9" Type="http://schemas.openxmlformats.org/officeDocument/2006/relationships/hyperlink" Target="https://www.pinterest.com/slidesmania/" TargetMode="External"/><Relationship Id="rId5" Type="http://schemas.openxmlformats.org/officeDocument/2006/relationships/hyperlink" Target="https://www.facebook.com/SlidesManiaSM/" TargetMode="External"/><Relationship Id="rId6" Type="http://schemas.openxmlformats.org/officeDocument/2006/relationships/image" Target="../media/image4.png"/><Relationship Id="rId7" Type="http://schemas.openxmlformats.org/officeDocument/2006/relationships/hyperlink" Target="https://twitter.com/SlidesManiaSM/" TargetMode="External"/><Relationship Id="rId8"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1">
  <p:cSld name="0077_Robinson_Template_SlidesMania_1">
    <p:bg>
      <p:bgPr>
        <a:solidFill>
          <a:srgbClr val="F7F7F7"/>
        </a:solidFill>
      </p:bgPr>
    </p:bg>
    <p:spTree>
      <p:nvGrpSpPr>
        <p:cNvPr id="7" name="Shape 7"/>
        <p:cNvGrpSpPr/>
        <p:nvPr/>
      </p:nvGrpSpPr>
      <p:grpSpPr>
        <a:xfrm>
          <a:off x="0" y="0"/>
          <a:ext cx="0" cy="0"/>
          <a:chOff x="0" y="0"/>
          <a:chExt cx="0" cy="0"/>
        </a:xfrm>
      </p:grpSpPr>
      <p:sp>
        <p:nvSpPr>
          <p:cNvPr id="8" name="Google Shape;8;p2"/>
          <p:cNvSpPr/>
          <p:nvPr/>
        </p:nvSpPr>
        <p:spPr>
          <a:xfrm>
            <a:off x="0" y="5142778"/>
            <a:ext cx="10379140" cy="171522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 name="Google Shape;9;p2"/>
          <p:cNvSpPr/>
          <p:nvPr/>
        </p:nvSpPr>
        <p:spPr>
          <a:xfrm>
            <a:off x="9010073" y="0"/>
            <a:ext cx="3181927"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 name="Google Shape;10;p2"/>
          <p:cNvSpPr/>
          <p:nvPr/>
        </p:nvSpPr>
        <p:spPr>
          <a:xfrm>
            <a:off x="0" y="0"/>
            <a:ext cx="12192000" cy="171522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2"/>
          <p:cNvSpPr/>
          <p:nvPr/>
        </p:nvSpPr>
        <p:spPr>
          <a:xfrm>
            <a:off x="373626" y="1170036"/>
            <a:ext cx="7747820" cy="4925963"/>
          </a:xfrm>
          <a:prstGeom prst="frame">
            <a:avLst>
              <a:gd fmla="val 4286" name="adj1"/>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 name="Google Shape;12;p2"/>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2">
  <p:cSld name="0077_Robinson_Template_SlidesMania_2">
    <p:bg>
      <p:bgPr>
        <a:solidFill>
          <a:srgbClr val="F7F7F7"/>
        </a:solidFill>
      </p:bgPr>
    </p:bg>
    <p:spTree>
      <p:nvGrpSpPr>
        <p:cNvPr id="13" name="Shape 13"/>
        <p:cNvGrpSpPr/>
        <p:nvPr/>
      </p:nvGrpSpPr>
      <p:grpSpPr>
        <a:xfrm>
          <a:off x="0" y="0"/>
          <a:ext cx="0" cy="0"/>
          <a:chOff x="0" y="0"/>
          <a:chExt cx="0" cy="0"/>
        </a:xfrm>
      </p:grpSpPr>
      <p:sp>
        <p:nvSpPr>
          <p:cNvPr id="14" name="Google Shape;14;p3"/>
          <p:cNvSpPr/>
          <p:nvPr/>
        </p:nvSpPr>
        <p:spPr>
          <a:xfrm>
            <a:off x="1812860" y="2506718"/>
            <a:ext cx="10379140" cy="356961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 name="Google Shape;15;p3"/>
          <p:cNvSpPr/>
          <p:nvPr/>
        </p:nvSpPr>
        <p:spPr>
          <a:xfrm>
            <a:off x="1812860" y="0"/>
            <a:ext cx="3181927"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 name="Google Shape;16;p3"/>
          <p:cNvSpPr/>
          <p:nvPr/>
        </p:nvSpPr>
        <p:spPr>
          <a:xfrm>
            <a:off x="0" y="0"/>
            <a:ext cx="12192000" cy="171522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 name="Google Shape;17;p3"/>
          <p:cNvSpPr txBox="1"/>
          <p:nvPr>
            <p:ph idx="1" type="body"/>
          </p:nvPr>
        </p:nvSpPr>
        <p:spPr>
          <a:xfrm>
            <a:off x="4149213" y="624348"/>
            <a:ext cx="7381111" cy="758461"/>
          </a:xfrm>
          <a:prstGeom prst="rect">
            <a:avLst/>
          </a:prstGeom>
          <a:noFill/>
          <a:ln>
            <a:noFill/>
          </a:ln>
        </p:spPr>
        <p:txBody>
          <a:bodyPr anchorCtr="0" anchor="ctr" bIns="45700" lIns="91425" spcFirstLastPara="1" rIns="91425" wrap="square" tIns="45700">
            <a:noAutofit/>
          </a:bodyPr>
          <a:lstStyle>
            <a:lvl1pPr indent="-228600" lvl="0" marL="457200" marR="0" rtl="0" algn="r">
              <a:lnSpc>
                <a:spcPct val="90000"/>
              </a:lnSpc>
              <a:spcBef>
                <a:spcPts val="1000"/>
              </a:spcBef>
              <a:spcAft>
                <a:spcPts val="0"/>
              </a:spcAft>
              <a:buClr>
                <a:schemeClr val="lt1"/>
              </a:buClr>
              <a:buSzPts val="3600"/>
              <a:buFont typeface="Arial"/>
              <a:buNone/>
              <a:defRPr b="0" i="0" sz="3600" u="none" cap="none" strike="noStrike">
                <a:solidFill>
                  <a:schemeClr val="lt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8">
  <p:cSld name="0077_Robinson_Template_SlidesMania_8">
    <p:bg>
      <p:bgPr>
        <a:solidFill>
          <a:srgbClr val="F7F7F7"/>
        </a:solidFill>
      </p:bgPr>
    </p:bg>
    <p:spTree>
      <p:nvGrpSpPr>
        <p:cNvPr id="18" name="Shape 18"/>
        <p:cNvGrpSpPr/>
        <p:nvPr/>
      </p:nvGrpSpPr>
      <p:grpSpPr>
        <a:xfrm>
          <a:off x="0" y="0"/>
          <a:ext cx="0" cy="0"/>
          <a:chOff x="0" y="0"/>
          <a:chExt cx="0" cy="0"/>
        </a:xfrm>
      </p:grpSpPr>
      <p:sp>
        <p:nvSpPr>
          <p:cNvPr id="19" name="Google Shape;19;p4"/>
          <p:cNvSpPr/>
          <p:nvPr/>
        </p:nvSpPr>
        <p:spPr>
          <a:xfrm>
            <a:off x="11616811" y="1342101"/>
            <a:ext cx="245807" cy="551589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 name="Google Shape;20;p4"/>
          <p:cNvSpPr/>
          <p:nvPr/>
        </p:nvSpPr>
        <p:spPr>
          <a:xfrm>
            <a:off x="0" y="501673"/>
            <a:ext cx="9733935" cy="24580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 name="Google Shape;21;p4"/>
          <p:cNvSpPr/>
          <p:nvPr/>
        </p:nvSpPr>
        <p:spPr>
          <a:xfrm>
            <a:off x="0" y="3242439"/>
            <a:ext cx="9733935" cy="3113888"/>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 name="Google Shape;22;p4"/>
          <p:cNvSpPr txBox="1"/>
          <p:nvPr>
            <p:ph idx="1" type="body"/>
          </p:nvPr>
        </p:nvSpPr>
        <p:spPr>
          <a:xfrm>
            <a:off x="5026667" y="1342101"/>
            <a:ext cx="6011513" cy="758461"/>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4000"/>
              <a:buFont typeface="Arial"/>
              <a:buNone/>
              <a:defRPr b="0" i="0" sz="40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2" type="body"/>
          </p:nvPr>
        </p:nvSpPr>
        <p:spPr>
          <a:xfrm>
            <a:off x="329382" y="3584945"/>
            <a:ext cx="8755624" cy="2428875"/>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6">
  <p:cSld name="0077_Robinson_Template_SlidesMania_6">
    <p:bg>
      <p:bgPr>
        <a:solidFill>
          <a:srgbClr val="F7F7F7"/>
        </a:solidFill>
      </p:bgPr>
    </p:bg>
    <p:spTree>
      <p:nvGrpSpPr>
        <p:cNvPr id="25" name="Shape 25"/>
        <p:cNvGrpSpPr/>
        <p:nvPr/>
      </p:nvGrpSpPr>
      <p:grpSpPr>
        <a:xfrm>
          <a:off x="0" y="0"/>
          <a:ext cx="0" cy="0"/>
          <a:chOff x="0" y="0"/>
          <a:chExt cx="0" cy="0"/>
        </a:xfrm>
      </p:grpSpPr>
      <p:sp>
        <p:nvSpPr>
          <p:cNvPr id="26" name="Google Shape;26;p5"/>
          <p:cNvSpPr/>
          <p:nvPr/>
        </p:nvSpPr>
        <p:spPr>
          <a:xfrm>
            <a:off x="0" y="0"/>
            <a:ext cx="12192000" cy="108154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 name="Google Shape;27;p5"/>
          <p:cNvSpPr/>
          <p:nvPr/>
        </p:nvSpPr>
        <p:spPr>
          <a:xfrm rot="5400000">
            <a:off x="10653252" y="-638635"/>
            <a:ext cx="245808" cy="28316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 name="Google Shape;28;p5"/>
          <p:cNvSpPr/>
          <p:nvPr/>
        </p:nvSpPr>
        <p:spPr>
          <a:xfrm>
            <a:off x="1528566" y="1852685"/>
            <a:ext cx="1800000" cy="118622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Montserrat"/>
              <a:ea typeface="Montserrat"/>
              <a:cs typeface="Montserrat"/>
              <a:sym typeface="Montserrat"/>
            </a:endParaRPr>
          </a:p>
        </p:txBody>
      </p:sp>
      <p:sp>
        <p:nvSpPr>
          <p:cNvPr id="29" name="Google Shape;29;p5"/>
          <p:cNvSpPr/>
          <p:nvPr/>
        </p:nvSpPr>
        <p:spPr>
          <a:xfrm>
            <a:off x="3839148" y="1852685"/>
            <a:ext cx="1800000" cy="12132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Montserrat"/>
              <a:ea typeface="Montserrat"/>
              <a:cs typeface="Montserrat"/>
              <a:sym typeface="Montserrat"/>
            </a:endParaRPr>
          </a:p>
        </p:txBody>
      </p:sp>
      <p:sp>
        <p:nvSpPr>
          <p:cNvPr id="30" name="Google Shape;30;p5"/>
          <p:cNvSpPr/>
          <p:nvPr/>
        </p:nvSpPr>
        <p:spPr>
          <a:xfrm>
            <a:off x="6149730" y="1852685"/>
            <a:ext cx="1800000" cy="12132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Montserrat"/>
              <a:ea typeface="Montserrat"/>
              <a:cs typeface="Montserrat"/>
              <a:sym typeface="Montserrat"/>
            </a:endParaRPr>
          </a:p>
        </p:txBody>
      </p:sp>
      <p:sp>
        <p:nvSpPr>
          <p:cNvPr id="31" name="Google Shape;31;p5"/>
          <p:cNvSpPr/>
          <p:nvPr/>
        </p:nvSpPr>
        <p:spPr>
          <a:xfrm>
            <a:off x="8460312" y="1852685"/>
            <a:ext cx="1800000" cy="121326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Montserrat"/>
              <a:ea typeface="Montserrat"/>
              <a:cs typeface="Montserrat"/>
              <a:sym typeface="Montserrat"/>
            </a:endParaRPr>
          </a:p>
        </p:txBody>
      </p:sp>
      <p:sp>
        <p:nvSpPr>
          <p:cNvPr id="32" name="Google Shape;32;p5"/>
          <p:cNvSpPr txBox="1"/>
          <p:nvPr>
            <p:ph idx="1" type="body"/>
          </p:nvPr>
        </p:nvSpPr>
        <p:spPr>
          <a:xfrm>
            <a:off x="1528566" y="3205703"/>
            <a:ext cx="1800225" cy="238212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5"/>
          <p:cNvSpPr txBox="1"/>
          <p:nvPr>
            <p:ph idx="2" type="body"/>
          </p:nvPr>
        </p:nvSpPr>
        <p:spPr>
          <a:xfrm>
            <a:off x="3839148" y="3205703"/>
            <a:ext cx="1800225" cy="238212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5"/>
          <p:cNvSpPr txBox="1"/>
          <p:nvPr>
            <p:ph idx="3" type="body"/>
          </p:nvPr>
        </p:nvSpPr>
        <p:spPr>
          <a:xfrm>
            <a:off x="6149505" y="3205703"/>
            <a:ext cx="1800225" cy="238212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5"/>
          <p:cNvSpPr txBox="1"/>
          <p:nvPr>
            <p:ph idx="4" type="body"/>
          </p:nvPr>
        </p:nvSpPr>
        <p:spPr>
          <a:xfrm>
            <a:off x="8460199" y="3205703"/>
            <a:ext cx="1800225" cy="238212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5"/>
          <p:cNvSpPr/>
          <p:nvPr/>
        </p:nvSpPr>
        <p:spPr>
          <a:xfrm rot="5400000">
            <a:off x="2632148" y="1939811"/>
            <a:ext cx="245807" cy="168466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 name="Google Shape;37;p5"/>
          <p:cNvSpPr/>
          <p:nvPr/>
        </p:nvSpPr>
        <p:spPr>
          <a:xfrm rot="5400000">
            <a:off x="4929205" y="1939811"/>
            <a:ext cx="245807" cy="168466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 name="Google Shape;38;p5"/>
          <p:cNvSpPr/>
          <p:nvPr/>
        </p:nvSpPr>
        <p:spPr>
          <a:xfrm rot="5400000">
            <a:off x="7277890" y="1934508"/>
            <a:ext cx="245807" cy="168466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 name="Google Shape;39;p5"/>
          <p:cNvSpPr/>
          <p:nvPr/>
        </p:nvSpPr>
        <p:spPr>
          <a:xfrm rot="5400000">
            <a:off x="9574947" y="1934508"/>
            <a:ext cx="245807" cy="168466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 name="Google Shape;40;p5"/>
          <p:cNvSpPr txBox="1"/>
          <p:nvPr>
            <p:ph idx="5" type="body"/>
          </p:nvPr>
        </p:nvSpPr>
        <p:spPr>
          <a:xfrm>
            <a:off x="1652613" y="275073"/>
            <a:ext cx="7381111" cy="758461"/>
          </a:xfrm>
          <a:prstGeom prst="rect">
            <a:avLst/>
          </a:prstGeom>
          <a:noFill/>
          <a:ln>
            <a:noFill/>
          </a:ln>
        </p:spPr>
        <p:txBody>
          <a:bodyPr anchorCtr="0" anchor="ctr" bIns="45700" lIns="91425" spcFirstLastPara="1" rIns="91425" wrap="square" tIns="45700">
            <a:noAutofit/>
          </a:bodyPr>
          <a:lstStyle>
            <a:lvl1pPr indent="-228600" lvl="0" marL="457200" marR="0" rtl="0" algn="r">
              <a:lnSpc>
                <a:spcPct val="90000"/>
              </a:lnSpc>
              <a:spcBef>
                <a:spcPts val="1000"/>
              </a:spcBef>
              <a:spcAft>
                <a:spcPts val="0"/>
              </a:spcAft>
              <a:buClr>
                <a:schemeClr val="lt1"/>
              </a:buClr>
              <a:buSzPts val="3600"/>
              <a:buFont typeface="Arial"/>
              <a:buNone/>
              <a:defRPr b="0" i="0" sz="3600" u="none" cap="none" strike="noStrike">
                <a:solidFill>
                  <a:schemeClr val="lt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1" name="Google Shape;41;p5"/>
          <p:cNvSpPr/>
          <p:nvPr/>
        </p:nvSpPr>
        <p:spPr>
          <a:xfrm>
            <a:off x="0" y="5852003"/>
            <a:ext cx="12192000" cy="1081548"/>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 name="Google Shape;42;p5"/>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12">
  <p:cSld name="0077_Robinson_Template_SlidesMania_12">
    <p:bg>
      <p:bgPr>
        <a:solidFill>
          <a:srgbClr val="F7F7F7"/>
        </a:solidFill>
      </p:bgPr>
    </p:bg>
    <p:spTree>
      <p:nvGrpSpPr>
        <p:cNvPr id="43" name="Shape 43"/>
        <p:cNvGrpSpPr/>
        <p:nvPr/>
      </p:nvGrpSpPr>
      <p:grpSpPr>
        <a:xfrm>
          <a:off x="0" y="0"/>
          <a:ext cx="0" cy="0"/>
          <a:chOff x="0" y="0"/>
          <a:chExt cx="0" cy="0"/>
        </a:xfrm>
      </p:grpSpPr>
      <p:sp>
        <p:nvSpPr>
          <p:cNvPr id="44" name="Google Shape;44;p6"/>
          <p:cNvSpPr/>
          <p:nvPr/>
        </p:nvSpPr>
        <p:spPr>
          <a:xfrm>
            <a:off x="11616811" y="1342101"/>
            <a:ext cx="245807" cy="551589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 name="Google Shape;45;p6"/>
          <p:cNvSpPr/>
          <p:nvPr/>
        </p:nvSpPr>
        <p:spPr>
          <a:xfrm>
            <a:off x="0" y="246033"/>
            <a:ext cx="9733935" cy="24580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 name="Google Shape;46;p6"/>
          <p:cNvSpPr/>
          <p:nvPr/>
        </p:nvSpPr>
        <p:spPr>
          <a:xfrm>
            <a:off x="1" y="3242439"/>
            <a:ext cx="11238270" cy="3113888"/>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 name="Google Shape;47;p6"/>
          <p:cNvSpPr txBox="1"/>
          <p:nvPr>
            <p:ph idx="1" type="body"/>
          </p:nvPr>
        </p:nvSpPr>
        <p:spPr>
          <a:xfrm>
            <a:off x="5226758" y="682514"/>
            <a:ext cx="6011513" cy="758461"/>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4400"/>
              <a:buFont typeface="Arial"/>
              <a:buNone/>
              <a:defRPr b="0" i="0" sz="44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6"/>
          <p:cNvSpPr txBox="1"/>
          <p:nvPr>
            <p:ph idx="2" type="body"/>
          </p:nvPr>
        </p:nvSpPr>
        <p:spPr>
          <a:xfrm>
            <a:off x="953729" y="2680606"/>
            <a:ext cx="2696690" cy="145709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9" name="Google Shape;49;p6"/>
          <p:cNvSpPr txBox="1"/>
          <p:nvPr>
            <p:ph idx="3" type="body"/>
          </p:nvPr>
        </p:nvSpPr>
        <p:spPr>
          <a:xfrm>
            <a:off x="4158736" y="2676252"/>
            <a:ext cx="2696690" cy="145709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6"/>
          <p:cNvSpPr txBox="1"/>
          <p:nvPr>
            <p:ph idx="4" type="body"/>
          </p:nvPr>
        </p:nvSpPr>
        <p:spPr>
          <a:xfrm>
            <a:off x="7359900" y="2675520"/>
            <a:ext cx="2696690" cy="145709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 name="Google Shape;51;p6"/>
          <p:cNvSpPr txBox="1"/>
          <p:nvPr>
            <p:ph idx="5" type="body"/>
          </p:nvPr>
        </p:nvSpPr>
        <p:spPr>
          <a:xfrm>
            <a:off x="953729" y="4530262"/>
            <a:ext cx="2696690" cy="145709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6"/>
          <p:cNvSpPr txBox="1"/>
          <p:nvPr>
            <p:ph idx="6" type="body"/>
          </p:nvPr>
        </p:nvSpPr>
        <p:spPr>
          <a:xfrm>
            <a:off x="4158736" y="4525908"/>
            <a:ext cx="2696690" cy="145709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 name="Google Shape;53;p6"/>
          <p:cNvSpPr txBox="1"/>
          <p:nvPr>
            <p:ph idx="7" type="body"/>
          </p:nvPr>
        </p:nvSpPr>
        <p:spPr>
          <a:xfrm>
            <a:off x="7359900" y="4525176"/>
            <a:ext cx="2696690" cy="145709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6"/>
          <p:cNvSpPr/>
          <p:nvPr/>
        </p:nvSpPr>
        <p:spPr>
          <a:xfrm>
            <a:off x="7034303" y="2675520"/>
            <a:ext cx="245807" cy="86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 name="Google Shape;55;p6"/>
          <p:cNvSpPr/>
          <p:nvPr/>
        </p:nvSpPr>
        <p:spPr>
          <a:xfrm>
            <a:off x="7034303" y="4525176"/>
            <a:ext cx="245807" cy="86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 name="Google Shape;56;p6"/>
          <p:cNvSpPr/>
          <p:nvPr/>
        </p:nvSpPr>
        <p:spPr>
          <a:xfrm>
            <a:off x="3823490" y="2672535"/>
            <a:ext cx="245807" cy="86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 name="Google Shape;57;p6"/>
          <p:cNvSpPr/>
          <p:nvPr/>
        </p:nvSpPr>
        <p:spPr>
          <a:xfrm>
            <a:off x="3823490" y="4522191"/>
            <a:ext cx="245807" cy="86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 name="Google Shape;58;p6"/>
          <p:cNvSpPr/>
          <p:nvPr/>
        </p:nvSpPr>
        <p:spPr>
          <a:xfrm>
            <a:off x="592968" y="2672535"/>
            <a:ext cx="245807" cy="86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 name="Google Shape;59;p6"/>
          <p:cNvSpPr/>
          <p:nvPr/>
        </p:nvSpPr>
        <p:spPr>
          <a:xfrm>
            <a:off x="592968" y="4522191"/>
            <a:ext cx="245807" cy="864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 name="Google Shape;60;p6"/>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7">
  <p:cSld name="0077_Robinson_Template_SlidesMania_7">
    <p:bg>
      <p:bgPr>
        <a:solidFill>
          <a:srgbClr val="F7F7F7"/>
        </a:solidFill>
      </p:bgPr>
    </p:bg>
    <p:spTree>
      <p:nvGrpSpPr>
        <p:cNvPr id="61" name="Shape 61"/>
        <p:cNvGrpSpPr/>
        <p:nvPr/>
      </p:nvGrpSpPr>
      <p:grpSpPr>
        <a:xfrm>
          <a:off x="0" y="0"/>
          <a:ext cx="0" cy="0"/>
          <a:chOff x="0" y="0"/>
          <a:chExt cx="0" cy="0"/>
        </a:xfrm>
      </p:grpSpPr>
      <p:sp>
        <p:nvSpPr>
          <p:cNvPr id="62" name="Google Shape;62;p7"/>
          <p:cNvSpPr/>
          <p:nvPr/>
        </p:nvSpPr>
        <p:spPr>
          <a:xfrm>
            <a:off x="0" y="0"/>
            <a:ext cx="12192000" cy="108154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 name="Google Shape;63;p7"/>
          <p:cNvSpPr/>
          <p:nvPr/>
        </p:nvSpPr>
        <p:spPr>
          <a:xfrm rot="5400000">
            <a:off x="10653252" y="-638635"/>
            <a:ext cx="245808" cy="28316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 name="Google Shape;64;p7"/>
          <p:cNvSpPr txBox="1"/>
          <p:nvPr>
            <p:ph idx="1" type="body"/>
          </p:nvPr>
        </p:nvSpPr>
        <p:spPr>
          <a:xfrm>
            <a:off x="1652613" y="275073"/>
            <a:ext cx="7381111" cy="758461"/>
          </a:xfrm>
          <a:prstGeom prst="rect">
            <a:avLst/>
          </a:prstGeom>
          <a:noFill/>
          <a:ln>
            <a:noFill/>
          </a:ln>
        </p:spPr>
        <p:txBody>
          <a:bodyPr anchorCtr="0" anchor="ctr" bIns="45700" lIns="91425" spcFirstLastPara="1" rIns="91425" wrap="square" tIns="45700">
            <a:noAutofit/>
          </a:bodyPr>
          <a:lstStyle>
            <a:lvl1pPr indent="-228600" lvl="0" marL="457200" marR="0" rtl="0" algn="r">
              <a:lnSpc>
                <a:spcPct val="90000"/>
              </a:lnSpc>
              <a:spcBef>
                <a:spcPts val="1000"/>
              </a:spcBef>
              <a:spcAft>
                <a:spcPts val="0"/>
              </a:spcAft>
              <a:buClr>
                <a:schemeClr val="lt1"/>
              </a:buClr>
              <a:buSzPts val="3600"/>
              <a:buFont typeface="Arial"/>
              <a:buNone/>
              <a:defRPr b="0" i="0" sz="3600" u="none" cap="none" strike="noStrike">
                <a:solidFill>
                  <a:schemeClr val="lt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7"/>
          <p:cNvSpPr/>
          <p:nvPr/>
        </p:nvSpPr>
        <p:spPr>
          <a:xfrm>
            <a:off x="0" y="5852003"/>
            <a:ext cx="12192000" cy="1081548"/>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 name="Google Shape;66;p7"/>
          <p:cNvSpPr/>
          <p:nvPr/>
        </p:nvSpPr>
        <p:spPr>
          <a:xfrm rot="5400000">
            <a:off x="1292940" y="4764193"/>
            <a:ext cx="245808" cy="28316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 name="Google Shape;67;p7"/>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10">
  <p:cSld name="0077_Robinson_Template_SlidesMania_10">
    <p:bg>
      <p:bgPr>
        <a:solidFill>
          <a:srgbClr val="F7F7F7"/>
        </a:solidFill>
      </p:bgPr>
    </p:bg>
    <p:spTree>
      <p:nvGrpSpPr>
        <p:cNvPr id="68" name="Shape 68"/>
        <p:cNvGrpSpPr/>
        <p:nvPr/>
      </p:nvGrpSpPr>
      <p:grpSpPr>
        <a:xfrm>
          <a:off x="0" y="0"/>
          <a:ext cx="0" cy="0"/>
          <a:chOff x="0" y="0"/>
          <a:chExt cx="0" cy="0"/>
        </a:xfrm>
      </p:grpSpPr>
      <p:sp>
        <p:nvSpPr>
          <p:cNvPr id="69" name="Google Shape;69;p8"/>
          <p:cNvSpPr/>
          <p:nvPr/>
        </p:nvSpPr>
        <p:spPr>
          <a:xfrm>
            <a:off x="11616811" y="1342101"/>
            <a:ext cx="245807" cy="551589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 name="Google Shape;70;p8"/>
          <p:cNvSpPr/>
          <p:nvPr/>
        </p:nvSpPr>
        <p:spPr>
          <a:xfrm>
            <a:off x="0" y="501673"/>
            <a:ext cx="9733935" cy="24580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 name="Google Shape;71;p8"/>
          <p:cNvSpPr/>
          <p:nvPr/>
        </p:nvSpPr>
        <p:spPr>
          <a:xfrm>
            <a:off x="1" y="3242439"/>
            <a:ext cx="9979742" cy="3113888"/>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 name="Google Shape;72;p8"/>
          <p:cNvSpPr txBox="1"/>
          <p:nvPr>
            <p:ph idx="1" type="body"/>
          </p:nvPr>
        </p:nvSpPr>
        <p:spPr>
          <a:xfrm>
            <a:off x="5026667" y="1342101"/>
            <a:ext cx="6011513" cy="758461"/>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4000"/>
              <a:buFont typeface="Arial"/>
              <a:buNone/>
              <a:defRPr b="0" i="0" sz="40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3" name="Google Shape;73;p8"/>
          <p:cNvSpPr txBox="1"/>
          <p:nvPr>
            <p:ph idx="2" type="body"/>
          </p:nvPr>
        </p:nvSpPr>
        <p:spPr>
          <a:xfrm>
            <a:off x="234782" y="3543001"/>
            <a:ext cx="4516255" cy="24288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 name="Google Shape;74;p8"/>
          <p:cNvSpPr txBox="1"/>
          <p:nvPr>
            <p:ph idx="3" type="body"/>
          </p:nvPr>
        </p:nvSpPr>
        <p:spPr>
          <a:xfrm>
            <a:off x="5106080" y="3543000"/>
            <a:ext cx="4516255" cy="24288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 name="Google Shape;75;p8"/>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17">
  <p:cSld name="0077_Robinson_Template_SlidesMania_17">
    <p:bg>
      <p:bgPr>
        <a:solidFill>
          <a:srgbClr val="F7F7F7"/>
        </a:solidFill>
      </p:bgPr>
    </p:bg>
    <p:spTree>
      <p:nvGrpSpPr>
        <p:cNvPr id="76" name="Shape 76"/>
        <p:cNvGrpSpPr/>
        <p:nvPr/>
      </p:nvGrpSpPr>
      <p:grpSpPr>
        <a:xfrm>
          <a:off x="0" y="0"/>
          <a:ext cx="0" cy="0"/>
          <a:chOff x="0" y="0"/>
          <a:chExt cx="0" cy="0"/>
        </a:xfrm>
      </p:grpSpPr>
      <p:sp>
        <p:nvSpPr>
          <p:cNvPr id="77" name="Google Shape;77;p9"/>
          <p:cNvSpPr/>
          <p:nvPr/>
        </p:nvSpPr>
        <p:spPr>
          <a:xfrm>
            <a:off x="0" y="0"/>
            <a:ext cx="12192000" cy="1499192"/>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 name="Google Shape;78;p9"/>
          <p:cNvSpPr/>
          <p:nvPr/>
        </p:nvSpPr>
        <p:spPr>
          <a:xfrm>
            <a:off x="0" y="5358808"/>
            <a:ext cx="12192000" cy="1499192"/>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 name="Google Shape;79;p9"/>
          <p:cNvSpPr/>
          <p:nvPr/>
        </p:nvSpPr>
        <p:spPr>
          <a:xfrm>
            <a:off x="412955" y="341670"/>
            <a:ext cx="7157883" cy="6174660"/>
          </a:xfrm>
          <a:prstGeom prst="frame">
            <a:avLst>
              <a:gd fmla="val 4286" name="adj1"/>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9"/>
          <p:cNvSpPr/>
          <p:nvPr/>
        </p:nvSpPr>
        <p:spPr>
          <a:xfrm>
            <a:off x="8013289" y="0"/>
            <a:ext cx="4183626" cy="68580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9"/>
          <p:cNvSpPr txBox="1"/>
          <p:nvPr>
            <p:ph idx="1" type="body"/>
          </p:nvPr>
        </p:nvSpPr>
        <p:spPr>
          <a:xfrm>
            <a:off x="7983793" y="1887794"/>
            <a:ext cx="3795252" cy="3736258"/>
          </a:xfrm>
          <a:prstGeom prst="rect">
            <a:avLst/>
          </a:prstGeom>
          <a:noFill/>
          <a:ln>
            <a:noFill/>
          </a:ln>
        </p:spPr>
        <p:txBody>
          <a:bodyPr anchorCtr="0" anchor="ctr"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 name="Google Shape;82;p9"/>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11">
  <p:cSld name="0077_Robinson_Template_SlidesMania_11">
    <p:bg>
      <p:bgPr>
        <a:solidFill>
          <a:srgbClr val="F7F7F7"/>
        </a:solidFill>
      </p:bgPr>
    </p:bg>
    <p:spTree>
      <p:nvGrpSpPr>
        <p:cNvPr id="83" name="Shape 83"/>
        <p:cNvGrpSpPr/>
        <p:nvPr/>
      </p:nvGrpSpPr>
      <p:grpSpPr>
        <a:xfrm>
          <a:off x="0" y="0"/>
          <a:ext cx="0" cy="0"/>
          <a:chOff x="0" y="0"/>
          <a:chExt cx="0" cy="0"/>
        </a:xfrm>
      </p:grpSpPr>
      <p:sp>
        <p:nvSpPr>
          <p:cNvPr id="84" name="Google Shape;84;p10"/>
          <p:cNvSpPr/>
          <p:nvPr/>
        </p:nvSpPr>
        <p:spPr>
          <a:xfrm>
            <a:off x="11616811" y="1342101"/>
            <a:ext cx="245807" cy="551589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 name="Google Shape;85;p10"/>
          <p:cNvSpPr/>
          <p:nvPr/>
        </p:nvSpPr>
        <p:spPr>
          <a:xfrm>
            <a:off x="0" y="501673"/>
            <a:ext cx="9733935" cy="24580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10"/>
          <p:cNvSpPr/>
          <p:nvPr/>
        </p:nvSpPr>
        <p:spPr>
          <a:xfrm>
            <a:off x="1" y="3242439"/>
            <a:ext cx="11238270" cy="3113888"/>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10"/>
          <p:cNvSpPr txBox="1"/>
          <p:nvPr>
            <p:ph idx="1" type="body"/>
          </p:nvPr>
        </p:nvSpPr>
        <p:spPr>
          <a:xfrm>
            <a:off x="5026667" y="1342101"/>
            <a:ext cx="6011513" cy="758461"/>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4000"/>
              <a:buFont typeface="Arial"/>
              <a:buNone/>
              <a:defRPr b="0" i="0" sz="40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 name="Google Shape;88;p10"/>
          <p:cNvSpPr txBox="1"/>
          <p:nvPr>
            <p:ph idx="2" type="body"/>
          </p:nvPr>
        </p:nvSpPr>
        <p:spPr>
          <a:xfrm>
            <a:off x="440304" y="3429002"/>
            <a:ext cx="3160836" cy="27044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 name="Google Shape;89;p10"/>
          <p:cNvSpPr txBox="1"/>
          <p:nvPr>
            <p:ph idx="3" type="body"/>
          </p:nvPr>
        </p:nvSpPr>
        <p:spPr>
          <a:xfrm>
            <a:off x="4039719" y="3429001"/>
            <a:ext cx="3160836" cy="27044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0" name="Google Shape;90;p10"/>
          <p:cNvSpPr txBox="1"/>
          <p:nvPr>
            <p:ph idx="4" type="body"/>
          </p:nvPr>
        </p:nvSpPr>
        <p:spPr>
          <a:xfrm>
            <a:off x="7639134" y="3429000"/>
            <a:ext cx="3160836" cy="27044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1" name="Google Shape;91;p10"/>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13">
  <p:cSld name="0077_Robinson_Template_SlidesMania_13">
    <p:bg>
      <p:bgPr>
        <a:solidFill>
          <a:srgbClr val="F7F7F7"/>
        </a:solidFill>
      </p:bgPr>
    </p:bg>
    <p:spTree>
      <p:nvGrpSpPr>
        <p:cNvPr id="92" name="Shape 92"/>
        <p:cNvGrpSpPr/>
        <p:nvPr/>
      </p:nvGrpSpPr>
      <p:grpSpPr>
        <a:xfrm>
          <a:off x="0" y="0"/>
          <a:ext cx="0" cy="0"/>
          <a:chOff x="0" y="0"/>
          <a:chExt cx="0" cy="0"/>
        </a:xfrm>
      </p:grpSpPr>
      <p:grpSp>
        <p:nvGrpSpPr>
          <p:cNvPr id="93" name="Google Shape;93;p11"/>
          <p:cNvGrpSpPr/>
          <p:nvPr/>
        </p:nvGrpSpPr>
        <p:grpSpPr>
          <a:xfrm>
            <a:off x="301937" y="255865"/>
            <a:ext cx="11607790" cy="6346270"/>
            <a:chOff x="301937" y="255865"/>
            <a:chExt cx="11607790" cy="6346270"/>
          </a:xfrm>
        </p:grpSpPr>
        <p:sp>
          <p:nvSpPr>
            <p:cNvPr id="94" name="Google Shape;94;p11"/>
            <p:cNvSpPr/>
            <p:nvPr/>
          </p:nvSpPr>
          <p:spPr>
            <a:xfrm>
              <a:off x="11621727" y="255865"/>
              <a:ext cx="288000" cy="622336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 name="Google Shape;95;p11"/>
            <p:cNvSpPr/>
            <p:nvPr/>
          </p:nvSpPr>
          <p:spPr>
            <a:xfrm>
              <a:off x="301937" y="255865"/>
              <a:ext cx="11434913" cy="28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11"/>
            <p:cNvSpPr/>
            <p:nvPr/>
          </p:nvSpPr>
          <p:spPr>
            <a:xfrm>
              <a:off x="308286" y="501673"/>
              <a:ext cx="288000" cy="610046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 name="Google Shape;97;p11"/>
            <p:cNvSpPr/>
            <p:nvPr/>
          </p:nvSpPr>
          <p:spPr>
            <a:xfrm>
              <a:off x="474814" y="6314135"/>
              <a:ext cx="11434913" cy="28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18">
  <p:cSld name="0077_Robinson_Template_SlidesMania_18">
    <p:bg>
      <p:bgPr>
        <a:solidFill>
          <a:srgbClr val="F7F7F7"/>
        </a:solidFill>
      </p:bgPr>
    </p:bg>
    <p:spTree>
      <p:nvGrpSpPr>
        <p:cNvPr id="98" name="Shape 98"/>
        <p:cNvGrpSpPr/>
        <p:nvPr/>
      </p:nvGrpSpPr>
      <p:grpSpPr>
        <a:xfrm>
          <a:off x="0" y="0"/>
          <a:ext cx="0" cy="0"/>
          <a:chOff x="0" y="0"/>
          <a:chExt cx="0" cy="0"/>
        </a:xfrm>
      </p:grpSpPr>
      <p:sp>
        <p:nvSpPr>
          <p:cNvPr id="99" name="Google Shape;99;p12"/>
          <p:cNvSpPr/>
          <p:nvPr/>
        </p:nvSpPr>
        <p:spPr>
          <a:xfrm>
            <a:off x="3559277" y="216308"/>
            <a:ext cx="5073445" cy="4395021"/>
          </a:xfrm>
          <a:prstGeom prst="frame">
            <a:avLst>
              <a:gd fmla="val 4286" name="adj1"/>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0" name="Google Shape;100;p12"/>
          <p:cNvGrpSpPr/>
          <p:nvPr/>
        </p:nvGrpSpPr>
        <p:grpSpPr>
          <a:xfrm>
            <a:off x="666643" y="1954928"/>
            <a:ext cx="4365452" cy="3647393"/>
            <a:chOff x="6679233" y="1947864"/>
            <a:chExt cx="3956390" cy="3325308"/>
          </a:xfrm>
        </p:grpSpPr>
        <p:grpSp>
          <p:nvGrpSpPr>
            <p:cNvPr id="101" name="Google Shape;101;p12"/>
            <p:cNvGrpSpPr/>
            <p:nvPr/>
          </p:nvGrpSpPr>
          <p:grpSpPr>
            <a:xfrm>
              <a:off x="7996353" y="4725653"/>
              <a:ext cx="1329018" cy="547519"/>
              <a:chOff x="7059880" y="5060917"/>
              <a:chExt cx="1329018" cy="547519"/>
            </a:xfrm>
          </p:grpSpPr>
          <p:sp>
            <p:nvSpPr>
              <p:cNvPr id="102" name="Google Shape;102;p12"/>
              <p:cNvSpPr/>
              <p:nvPr/>
            </p:nvSpPr>
            <p:spPr>
              <a:xfrm rot="10800000">
                <a:off x="7059880" y="5578387"/>
                <a:ext cx="1322149" cy="30049"/>
              </a:xfrm>
              <a:prstGeom prst="trapezoid">
                <a:avLst>
                  <a:gd fmla="val 142327" name="adj"/>
                </a:avLst>
              </a:prstGeom>
              <a:solidFill>
                <a:srgbClr val="707887"/>
              </a:solidFill>
              <a:ln>
                <a:noFill/>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 name="Google Shape;103;p12"/>
              <p:cNvSpPr/>
              <p:nvPr/>
            </p:nvSpPr>
            <p:spPr>
              <a:xfrm>
                <a:off x="7187465" y="5060917"/>
                <a:ext cx="1066979" cy="428532"/>
              </a:xfrm>
              <a:prstGeom prst="trapezoid">
                <a:avLst>
                  <a:gd fmla="val 15083" name="adj"/>
                </a:avLst>
              </a:prstGeom>
              <a:solidFill>
                <a:srgbClr val="D8D8D8"/>
              </a:solidFill>
              <a:ln>
                <a:noFill/>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12"/>
              <p:cNvSpPr/>
              <p:nvPr/>
            </p:nvSpPr>
            <p:spPr>
              <a:xfrm>
                <a:off x="7066749" y="5488243"/>
                <a:ext cx="1322149" cy="93458"/>
              </a:xfrm>
              <a:prstGeom prst="trapezoid">
                <a:avLst>
                  <a:gd fmla="val 142327" name="adj"/>
                </a:avLst>
              </a:prstGeom>
              <a:solidFill>
                <a:schemeClr val="lt1"/>
              </a:solidFill>
              <a:ln>
                <a:noFill/>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05" name="Google Shape;105;p12"/>
            <p:cNvGrpSpPr/>
            <p:nvPr/>
          </p:nvGrpSpPr>
          <p:grpSpPr>
            <a:xfrm>
              <a:off x="6679233" y="1947864"/>
              <a:ext cx="3956390" cy="2777789"/>
              <a:chOff x="5742760" y="2283128"/>
              <a:chExt cx="3956390" cy="2777789"/>
            </a:xfrm>
          </p:grpSpPr>
          <p:sp>
            <p:nvSpPr>
              <p:cNvPr id="106" name="Google Shape;106;p12"/>
              <p:cNvSpPr/>
              <p:nvPr/>
            </p:nvSpPr>
            <p:spPr>
              <a:xfrm>
                <a:off x="5742760" y="2283128"/>
                <a:ext cx="3956390" cy="2777789"/>
              </a:xfrm>
              <a:prstGeom prst="roundRect">
                <a:avLst>
                  <a:gd fmla="val 3377" name="adj"/>
                </a:avLst>
              </a:prstGeom>
              <a:solidFill>
                <a:srgbClr val="393536"/>
              </a:solidFill>
              <a:ln cap="flat" cmpd="sng" w="12700">
                <a:solidFill>
                  <a:srgbClr val="393536"/>
                </a:solidFill>
                <a:prstDash val="solid"/>
                <a:miter lim="800000"/>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 name="Google Shape;107;p12"/>
              <p:cNvSpPr/>
              <p:nvPr/>
            </p:nvSpPr>
            <p:spPr>
              <a:xfrm rot="10800000">
                <a:off x="5742760" y="4752496"/>
                <a:ext cx="3956390" cy="308419"/>
              </a:xfrm>
              <a:prstGeom prst="round2SameRect">
                <a:avLst>
                  <a:gd fmla="val 19571" name="adj1"/>
                  <a:gd fmla="val 0" name="adj2"/>
                </a:avLst>
              </a:prstGeom>
              <a:solidFill>
                <a:schemeClr val="lt1"/>
              </a:solidFill>
              <a:ln cap="flat" cmpd="sng" w="12700">
                <a:solidFill>
                  <a:srgbClr val="C6CFD6"/>
                </a:solidFill>
                <a:prstDash val="solid"/>
                <a:miter lim="800000"/>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108" name="Google Shape;108;p12"/>
          <p:cNvSpPr txBox="1"/>
          <p:nvPr>
            <p:ph idx="1" type="body"/>
          </p:nvPr>
        </p:nvSpPr>
        <p:spPr>
          <a:xfrm>
            <a:off x="5626965" y="1196467"/>
            <a:ext cx="6011513" cy="758461"/>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4000"/>
              <a:buFont typeface="Arial"/>
              <a:buNone/>
              <a:defRPr b="0" i="0" sz="40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9" name="Google Shape;109;p12"/>
          <p:cNvSpPr txBox="1"/>
          <p:nvPr>
            <p:ph idx="2" type="body"/>
          </p:nvPr>
        </p:nvSpPr>
        <p:spPr>
          <a:xfrm>
            <a:off x="6096000" y="2852420"/>
            <a:ext cx="5600127" cy="2749901"/>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0" name="Google Shape;110;p12"/>
          <p:cNvSpPr/>
          <p:nvPr/>
        </p:nvSpPr>
        <p:spPr>
          <a:xfrm>
            <a:off x="0" y="5852003"/>
            <a:ext cx="12192000" cy="108154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 name="Google Shape;111;p12"/>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22">
  <p:cSld name="0077_Robinson_Template_SlidesMania_22">
    <p:bg>
      <p:bgPr>
        <a:solidFill>
          <a:srgbClr val="F7F7F7"/>
        </a:solidFill>
      </p:bgPr>
    </p:bg>
    <p:spTree>
      <p:nvGrpSpPr>
        <p:cNvPr id="112" name="Shape 112"/>
        <p:cNvGrpSpPr/>
        <p:nvPr/>
      </p:nvGrpSpPr>
      <p:grpSpPr>
        <a:xfrm>
          <a:off x="0" y="0"/>
          <a:ext cx="0" cy="0"/>
          <a:chOff x="0" y="0"/>
          <a:chExt cx="0" cy="0"/>
        </a:xfrm>
      </p:grpSpPr>
      <p:sp>
        <p:nvSpPr>
          <p:cNvPr id="113" name="Google Shape;113;p13"/>
          <p:cNvSpPr/>
          <p:nvPr/>
        </p:nvSpPr>
        <p:spPr>
          <a:xfrm>
            <a:off x="3559277" y="216308"/>
            <a:ext cx="5073445" cy="4395021"/>
          </a:xfrm>
          <a:prstGeom prst="frame">
            <a:avLst>
              <a:gd fmla="val 4286" name="adj1"/>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13"/>
          <p:cNvSpPr txBox="1"/>
          <p:nvPr>
            <p:ph idx="1" type="body"/>
          </p:nvPr>
        </p:nvSpPr>
        <p:spPr>
          <a:xfrm>
            <a:off x="465012" y="1127643"/>
            <a:ext cx="6011513" cy="7584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4000"/>
              <a:buFont typeface="Arial"/>
              <a:buNone/>
              <a:defRPr b="0" i="0" sz="40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5" name="Google Shape;115;p13"/>
          <p:cNvSpPr txBox="1"/>
          <p:nvPr>
            <p:ph idx="2" type="body"/>
          </p:nvPr>
        </p:nvSpPr>
        <p:spPr>
          <a:xfrm>
            <a:off x="465012" y="2772763"/>
            <a:ext cx="5600127" cy="274990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13"/>
          <p:cNvSpPr/>
          <p:nvPr/>
        </p:nvSpPr>
        <p:spPr>
          <a:xfrm>
            <a:off x="0" y="5852003"/>
            <a:ext cx="12192000" cy="108154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13"/>
          <p:cNvSpPr/>
          <p:nvPr/>
        </p:nvSpPr>
        <p:spPr>
          <a:xfrm>
            <a:off x="8089502" y="909241"/>
            <a:ext cx="2387971" cy="4396598"/>
          </a:xfrm>
          <a:prstGeom prst="roundRect">
            <a:avLst>
              <a:gd fmla="val 4487" name="adj"/>
            </a:avLst>
          </a:prstGeom>
          <a:solidFill>
            <a:srgbClr val="262626"/>
          </a:solidFill>
          <a:ln cap="flat" cmpd="sng" w="3810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 name="Google Shape;118;p13"/>
          <p:cNvSpPr/>
          <p:nvPr/>
        </p:nvSpPr>
        <p:spPr>
          <a:xfrm>
            <a:off x="9193486" y="4998317"/>
            <a:ext cx="180000" cy="180000"/>
          </a:xfrm>
          <a:prstGeom prst="ellipse">
            <a:avLst/>
          </a:prstGeom>
          <a:solidFill>
            <a:srgbClr val="262626"/>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13"/>
          <p:cNvSpPr/>
          <p:nvPr/>
        </p:nvSpPr>
        <p:spPr>
          <a:xfrm>
            <a:off x="10173822" y="992474"/>
            <a:ext cx="82270" cy="82800"/>
          </a:xfrm>
          <a:prstGeom prst="ellipse">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21">
  <p:cSld name="0077_Robinson_Template_SlidesMania_21">
    <p:bg>
      <p:bgPr>
        <a:solidFill>
          <a:srgbClr val="F7F7F7"/>
        </a:solidFill>
      </p:bgPr>
    </p:bg>
    <p:spTree>
      <p:nvGrpSpPr>
        <p:cNvPr id="120" name="Shape 120"/>
        <p:cNvGrpSpPr/>
        <p:nvPr/>
      </p:nvGrpSpPr>
      <p:grpSpPr>
        <a:xfrm>
          <a:off x="0" y="0"/>
          <a:ext cx="0" cy="0"/>
          <a:chOff x="0" y="0"/>
          <a:chExt cx="0" cy="0"/>
        </a:xfrm>
      </p:grpSpPr>
      <p:sp>
        <p:nvSpPr>
          <p:cNvPr id="121" name="Google Shape;121;p14"/>
          <p:cNvSpPr/>
          <p:nvPr/>
        </p:nvSpPr>
        <p:spPr>
          <a:xfrm>
            <a:off x="3559277" y="216308"/>
            <a:ext cx="5073445" cy="4395021"/>
          </a:xfrm>
          <a:prstGeom prst="frame">
            <a:avLst>
              <a:gd fmla="val 4286" name="adj1"/>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14"/>
          <p:cNvSpPr txBox="1"/>
          <p:nvPr>
            <p:ph idx="1" type="body"/>
          </p:nvPr>
        </p:nvSpPr>
        <p:spPr>
          <a:xfrm>
            <a:off x="5626965" y="1196467"/>
            <a:ext cx="6011513" cy="758461"/>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4000"/>
              <a:buFont typeface="Arial"/>
              <a:buNone/>
              <a:defRPr b="0" i="0" sz="40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3" name="Google Shape;123;p14"/>
          <p:cNvSpPr txBox="1"/>
          <p:nvPr>
            <p:ph idx="2" type="body"/>
          </p:nvPr>
        </p:nvSpPr>
        <p:spPr>
          <a:xfrm>
            <a:off x="6096000" y="2852420"/>
            <a:ext cx="5600127" cy="2749901"/>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14"/>
          <p:cNvSpPr/>
          <p:nvPr/>
        </p:nvSpPr>
        <p:spPr>
          <a:xfrm>
            <a:off x="0" y="5852003"/>
            <a:ext cx="12192000" cy="108154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 name="Google Shape;125;p14"/>
          <p:cNvSpPr/>
          <p:nvPr/>
        </p:nvSpPr>
        <p:spPr>
          <a:xfrm>
            <a:off x="1406556" y="1042750"/>
            <a:ext cx="3186565" cy="4559571"/>
          </a:xfrm>
          <a:prstGeom prst="roundRect">
            <a:avLst>
              <a:gd fmla="val 4487" name="adj"/>
            </a:avLst>
          </a:prstGeom>
          <a:solidFill>
            <a:srgbClr val="262626"/>
          </a:solidFill>
          <a:ln cap="flat" cmpd="sng" w="381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14"/>
          <p:cNvSpPr/>
          <p:nvPr/>
        </p:nvSpPr>
        <p:spPr>
          <a:xfrm>
            <a:off x="2877549" y="5282927"/>
            <a:ext cx="216000" cy="216000"/>
          </a:xfrm>
          <a:prstGeom prst="ellipse">
            <a:avLst/>
          </a:prstGeom>
          <a:solidFill>
            <a:srgbClr val="262626"/>
          </a:solid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 name="Google Shape;127;p14"/>
          <p:cNvSpPr/>
          <p:nvPr/>
        </p:nvSpPr>
        <p:spPr>
          <a:xfrm>
            <a:off x="4207381" y="1169751"/>
            <a:ext cx="108000" cy="108000"/>
          </a:xfrm>
          <a:prstGeom prst="ellipse">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20">
  <p:cSld name="0077_Robinson_Template_SlidesMania_20">
    <p:bg>
      <p:bgPr>
        <a:solidFill>
          <a:srgbClr val="F7F7F7"/>
        </a:solidFill>
      </p:bgPr>
    </p:bg>
    <p:spTree>
      <p:nvGrpSpPr>
        <p:cNvPr id="128" name="Shape 128"/>
        <p:cNvGrpSpPr/>
        <p:nvPr/>
      </p:nvGrpSpPr>
      <p:grpSpPr>
        <a:xfrm>
          <a:off x="0" y="0"/>
          <a:ext cx="0" cy="0"/>
          <a:chOff x="0" y="0"/>
          <a:chExt cx="0" cy="0"/>
        </a:xfrm>
      </p:grpSpPr>
      <p:sp>
        <p:nvSpPr>
          <p:cNvPr id="129" name="Google Shape;129;p15"/>
          <p:cNvSpPr/>
          <p:nvPr/>
        </p:nvSpPr>
        <p:spPr>
          <a:xfrm>
            <a:off x="3559277" y="216308"/>
            <a:ext cx="5073445" cy="4395021"/>
          </a:xfrm>
          <a:prstGeom prst="frame">
            <a:avLst>
              <a:gd fmla="val 4286" name="adj1"/>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15"/>
          <p:cNvSpPr txBox="1"/>
          <p:nvPr>
            <p:ph idx="1" type="body"/>
          </p:nvPr>
        </p:nvSpPr>
        <p:spPr>
          <a:xfrm>
            <a:off x="465012" y="1127643"/>
            <a:ext cx="6011513" cy="7584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4000"/>
              <a:buFont typeface="Arial"/>
              <a:buNone/>
              <a:defRPr b="0" i="0" sz="40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1" name="Google Shape;131;p15"/>
          <p:cNvSpPr txBox="1"/>
          <p:nvPr>
            <p:ph idx="2" type="body"/>
          </p:nvPr>
        </p:nvSpPr>
        <p:spPr>
          <a:xfrm>
            <a:off x="465012" y="2772763"/>
            <a:ext cx="5600127" cy="274990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2" name="Google Shape;132;p15"/>
          <p:cNvSpPr/>
          <p:nvPr/>
        </p:nvSpPr>
        <p:spPr>
          <a:xfrm>
            <a:off x="0" y="5852003"/>
            <a:ext cx="12192000" cy="108154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15"/>
          <p:cNvSpPr/>
          <p:nvPr/>
        </p:nvSpPr>
        <p:spPr>
          <a:xfrm>
            <a:off x="6929601" y="2094674"/>
            <a:ext cx="4319820" cy="2813336"/>
          </a:xfrm>
          <a:prstGeom prst="roundRect">
            <a:avLst>
              <a:gd fmla="val 4487" name="adj"/>
            </a:avLst>
          </a:prstGeom>
          <a:solidFill>
            <a:srgbClr val="262626"/>
          </a:solidFill>
          <a:ln cap="flat" cmpd="sng" w="381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4" name="Google Shape;134;p15"/>
          <p:cNvGrpSpPr/>
          <p:nvPr/>
        </p:nvGrpSpPr>
        <p:grpSpPr>
          <a:xfrm>
            <a:off x="6279453" y="4846521"/>
            <a:ext cx="5622615" cy="94147"/>
            <a:chOff x="1059475" y="5015277"/>
            <a:chExt cx="5622615" cy="188294"/>
          </a:xfrm>
        </p:grpSpPr>
        <p:sp>
          <p:nvSpPr>
            <p:cNvPr id="135" name="Google Shape;135;p15"/>
            <p:cNvSpPr/>
            <p:nvPr/>
          </p:nvSpPr>
          <p:spPr>
            <a:xfrm>
              <a:off x="1059475" y="5015277"/>
              <a:ext cx="5622615" cy="188294"/>
            </a:xfrm>
            <a:prstGeom prst="roundRect">
              <a:avLst>
                <a:gd fmla="val 35520" name="adj"/>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15"/>
            <p:cNvSpPr/>
            <p:nvPr/>
          </p:nvSpPr>
          <p:spPr>
            <a:xfrm>
              <a:off x="3354359" y="5020473"/>
              <a:ext cx="1030351" cy="131148"/>
            </a:xfrm>
            <a:custGeom>
              <a:rect b="b" l="l" r="r" t="t"/>
              <a:pathLst>
                <a:path extrusionOk="0" h="131148" w="1030351">
                  <a:moveTo>
                    <a:pt x="0" y="0"/>
                  </a:moveTo>
                  <a:lnTo>
                    <a:pt x="1030351" y="0"/>
                  </a:lnTo>
                  <a:lnTo>
                    <a:pt x="995408" y="51827"/>
                  </a:lnTo>
                  <a:cubicBezTo>
                    <a:pt x="946399" y="100836"/>
                    <a:pt x="878694" y="131148"/>
                    <a:pt x="803909" y="131148"/>
                  </a:cubicBezTo>
                  <a:lnTo>
                    <a:pt x="226441" y="131148"/>
                  </a:lnTo>
                  <a:cubicBezTo>
                    <a:pt x="151656" y="131148"/>
                    <a:pt x="83951" y="100836"/>
                    <a:pt x="34942" y="51827"/>
                  </a:cubicBezTo>
                  <a:close/>
                </a:path>
              </a:pathLst>
            </a:cu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7" name="Google Shape;137;p15"/>
          <p:cNvSpPr/>
          <p:nvPr/>
        </p:nvSpPr>
        <p:spPr>
          <a:xfrm>
            <a:off x="9006625" y="2180161"/>
            <a:ext cx="108000" cy="108000"/>
          </a:xfrm>
          <a:prstGeom prst="ellipse">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15">
  <p:cSld name="0077_Robinson_Template_SlidesMania_15">
    <p:bg>
      <p:bgPr>
        <a:solidFill>
          <a:srgbClr val="F7F7F7"/>
        </a:solidFill>
      </p:bgPr>
    </p:bg>
    <p:spTree>
      <p:nvGrpSpPr>
        <p:cNvPr id="138" name="Shape 138"/>
        <p:cNvGrpSpPr/>
        <p:nvPr/>
      </p:nvGrpSpPr>
      <p:grpSpPr>
        <a:xfrm>
          <a:off x="0" y="0"/>
          <a:ext cx="0" cy="0"/>
          <a:chOff x="0" y="0"/>
          <a:chExt cx="0" cy="0"/>
        </a:xfrm>
      </p:grpSpPr>
      <p:sp>
        <p:nvSpPr>
          <p:cNvPr id="139" name="Google Shape;139;p16"/>
          <p:cNvSpPr/>
          <p:nvPr/>
        </p:nvSpPr>
        <p:spPr>
          <a:xfrm>
            <a:off x="4886746" y="1766048"/>
            <a:ext cx="5073445" cy="4395021"/>
          </a:xfrm>
          <a:prstGeom prst="frame">
            <a:avLst>
              <a:gd fmla="val 4286" name="adj1"/>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16"/>
          <p:cNvSpPr txBox="1"/>
          <p:nvPr>
            <p:ph idx="1" type="body"/>
          </p:nvPr>
        </p:nvSpPr>
        <p:spPr>
          <a:xfrm>
            <a:off x="1707353" y="370557"/>
            <a:ext cx="8777291" cy="758461"/>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3600"/>
              <a:buFont typeface="Arial"/>
              <a:buNone/>
              <a:defRPr b="0" i="0" sz="36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1" name="Google Shape;141;p16"/>
          <p:cNvSpPr/>
          <p:nvPr/>
        </p:nvSpPr>
        <p:spPr>
          <a:xfrm>
            <a:off x="0" y="0"/>
            <a:ext cx="12191999" cy="6858000"/>
          </a:xfrm>
          <a:prstGeom prst="frame">
            <a:avLst>
              <a:gd fmla="val 4286" name="adj1"/>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 name="Google Shape;142;p16"/>
          <p:cNvSpPr txBox="1"/>
          <p:nvPr>
            <p:ph idx="2" type="body"/>
          </p:nvPr>
        </p:nvSpPr>
        <p:spPr>
          <a:xfrm>
            <a:off x="855407" y="2135981"/>
            <a:ext cx="8042787" cy="758461"/>
          </a:xfrm>
          <a:prstGeom prst="rect">
            <a:avLst/>
          </a:prstGeom>
          <a:solidFill>
            <a:srgbClr val="F7F7F7"/>
          </a:solid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262626"/>
              </a:buClr>
              <a:buSzPts val="4400"/>
              <a:buFont typeface="Arial"/>
              <a:buNone/>
              <a:defRPr b="0" i="0" sz="4400" u="none" cap="none" strike="noStrike">
                <a:solidFill>
                  <a:srgbClr val="262626"/>
                </a:solidFill>
                <a:latin typeface="Montserrat Medium"/>
                <a:ea typeface="Montserrat Medium"/>
                <a:cs typeface="Montserrat Medium"/>
                <a:sym typeface="Montserrat Medium"/>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3" name="Google Shape;143;p16"/>
          <p:cNvSpPr txBox="1"/>
          <p:nvPr>
            <p:ph idx="3" type="body"/>
          </p:nvPr>
        </p:nvSpPr>
        <p:spPr>
          <a:xfrm>
            <a:off x="855407" y="3609002"/>
            <a:ext cx="8042787" cy="758461"/>
          </a:xfrm>
          <a:prstGeom prst="rect">
            <a:avLst/>
          </a:prstGeom>
          <a:solidFill>
            <a:srgbClr val="F7F7F7"/>
          </a:solid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262626"/>
              </a:buClr>
              <a:buSzPts val="4400"/>
              <a:buFont typeface="Arial"/>
              <a:buNone/>
              <a:defRPr b="0" i="0" sz="4400" u="none" cap="none" strike="noStrike">
                <a:solidFill>
                  <a:srgbClr val="262626"/>
                </a:solidFill>
                <a:latin typeface="Montserrat Medium"/>
                <a:ea typeface="Montserrat Medium"/>
                <a:cs typeface="Montserrat Medium"/>
                <a:sym typeface="Montserrat Medium"/>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4" name="Google Shape;144;p16"/>
          <p:cNvSpPr txBox="1"/>
          <p:nvPr>
            <p:ph idx="4" type="body"/>
          </p:nvPr>
        </p:nvSpPr>
        <p:spPr>
          <a:xfrm>
            <a:off x="865353" y="5092575"/>
            <a:ext cx="8042787" cy="758461"/>
          </a:xfrm>
          <a:prstGeom prst="rect">
            <a:avLst/>
          </a:prstGeom>
          <a:solidFill>
            <a:srgbClr val="F7F7F7"/>
          </a:solid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262626"/>
              </a:buClr>
              <a:buSzPts val="4400"/>
              <a:buFont typeface="Arial"/>
              <a:buNone/>
              <a:defRPr b="0" i="0" sz="4400" u="none" cap="none" strike="noStrike">
                <a:solidFill>
                  <a:srgbClr val="262626"/>
                </a:solidFill>
                <a:latin typeface="Montserrat Medium"/>
                <a:ea typeface="Montserrat Medium"/>
                <a:cs typeface="Montserrat Medium"/>
                <a:sym typeface="Montserrat Medium"/>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5" name="Google Shape;145;p16"/>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14">
  <p:cSld name="0077_Robinson_Template_SlidesMania_14">
    <p:bg>
      <p:bgPr>
        <a:solidFill>
          <a:srgbClr val="F7F7F7"/>
        </a:solidFill>
      </p:bgPr>
    </p:bg>
    <p:spTree>
      <p:nvGrpSpPr>
        <p:cNvPr id="146" name="Shape 146"/>
        <p:cNvGrpSpPr/>
        <p:nvPr/>
      </p:nvGrpSpPr>
      <p:grpSpPr>
        <a:xfrm>
          <a:off x="0" y="0"/>
          <a:ext cx="0" cy="0"/>
          <a:chOff x="0" y="0"/>
          <a:chExt cx="0" cy="0"/>
        </a:xfrm>
      </p:grpSpPr>
      <p:grpSp>
        <p:nvGrpSpPr>
          <p:cNvPr id="147" name="Google Shape;147;p17"/>
          <p:cNvGrpSpPr/>
          <p:nvPr/>
        </p:nvGrpSpPr>
        <p:grpSpPr>
          <a:xfrm>
            <a:off x="301937" y="255865"/>
            <a:ext cx="11607790" cy="6346270"/>
            <a:chOff x="301937" y="255865"/>
            <a:chExt cx="11607790" cy="6346270"/>
          </a:xfrm>
        </p:grpSpPr>
        <p:sp>
          <p:nvSpPr>
            <p:cNvPr id="148" name="Google Shape;148;p17"/>
            <p:cNvSpPr/>
            <p:nvPr/>
          </p:nvSpPr>
          <p:spPr>
            <a:xfrm>
              <a:off x="11621727" y="255865"/>
              <a:ext cx="288000" cy="622336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17"/>
            <p:cNvSpPr/>
            <p:nvPr/>
          </p:nvSpPr>
          <p:spPr>
            <a:xfrm>
              <a:off x="301937" y="255865"/>
              <a:ext cx="11434913" cy="28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17"/>
            <p:cNvSpPr/>
            <p:nvPr/>
          </p:nvSpPr>
          <p:spPr>
            <a:xfrm>
              <a:off x="308286" y="501673"/>
              <a:ext cx="288000" cy="610046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17"/>
            <p:cNvSpPr/>
            <p:nvPr/>
          </p:nvSpPr>
          <p:spPr>
            <a:xfrm>
              <a:off x="474814" y="6314135"/>
              <a:ext cx="11434913" cy="28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52" name="Google Shape;152;p17"/>
          <p:cNvSpPr txBox="1"/>
          <p:nvPr>
            <p:ph idx="1" type="body"/>
          </p:nvPr>
        </p:nvSpPr>
        <p:spPr>
          <a:xfrm>
            <a:off x="1720361" y="655693"/>
            <a:ext cx="8777291" cy="758461"/>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4400"/>
              <a:buFont typeface="Arial"/>
              <a:buNone/>
              <a:defRPr b="0" i="0" sz="44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3" name="Google Shape;153;p17"/>
          <p:cNvSpPr/>
          <p:nvPr/>
        </p:nvSpPr>
        <p:spPr>
          <a:xfrm>
            <a:off x="-1" y="2054942"/>
            <a:ext cx="11621727" cy="413628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17"/>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5">
  <p:cSld name="0077_Robinson_Template_SlidesMania_5">
    <p:bg>
      <p:bgPr>
        <a:solidFill>
          <a:srgbClr val="C3C3C3"/>
        </a:solidFill>
      </p:bgPr>
    </p:bg>
    <p:spTree>
      <p:nvGrpSpPr>
        <p:cNvPr id="155" name="Shape 155"/>
        <p:cNvGrpSpPr/>
        <p:nvPr/>
      </p:nvGrpSpPr>
      <p:grpSpPr>
        <a:xfrm>
          <a:off x="0" y="0"/>
          <a:ext cx="0" cy="0"/>
          <a:chOff x="0" y="0"/>
          <a:chExt cx="0" cy="0"/>
        </a:xfrm>
      </p:grpSpPr>
      <p:sp>
        <p:nvSpPr>
          <p:cNvPr id="156" name="Google Shape;156;p18"/>
          <p:cNvSpPr/>
          <p:nvPr/>
        </p:nvSpPr>
        <p:spPr>
          <a:xfrm>
            <a:off x="260553" y="1071715"/>
            <a:ext cx="245807" cy="551589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18"/>
          <p:cNvSpPr/>
          <p:nvPr/>
        </p:nvSpPr>
        <p:spPr>
          <a:xfrm>
            <a:off x="0" y="0"/>
            <a:ext cx="12192000" cy="108154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18"/>
          <p:cNvSpPr/>
          <p:nvPr/>
        </p:nvSpPr>
        <p:spPr>
          <a:xfrm rot="5400000">
            <a:off x="5557683" y="1290484"/>
            <a:ext cx="245807" cy="103484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18"/>
          <p:cNvSpPr/>
          <p:nvPr/>
        </p:nvSpPr>
        <p:spPr>
          <a:xfrm rot="5400000">
            <a:off x="10653252" y="-638635"/>
            <a:ext cx="245808" cy="28316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60" name="Google Shape;160;p18"/>
          <p:cNvCxnSpPr/>
          <p:nvPr/>
        </p:nvCxnSpPr>
        <p:spPr>
          <a:xfrm>
            <a:off x="575845" y="3748819"/>
            <a:ext cx="11537498" cy="27038"/>
          </a:xfrm>
          <a:prstGeom prst="straightConnector1">
            <a:avLst/>
          </a:prstGeom>
          <a:noFill/>
          <a:ln cap="flat" cmpd="sng" w="34925">
            <a:solidFill>
              <a:schemeClr val="accent2"/>
            </a:solidFill>
            <a:prstDash val="solid"/>
            <a:miter lim="800000"/>
            <a:headEnd len="sm" w="sm" type="none"/>
            <a:tailEnd len="sm" w="sm" type="none"/>
          </a:ln>
        </p:spPr>
      </p:cxnSp>
      <p:sp>
        <p:nvSpPr>
          <p:cNvPr id="161" name="Google Shape;161;p18"/>
          <p:cNvSpPr/>
          <p:nvPr/>
        </p:nvSpPr>
        <p:spPr>
          <a:xfrm>
            <a:off x="1362123" y="3568819"/>
            <a:ext cx="360000" cy="360000"/>
          </a:xfrm>
          <a:prstGeom prst="ellipse">
            <a:avLst/>
          </a:prstGeom>
          <a:solidFill>
            <a:schemeClr val="accent2"/>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lt1"/>
              </a:solidFill>
              <a:latin typeface="Montserrat Medium"/>
              <a:ea typeface="Montserrat Medium"/>
              <a:cs typeface="Montserrat Medium"/>
              <a:sym typeface="Montserrat Medium"/>
            </a:endParaRPr>
          </a:p>
        </p:txBody>
      </p:sp>
      <p:sp>
        <p:nvSpPr>
          <p:cNvPr id="162" name="Google Shape;162;p18"/>
          <p:cNvSpPr/>
          <p:nvPr/>
        </p:nvSpPr>
        <p:spPr>
          <a:xfrm>
            <a:off x="3672705" y="3595857"/>
            <a:ext cx="360000" cy="360000"/>
          </a:xfrm>
          <a:prstGeom prst="ellipse">
            <a:avLst/>
          </a:prstGeom>
          <a:solidFill>
            <a:schemeClr val="accent2"/>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lt1"/>
              </a:solidFill>
              <a:latin typeface="Montserrat Medium"/>
              <a:ea typeface="Montserrat Medium"/>
              <a:cs typeface="Montserrat Medium"/>
              <a:sym typeface="Montserrat Medium"/>
            </a:endParaRPr>
          </a:p>
        </p:txBody>
      </p:sp>
      <p:sp>
        <p:nvSpPr>
          <p:cNvPr id="163" name="Google Shape;163;p18"/>
          <p:cNvSpPr/>
          <p:nvPr/>
        </p:nvSpPr>
        <p:spPr>
          <a:xfrm>
            <a:off x="5983287" y="3595857"/>
            <a:ext cx="360000" cy="360000"/>
          </a:xfrm>
          <a:prstGeom prst="ellipse">
            <a:avLst/>
          </a:prstGeom>
          <a:solidFill>
            <a:schemeClr val="accent2"/>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lt1"/>
              </a:solidFill>
              <a:latin typeface="Montserrat Medium"/>
              <a:ea typeface="Montserrat Medium"/>
              <a:cs typeface="Montserrat Medium"/>
              <a:sym typeface="Montserrat Medium"/>
            </a:endParaRPr>
          </a:p>
        </p:txBody>
      </p:sp>
      <p:sp>
        <p:nvSpPr>
          <p:cNvPr id="164" name="Google Shape;164;p18"/>
          <p:cNvSpPr/>
          <p:nvPr/>
        </p:nvSpPr>
        <p:spPr>
          <a:xfrm>
            <a:off x="8293869" y="3595857"/>
            <a:ext cx="360000" cy="360000"/>
          </a:xfrm>
          <a:prstGeom prst="ellipse">
            <a:avLst/>
          </a:prstGeom>
          <a:solidFill>
            <a:schemeClr val="accent2"/>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lt1"/>
              </a:solidFill>
              <a:latin typeface="Montserrat Medium"/>
              <a:ea typeface="Montserrat Medium"/>
              <a:cs typeface="Montserrat Medium"/>
              <a:sym typeface="Montserrat Medium"/>
            </a:endParaRPr>
          </a:p>
        </p:txBody>
      </p:sp>
      <p:sp>
        <p:nvSpPr>
          <p:cNvPr id="165" name="Google Shape;165;p18"/>
          <p:cNvSpPr/>
          <p:nvPr/>
        </p:nvSpPr>
        <p:spPr>
          <a:xfrm>
            <a:off x="10604451" y="3595857"/>
            <a:ext cx="360000" cy="360000"/>
          </a:xfrm>
          <a:prstGeom prst="ellipse">
            <a:avLst/>
          </a:prstGeom>
          <a:solidFill>
            <a:schemeClr val="accent2"/>
          </a:solidFill>
          <a:ln cap="flat" cmpd="sng" w="317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chemeClr val="lt1"/>
              </a:solidFill>
              <a:latin typeface="Montserrat Medium"/>
              <a:ea typeface="Montserrat Medium"/>
              <a:cs typeface="Montserrat Medium"/>
              <a:sym typeface="Montserrat Medium"/>
            </a:endParaRPr>
          </a:p>
        </p:txBody>
      </p:sp>
      <p:sp>
        <p:nvSpPr>
          <p:cNvPr id="166" name="Google Shape;166;p18"/>
          <p:cNvSpPr txBox="1"/>
          <p:nvPr>
            <p:ph idx="1" type="body"/>
          </p:nvPr>
        </p:nvSpPr>
        <p:spPr>
          <a:xfrm>
            <a:off x="654502" y="4193819"/>
            <a:ext cx="1907462" cy="19633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7" name="Google Shape;167;p18"/>
          <p:cNvSpPr txBox="1"/>
          <p:nvPr>
            <p:ph idx="2" type="body"/>
          </p:nvPr>
        </p:nvSpPr>
        <p:spPr>
          <a:xfrm>
            <a:off x="5237213" y="4193819"/>
            <a:ext cx="1907462" cy="19633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8" name="Google Shape;168;p18"/>
          <p:cNvSpPr txBox="1"/>
          <p:nvPr>
            <p:ph idx="3" type="body"/>
          </p:nvPr>
        </p:nvSpPr>
        <p:spPr>
          <a:xfrm>
            <a:off x="9830720" y="4193819"/>
            <a:ext cx="1907462" cy="19633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18"/>
          <p:cNvSpPr/>
          <p:nvPr/>
        </p:nvSpPr>
        <p:spPr>
          <a:xfrm>
            <a:off x="730596" y="2712382"/>
            <a:ext cx="1979003" cy="578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000">
              <a:solidFill>
                <a:srgbClr val="BBCCC1"/>
              </a:solidFill>
              <a:latin typeface="Montserrat Medium"/>
              <a:ea typeface="Montserrat Medium"/>
              <a:cs typeface="Montserrat Medium"/>
              <a:sym typeface="Montserrat Medium"/>
            </a:endParaRPr>
          </a:p>
        </p:txBody>
      </p:sp>
      <p:sp>
        <p:nvSpPr>
          <p:cNvPr id="170" name="Google Shape;170;p18"/>
          <p:cNvSpPr txBox="1"/>
          <p:nvPr>
            <p:ph idx="4" type="body"/>
          </p:nvPr>
        </p:nvSpPr>
        <p:spPr>
          <a:xfrm>
            <a:off x="2892163" y="1363751"/>
            <a:ext cx="1907462" cy="1963355"/>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1" name="Google Shape;171;p18"/>
          <p:cNvSpPr txBox="1"/>
          <p:nvPr>
            <p:ph idx="5" type="body"/>
          </p:nvPr>
        </p:nvSpPr>
        <p:spPr>
          <a:xfrm>
            <a:off x="7513327" y="1266179"/>
            <a:ext cx="1907462" cy="1963355"/>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2" name="Google Shape;172;p18"/>
          <p:cNvSpPr txBox="1"/>
          <p:nvPr>
            <p:ph idx="6" type="body"/>
          </p:nvPr>
        </p:nvSpPr>
        <p:spPr>
          <a:xfrm>
            <a:off x="717743" y="2771732"/>
            <a:ext cx="1979003" cy="45065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F7F7F7"/>
              </a:buClr>
              <a:buSzPts val="2800"/>
              <a:buFont typeface="Arial"/>
              <a:buNone/>
              <a:defRPr b="1" i="0" sz="2800" u="none" cap="none" strike="noStrike">
                <a:solidFill>
                  <a:srgbClr val="F7F7F7"/>
                </a:solidFill>
                <a:latin typeface="Montserrat Medium"/>
                <a:ea typeface="Montserrat Medium"/>
                <a:cs typeface="Montserrat Medium"/>
                <a:sym typeface="Montserrat Medium"/>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3" name="Google Shape;173;p18"/>
          <p:cNvSpPr/>
          <p:nvPr/>
        </p:nvSpPr>
        <p:spPr>
          <a:xfrm>
            <a:off x="5173401" y="2728215"/>
            <a:ext cx="1979003" cy="578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Montserrat Medium"/>
              <a:ea typeface="Montserrat Medium"/>
              <a:cs typeface="Montserrat Medium"/>
              <a:sym typeface="Montserrat Medium"/>
            </a:endParaRPr>
          </a:p>
        </p:txBody>
      </p:sp>
      <p:sp>
        <p:nvSpPr>
          <p:cNvPr id="174" name="Google Shape;174;p18"/>
          <p:cNvSpPr txBox="1"/>
          <p:nvPr>
            <p:ph idx="7" type="body"/>
          </p:nvPr>
        </p:nvSpPr>
        <p:spPr>
          <a:xfrm>
            <a:off x="5160548" y="2787565"/>
            <a:ext cx="1979003" cy="45065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F7F7F7"/>
              </a:buClr>
              <a:buSzPts val="2800"/>
              <a:buFont typeface="Arial"/>
              <a:buNone/>
              <a:defRPr b="1" i="0" sz="2800" u="none" cap="none" strike="noStrike">
                <a:solidFill>
                  <a:srgbClr val="F7F7F7"/>
                </a:solidFill>
                <a:latin typeface="Montserrat Medium"/>
                <a:ea typeface="Montserrat Medium"/>
                <a:cs typeface="Montserrat Medium"/>
                <a:sym typeface="Montserrat Medium"/>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5" name="Google Shape;175;p18"/>
          <p:cNvSpPr/>
          <p:nvPr/>
        </p:nvSpPr>
        <p:spPr>
          <a:xfrm>
            <a:off x="9722950" y="2754717"/>
            <a:ext cx="1979003" cy="578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Montserrat Medium"/>
              <a:ea typeface="Montserrat Medium"/>
              <a:cs typeface="Montserrat Medium"/>
              <a:sym typeface="Montserrat Medium"/>
            </a:endParaRPr>
          </a:p>
        </p:txBody>
      </p:sp>
      <p:sp>
        <p:nvSpPr>
          <p:cNvPr id="176" name="Google Shape;176;p18"/>
          <p:cNvSpPr txBox="1"/>
          <p:nvPr>
            <p:ph idx="8" type="body"/>
          </p:nvPr>
        </p:nvSpPr>
        <p:spPr>
          <a:xfrm>
            <a:off x="9710097" y="2814067"/>
            <a:ext cx="1979003" cy="45065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F7F7F7"/>
              </a:buClr>
              <a:buSzPts val="2800"/>
              <a:buFont typeface="Arial"/>
              <a:buNone/>
              <a:defRPr b="1" i="0" sz="2800" u="none" cap="none" strike="noStrike">
                <a:solidFill>
                  <a:srgbClr val="F7F7F7"/>
                </a:solidFill>
                <a:latin typeface="Montserrat Medium"/>
                <a:ea typeface="Montserrat Medium"/>
                <a:cs typeface="Montserrat Medium"/>
                <a:sym typeface="Montserrat Medium"/>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7" name="Google Shape;177;p18"/>
          <p:cNvSpPr/>
          <p:nvPr/>
        </p:nvSpPr>
        <p:spPr>
          <a:xfrm>
            <a:off x="7504622" y="4183563"/>
            <a:ext cx="1979003" cy="578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Montserrat Medium"/>
              <a:ea typeface="Montserrat Medium"/>
              <a:cs typeface="Montserrat Medium"/>
              <a:sym typeface="Montserrat Medium"/>
            </a:endParaRPr>
          </a:p>
        </p:txBody>
      </p:sp>
      <p:sp>
        <p:nvSpPr>
          <p:cNvPr id="178" name="Google Shape;178;p18"/>
          <p:cNvSpPr txBox="1"/>
          <p:nvPr>
            <p:ph idx="9" type="body"/>
          </p:nvPr>
        </p:nvSpPr>
        <p:spPr>
          <a:xfrm>
            <a:off x="7491769" y="4242913"/>
            <a:ext cx="1979003" cy="45065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F7F7F7"/>
              </a:buClr>
              <a:buSzPts val="2800"/>
              <a:buFont typeface="Arial"/>
              <a:buNone/>
              <a:defRPr b="1" i="0" sz="2800" u="none" cap="none" strike="noStrike">
                <a:solidFill>
                  <a:srgbClr val="F7F7F7"/>
                </a:solidFill>
                <a:latin typeface="Montserrat Medium"/>
                <a:ea typeface="Montserrat Medium"/>
                <a:cs typeface="Montserrat Medium"/>
                <a:sym typeface="Montserrat Medium"/>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9" name="Google Shape;179;p18"/>
          <p:cNvSpPr/>
          <p:nvPr/>
        </p:nvSpPr>
        <p:spPr>
          <a:xfrm>
            <a:off x="2898263" y="4178124"/>
            <a:ext cx="1979003" cy="578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Montserrat Medium"/>
              <a:ea typeface="Montserrat Medium"/>
              <a:cs typeface="Montserrat Medium"/>
              <a:sym typeface="Montserrat Medium"/>
            </a:endParaRPr>
          </a:p>
        </p:txBody>
      </p:sp>
      <p:sp>
        <p:nvSpPr>
          <p:cNvPr id="180" name="Google Shape;180;p18"/>
          <p:cNvSpPr txBox="1"/>
          <p:nvPr>
            <p:ph idx="13" type="body"/>
          </p:nvPr>
        </p:nvSpPr>
        <p:spPr>
          <a:xfrm>
            <a:off x="2885410" y="4237474"/>
            <a:ext cx="1979003" cy="45065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F7F7F7"/>
              </a:buClr>
              <a:buSzPts val="2800"/>
              <a:buFont typeface="Arial"/>
              <a:buNone/>
              <a:defRPr b="1" i="0" sz="2800" u="none" cap="none" strike="noStrike">
                <a:solidFill>
                  <a:srgbClr val="F7F7F7"/>
                </a:solidFill>
                <a:latin typeface="Montserrat Medium"/>
                <a:ea typeface="Montserrat Medium"/>
                <a:cs typeface="Montserrat Medium"/>
                <a:sym typeface="Montserrat Medium"/>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18"/>
          <p:cNvSpPr txBox="1"/>
          <p:nvPr>
            <p:ph idx="14" type="body"/>
          </p:nvPr>
        </p:nvSpPr>
        <p:spPr>
          <a:xfrm>
            <a:off x="1676398" y="161543"/>
            <a:ext cx="7381111" cy="758461"/>
          </a:xfrm>
          <a:prstGeom prst="rect">
            <a:avLst/>
          </a:prstGeom>
          <a:noFill/>
          <a:ln>
            <a:noFill/>
          </a:ln>
        </p:spPr>
        <p:txBody>
          <a:bodyPr anchorCtr="0" anchor="ctr" bIns="45700" lIns="91425" spcFirstLastPara="1" rIns="91425" wrap="square" tIns="45700">
            <a:noAutofit/>
          </a:bodyPr>
          <a:lstStyle>
            <a:lvl1pPr indent="-228600" lvl="0" marL="457200" marR="0" rtl="0" algn="r">
              <a:lnSpc>
                <a:spcPct val="90000"/>
              </a:lnSpc>
              <a:spcBef>
                <a:spcPts val="1000"/>
              </a:spcBef>
              <a:spcAft>
                <a:spcPts val="0"/>
              </a:spcAft>
              <a:buClr>
                <a:schemeClr val="lt1"/>
              </a:buClr>
              <a:buSzPts val="3600"/>
              <a:buFont typeface="Arial"/>
              <a:buNone/>
              <a:defRPr b="0" i="0" sz="3600" u="none" cap="none" strike="noStrike">
                <a:solidFill>
                  <a:schemeClr val="lt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16">
  <p:cSld name="0077_Robinson_Template_SlidesMania_16">
    <p:bg>
      <p:bgPr>
        <a:solidFill>
          <a:srgbClr val="F7F7F7"/>
        </a:solidFill>
      </p:bgPr>
    </p:bg>
    <p:spTree>
      <p:nvGrpSpPr>
        <p:cNvPr id="182" name="Shape 182"/>
        <p:cNvGrpSpPr/>
        <p:nvPr/>
      </p:nvGrpSpPr>
      <p:grpSpPr>
        <a:xfrm>
          <a:off x="0" y="0"/>
          <a:ext cx="0" cy="0"/>
          <a:chOff x="0" y="0"/>
          <a:chExt cx="0" cy="0"/>
        </a:xfrm>
      </p:grpSpPr>
      <p:sp>
        <p:nvSpPr>
          <p:cNvPr id="183" name="Google Shape;183;p19"/>
          <p:cNvSpPr/>
          <p:nvPr/>
        </p:nvSpPr>
        <p:spPr>
          <a:xfrm>
            <a:off x="0" y="0"/>
            <a:ext cx="12191999" cy="6858000"/>
          </a:xfrm>
          <a:prstGeom prst="frame">
            <a:avLst>
              <a:gd fmla="val 4286" name="adj1"/>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19"/>
          <p:cNvSpPr txBox="1"/>
          <p:nvPr>
            <p:ph idx="1" type="body"/>
          </p:nvPr>
        </p:nvSpPr>
        <p:spPr>
          <a:xfrm>
            <a:off x="1601396" y="0"/>
            <a:ext cx="8777291" cy="758461"/>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rgbClr val="F7F7F7"/>
              </a:buClr>
              <a:buSzPts val="4000"/>
              <a:buFont typeface="Arial"/>
              <a:buNone/>
              <a:defRPr b="0" i="0" sz="4000" u="none" cap="none" strike="noStrike">
                <a:solidFill>
                  <a:srgbClr val="F7F7F7"/>
                </a:solidFill>
                <a:highlight>
                  <a:schemeClr val="accent2"/>
                </a:highlight>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5" name="Google Shape;185;p19"/>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9">
  <p:cSld name="0077_Robinson_Template_SlidesMania_9">
    <p:bg>
      <p:bgPr>
        <a:solidFill>
          <a:srgbClr val="F7F7F7"/>
        </a:solidFill>
      </p:bgPr>
    </p:bg>
    <p:spTree>
      <p:nvGrpSpPr>
        <p:cNvPr id="186" name="Shape 186"/>
        <p:cNvGrpSpPr/>
        <p:nvPr/>
      </p:nvGrpSpPr>
      <p:grpSpPr>
        <a:xfrm>
          <a:off x="0" y="0"/>
          <a:ext cx="0" cy="0"/>
          <a:chOff x="0" y="0"/>
          <a:chExt cx="0" cy="0"/>
        </a:xfrm>
      </p:grpSpPr>
      <p:sp>
        <p:nvSpPr>
          <p:cNvPr id="187" name="Google Shape;187;p20"/>
          <p:cNvSpPr/>
          <p:nvPr/>
        </p:nvSpPr>
        <p:spPr>
          <a:xfrm>
            <a:off x="5924595" y="2901182"/>
            <a:ext cx="4215656" cy="3796399"/>
          </a:xfrm>
          <a:prstGeom prst="frame">
            <a:avLst>
              <a:gd fmla="val 4286" name="adj1"/>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20"/>
          <p:cNvSpPr/>
          <p:nvPr/>
        </p:nvSpPr>
        <p:spPr>
          <a:xfrm>
            <a:off x="11616811" y="1342101"/>
            <a:ext cx="245807" cy="551589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 name="Google Shape;189;p20"/>
          <p:cNvSpPr/>
          <p:nvPr/>
        </p:nvSpPr>
        <p:spPr>
          <a:xfrm>
            <a:off x="0" y="501673"/>
            <a:ext cx="9733935" cy="24580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20"/>
          <p:cNvSpPr/>
          <p:nvPr/>
        </p:nvSpPr>
        <p:spPr>
          <a:xfrm>
            <a:off x="0" y="3242439"/>
            <a:ext cx="9733935" cy="3113888"/>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20"/>
          <p:cNvSpPr txBox="1"/>
          <p:nvPr>
            <p:ph idx="1" type="body"/>
          </p:nvPr>
        </p:nvSpPr>
        <p:spPr>
          <a:xfrm>
            <a:off x="5026667" y="1342101"/>
            <a:ext cx="6011513" cy="758461"/>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4000"/>
              <a:buFont typeface="Arial"/>
              <a:buNone/>
              <a:defRPr b="0" i="0" sz="4000" u="none" cap="none" strike="noStrike">
                <a:solidFill>
                  <a:schemeClr val="dk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2" name="Google Shape;192;p20"/>
          <p:cNvSpPr txBox="1"/>
          <p:nvPr>
            <p:ph idx="2" type="body"/>
          </p:nvPr>
        </p:nvSpPr>
        <p:spPr>
          <a:xfrm>
            <a:off x="329382" y="3584945"/>
            <a:ext cx="8755624" cy="2428875"/>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3" name="Google Shape;193;p20"/>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3">
  <p:cSld name="0077_Robinson_Template_SlidesMania_3">
    <p:bg>
      <p:bgPr>
        <a:solidFill>
          <a:schemeClr val="accent3"/>
        </a:solidFill>
      </p:bgPr>
    </p:bg>
    <p:spTree>
      <p:nvGrpSpPr>
        <p:cNvPr id="194" name="Shape 194"/>
        <p:cNvGrpSpPr/>
        <p:nvPr/>
      </p:nvGrpSpPr>
      <p:grpSpPr>
        <a:xfrm>
          <a:off x="0" y="0"/>
          <a:ext cx="0" cy="0"/>
          <a:chOff x="0" y="0"/>
          <a:chExt cx="0" cy="0"/>
        </a:xfrm>
      </p:grpSpPr>
      <p:sp>
        <p:nvSpPr>
          <p:cNvPr id="195" name="Google Shape;195;p21"/>
          <p:cNvSpPr/>
          <p:nvPr/>
        </p:nvSpPr>
        <p:spPr>
          <a:xfrm>
            <a:off x="260553" y="1071715"/>
            <a:ext cx="245807" cy="551589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 name="Google Shape;196;p21"/>
          <p:cNvSpPr/>
          <p:nvPr/>
        </p:nvSpPr>
        <p:spPr>
          <a:xfrm>
            <a:off x="0" y="0"/>
            <a:ext cx="12192000" cy="108154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21"/>
          <p:cNvSpPr/>
          <p:nvPr/>
        </p:nvSpPr>
        <p:spPr>
          <a:xfrm rot="5400000">
            <a:off x="5557683" y="1290484"/>
            <a:ext cx="245807" cy="103484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21"/>
          <p:cNvSpPr/>
          <p:nvPr/>
        </p:nvSpPr>
        <p:spPr>
          <a:xfrm rot="5400000">
            <a:off x="10653252" y="-638635"/>
            <a:ext cx="245808" cy="28316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21"/>
          <p:cNvSpPr txBox="1"/>
          <p:nvPr>
            <p:ph idx="1" type="body"/>
          </p:nvPr>
        </p:nvSpPr>
        <p:spPr>
          <a:xfrm>
            <a:off x="1676398" y="161543"/>
            <a:ext cx="7381111" cy="758461"/>
          </a:xfrm>
          <a:prstGeom prst="rect">
            <a:avLst/>
          </a:prstGeom>
          <a:noFill/>
          <a:ln>
            <a:noFill/>
          </a:ln>
        </p:spPr>
        <p:txBody>
          <a:bodyPr anchorCtr="0" anchor="ctr" bIns="45700" lIns="91425" spcFirstLastPara="1" rIns="91425" wrap="square" tIns="45700">
            <a:noAutofit/>
          </a:bodyPr>
          <a:lstStyle>
            <a:lvl1pPr indent="-228600" lvl="0" marL="457200" marR="0" rtl="0" algn="r">
              <a:lnSpc>
                <a:spcPct val="90000"/>
              </a:lnSpc>
              <a:spcBef>
                <a:spcPts val="1000"/>
              </a:spcBef>
              <a:spcAft>
                <a:spcPts val="0"/>
              </a:spcAft>
              <a:buClr>
                <a:schemeClr val="lt1"/>
              </a:buClr>
              <a:buSzPts val="3600"/>
              <a:buFont typeface="Arial"/>
              <a:buNone/>
              <a:defRPr b="0" i="0" sz="3600" u="none" cap="none" strike="noStrike">
                <a:solidFill>
                  <a:schemeClr val="lt1"/>
                </a:solidFill>
                <a:latin typeface="Montserrat Black"/>
                <a:ea typeface="Montserrat Black"/>
                <a:cs typeface="Montserrat Black"/>
                <a:sym typeface="Montserrat Black"/>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0" name="Google Shape;200;p21"/>
          <p:cNvSpPr txBox="1"/>
          <p:nvPr>
            <p:ph idx="2" type="body"/>
          </p:nvPr>
        </p:nvSpPr>
        <p:spPr>
          <a:xfrm>
            <a:off x="886308" y="1795193"/>
            <a:ext cx="5484995" cy="3740368"/>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Montserrat"/>
                <a:ea typeface="Montserrat"/>
                <a:cs typeface="Montserrat"/>
                <a:sym typeface="Montserrat"/>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7_Robinson_Template_SlidesMania_4">
  <p:cSld name="0077_Robinson_Template_SlidesMania_4">
    <p:bg>
      <p:bgPr>
        <a:solidFill>
          <a:schemeClr val="accent3"/>
        </a:solidFill>
      </p:bgPr>
    </p:bg>
    <p:spTree>
      <p:nvGrpSpPr>
        <p:cNvPr id="201" name="Shape 201"/>
        <p:cNvGrpSpPr/>
        <p:nvPr/>
      </p:nvGrpSpPr>
      <p:grpSpPr>
        <a:xfrm>
          <a:off x="0" y="0"/>
          <a:ext cx="0" cy="0"/>
          <a:chOff x="0" y="0"/>
          <a:chExt cx="0" cy="0"/>
        </a:xfrm>
      </p:grpSpPr>
      <p:sp>
        <p:nvSpPr>
          <p:cNvPr id="202" name="Google Shape;202;p22"/>
          <p:cNvSpPr/>
          <p:nvPr/>
        </p:nvSpPr>
        <p:spPr>
          <a:xfrm>
            <a:off x="260553" y="1071715"/>
            <a:ext cx="245807" cy="551589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22"/>
          <p:cNvSpPr/>
          <p:nvPr/>
        </p:nvSpPr>
        <p:spPr>
          <a:xfrm>
            <a:off x="0" y="0"/>
            <a:ext cx="12192000" cy="108154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22"/>
          <p:cNvSpPr/>
          <p:nvPr/>
        </p:nvSpPr>
        <p:spPr>
          <a:xfrm rot="5400000">
            <a:off x="5557683" y="1290484"/>
            <a:ext cx="245807" cy="1034845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22"/>
          <p:cNvSpPr/>
          <p:nvPr/>
        </p:nvSpPr>
        <p:spPr>
          <a:xfrm rot="5400000">
            <a:off x="10653252" y="-638635"/>
            <a:ext cx="245808" cy="28316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06" name="Shape 206"/>
        <p:cNvGrpSpPr/>
        <p:nvPr/>
      </p:nvGrpSpPr>
      <p:grpSpPr>
        <a:xfrm>
          <a:off x="0" y="0"/>
          <a:ext cx="0" cy="0"/>
          <a:chOff x="0" y="0"/>
          <a:chExt cx="0" cy="0"/>
        </a:xfrm>
      </p:grpSpPr>
      <p:grpSp>
        <p:nvGrpSpPr>
          <p:cNvPr id="207" name="Google Shape;207;p23"/>
          <p:cNvGrpSpPr/>
          <p:nvPr/>
        </p:nvGrpSpPr>
        <p:grpSpPr>
          <a:xfrm>
            <a:off x="0" y="0"/>
            <a:ext cx="12192000" cy="6858000"/>
            <a:chOff x="0" y="0"/>
            <a:chExt cx="12192000" cy="6858000"/>
          </a:xfrm>
        </p:grpSpPr>
        <p:sp>
          <p:nvSpPr>
            <p:cNvPr id="208" name="Google Shape;208;p23"/>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9" name="Google Shape;209;p23">
              <a:hlinkClick r:id="rId2"/>
            </p:cNvPr>
            <p:cNvPicPr preferRelativeResize="0"/>
            <p:nvPr/>
          </p:nvPicPr>
          <p:blipFill rotWithShape="1">
            <a:blip r:embed="rId3">
              <a:alphaModFix/>
            </a:blip>
            <a:srcRect b="0" l="0" r="0" t="0"/>
            <a:stretch/>
          </p:blipFill>
          <p:spPr>
            <a:xfrm>
              <a:off x="465600" y="331100"/>
              <a:ext cx="5101466" cy="2201299"/>
            </a:xfrm>
            <a:prstGeom prst="rect">
              <a:avLst/>
            </a:prstGeom>
            <a:noFill/>
            <a:ln>
              <a:noFill/>
            </a:ln>
          </p:spPr>
        </p:pic>
        <p:sp>
          <p:nvSpPr>
            <p:cNvPr id="210" name="Google Shape;210;p23"/>
            <p:cNvSpPr txBox="1"/>
            <p:nvPr/>
          </p:nvSpPr>
          <p:spPr>
            <a:xfrm>
              <a:off x="463500" y="2858061"/>
              <a:ext cx="8956500" cy="24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s-ES" sz="3600">
                  <a:solidFill>
                    <a:srgbClr val="3F3F3F"/>
                  </a:solidFill>
                  <a:latin typeface="Poppins"/>
                  <a:ea typeface="Poppins"/>
                  <a:cs typeface="Poppins"/>
                  <a:sym typeface="Poppins"/>
                </a:rPr>
                <a:t>Free </a:t>
              </a:r>
              <a:r>
                <a:rPr lang="es-ES" sz="3600">
                  <a:solidFill>
                    <a:srgbClr val="3F3F3F"/>
                  </a:solidFill>
                  <a:latin typeface="Poppins"/>
                  <a:ea typeface="Poppins"/>
                  <a:cs typeface="Poppins"/>
                  <a:sym typeface="Poppins"/>
                </a:rPr>
                <a:t>themes and templates for </a:t>
              </a:r>
              <a:r>
                <a:rPr b="1" lang="es-ES" sz="3600">
                  <a:solidFill>
                    <a:srgbClr val="3F3F3F"/>
                  </a:solidFill>
                  <a:latin typeface="Poppins"/>
                  <a:ea typeface="Poppins"/>
                  <a:cs typeface="Poppins"/>
                  <a:sym typeface="Poppins"/>
                </a:rPr>
                <a:t>Google Slides</a:t>
              </a:r>
              <a:r>
                <a:rPr lang="es-ES" sz="3600">
                  <a:solidFill>
                    <a:srgbClr val="3F3F3F"/>
                  </a:solidFill>
                  <a:latin typeface="Poppins"/>
                  <a:ea typeface="Poppins"/>
                  <a:cs typeface="Poppins"/>
                  <a:sym typeface="Poppins"/>
                </a:rPr>
                <a:t> or </a:t>
              </a:r>
              <a:r>
                <a:rPr b="1" lang="es-ES" sz="3600">
                  <a:solidFill>
                    <a:srgbClr val="3F3F3F"/>
                  </a:solidFill>
                  <a:latin typeface="Poppins"/>
                  <a:ea typeface="Poppins"/>
                  <a:cs typeface="Poppins"/>
                  <a:sym typeface="Poppins"/>
                </a:rPr>
                <a:t>PowerPoint</a:t>
              </a:r>
              <a:endParaRPr b="1" sz="3600">
                <a:solidFill>
                  <a:srgbClr val="3F3F3F"/>
                </a:solidFill>
                <a:latin typeface="Poppins"/>
                <a:ea typeface="Poppins"/>
                <a:cs typeface="Poppins"/>
                <a:sym typeface="Poppins"/>
              </a:endParaRPr>
            </a:p>
            <a:p>
              <a:pPr indent="0" lvl="0" marL="0" marR="0" rtl="0" algn="l">
                <a:spcBef>
                  <a:spcPts val="0"/>
                </a:spcBef>
                <a:spcAft>
                  <a:spcPts val="0"/>
                </a:spcAft>
                <a:buNone/>
              </a:pPr>
              <a:r>
                <a:t/>
              </a:r>
              <a:endParaRPr b="1" sz="3600">
                <a:solidFill>
                  <a:srgbClr val="3F3F3F"/>
                </a:solidFill>
                <a:latin typeface="Poppins"/>
                <a:ea typeface="Poppins"/>
                <a:cs typeface="Poppins"/>
                <a:sym typeface="Poppins"/>
              </a:endParaRPr>
            </a:p>
            <a:p>
              <a:pPr indent="0" lvl="0" marL="0" marR="0" rtl="0" algn="l">
                <a:spcBef>
                  <a:spcPts val="0"/>
                </a:spcBef>
                <a:spcAft>
                  <a:spcPts val="0"/>
                </a:spcAft>
                <a:buNone/>
              </a:pPr>
              <a:r>
                <a:t/>
              </a:r>
              <a:endParaRPr b="1" sz="3600">
                <a:solidFill>
                  <a:srgbClr val="3F3F3F"/>
                </a:solidFill>
                <a:latin typeface="Poppins"/>
                <a:ea typeface="Poppins"/>
                <a:cs typeface="Poppins"/>
                <a:sym typeface="Poppins"/>
              </a:endParaRPr>
            </a:p>
            <a:p>
              <a:pPr indent="0" lvl="0" marL="0" marR="0" rtl="0" algn="l">
                <a:spcBef>
                  <a:spcPts val="0"/>
                </a:spcBef>
                <a:spcAft>
                  <a:spcPts val="0"/>
                </a:spcAft>
                <a:buNone/>
              </a:pPr>
              <a:r>
                <a:rPr b="1" lang="es-ES" sz="3000">
                  <a:solidFill>
                    <a:srgbClr val="FFCB25"/>
                  </a:solidFill>
                  <a:latin typeface="Poppins"/>
                  <a:ea typeface="Poppins"/>
                  <a:cs typeface="Poppins"/>
                  <a:sym typeface="Poppins"/>
                </a:rPr>
                <a:t>NOT to be sold as is or modified!</a:t>
              </a:r>
              <a:endParaRPr b="1" sz="3000">
                <a:solidFill>
                  <a:srgbClr val="FFCB25"/>
                </a:solidFill>
                <a:latin typeface="Poppins"/>
                <a:ea typeface="Poppins"/>
                <a:cs typeface="Poppins"/>
                <a:sym typeface="Poppins"/>
              </a:endParaRPr>
            </a:p>
            <a:p>
              <a:pPr indent="0" lvl="0" marL="0" rtl="0" algn="l">
                <a:spcBef>
                  <a:spcPts val="0"/>
                </a:spcBef>
                <a:spcAft>
                  <a:spcPts val="0"/>
                </a:spcAft>
                <a:buNone/>
              </a:pPr>
              <a:r>
                <a:rPr lang="es-ES" sz="2700">
                  <a:solidFill>
                    <a:srgbClr val="3F3F3F"/>
                  </a:solidFill>
                  <a:latin typeface="Poppins"/>
                  <a:ea typeface="Poppins"/>
                  <a:cs typeface="Poppins"/>
                  <a:sym typeface="Poppins"/>
                </a:rPr>
                <a:t>Read </a:t>
              </a:r>
              <a:r>
                <a:rPr lang="es-ES" sz="2700" u="sng">
                  <a:solidFill>
                    <a:srgbClr val="3F3F3F"/>
                  </a:solidFill>
                  <a:latin typeface="Poppins"/>
                  <a:ea typeface="Poppins"/>
                  <a:cs typeface="Poppins"/>
                  <a:sym typeface="Poppins"/>
                  <a:hlinkClick r:id="rId4">
                    <a:extLst>
                      <a:ext uri="{A12FA001-AC4F-418D-AE19-62706E023703}">
                        <ahyp:hlinkClr val="tx"/>
                      </a:ext>
                    </a:extLst>
                  </a:hlinkClick>
                </a:rPr>
                <a:t>FAQ</a:t>
              </a:r>
              <a:r>
                <a:rPr b="1" lang="es-ES" sz="4400">
                  <a:solidFill>
                    <a:srgbClr val="FFCB25"/>
                  </a:solidFill>
                  <a:latin typeface="Poppins"/>
                  <a:ea typeface="Poppins"/>
                  <a:cs typeface="Poppins"/>
                  <a:sym typeface="Poppins"/>
                </a:rPr>
                <a:t> </a:t>
              </a:r>
              <a:r>
                <a:rPr lang="es-ES" sz="2700">
                  <a:solidFill>
                    <a:srgbClr val="3F3F3F"/>
                  </a:solidFill>
                  <a:latin typeface="Poppins"/>
                  <a:ea typeface="Poppins"/>
                  <a:cs typeface="Poppins"/>
                  <a:sym typeface="Poppins"/>
                </a:rPr>
                <a:t>on slidesmania.com</a:t>
              </a:r>
              <a:endParaRPr sz="2700">
                <a:solidFill>
                  <a:srgbClr val="3F3F3F"/>
                </a:solidFill>
                <a:latin typeface="Poppins"/>
                <a:ea typeface="Poppins"/>
                <a:cs typeface="Poppins"/>
                <a:sym typeface="Poppins"/>
              </a:endParaRPr>
            </a:p>
          </p:txBody>
        </p:sp>
        <p:cxnSp>
          <p:nvCxnSpPr>
            <p:cNvPr id="211" name="Google Shape;211;p23"/>
            <p:cNvCxnSpPr/>
            <p:nvPr/>
          </p:nvCxnSpPr>
          <p:spPr>
            <a:xfrm>
              <a:off x="10423367" y="5688858"/>
              <a:ext cx="1495200" cy="12900"/>
            </a:xfrm>
            <a:prstGeom prst="straightConnector1">
              <a:avLst/>
            </a:prstGeom>
            <a:noFill/>
            <a:ln cap="flat" cmpd="sng" w="38100">
              <a:solidFill>
                <a:srgbClr val="FFCB25"/>
              </a:solidFill>
              <a:prstDash val="solid"/>
              <a:round/>
              <a:headEnd len="med" w="med" type="none"/>
              <a:tailEnd len="med" w="med" type="none"/>
            </a:ln>
          </p:spPr>
        </p:cxnSp>
        <p:pic>
          <p:nvPicPr>
            <p:cNvPr id="212" name="Google Shape;212;p23">
              <a:hlinkClick r:id="rId5"/>
            </p:cNvPr>
            <p:cNvPicPr preferRelativeResize="0"/>
            <p:nvPr/>
          </p:nvPicPr>
          <p:blipFill>
            <a:blip r:embed="rId6">
              <a:alphaModFix/>
            </a:blip>
            <a:stretch>
              <a:fillRect/>
            </a:stretch>
          </p:blipFill>
          <p:spPr>
            <a:xfrm>
              <a:off x="8982558" y="5912306"/>
              <a:ext cx="713232" cy="637863"/>
            </a:xfrm>
            <a:prstGeom prst="rect">
              <a:avLst/>
            </a:prstGeom>
            <a:noFill/>
            <a:ln>
              <a:noFill/>
            </a:ln>
          </p:spPr>
        </p:pic>
        <p:pic>
          <p:nvPicPr>
            <p:cNvPr id="213" name="Google Shape;213;p23">
              <a:hlinkClick r:id="rId7"/>
            </p:cNvPr>
            <p:cNvPicPr preferRelativeResize="0"/>
            <p:nvPr/>
          </p:nvPicPr>
          <p:blipFill>
            <a:blip r:embed="rId8">
              <a:alphaModFix/>
            </a:blip>
            <a:stretch>
              <a:fillRect/>
            </a:stretch>
          </p:blipFill>
          <p:spPr>
            <a:xfrm>
              <a:off x="9764428" y="5916798"/>
              <a:ext cx="708660" cy="628879"/>
            </a:xfrm>
            <a:prstGeom prst="rect">
              <a:avLst/>
            </a:prstGeom>
            <a:noFill/>
            <a:ln>
              <a:noFill/>
            </a:ln>
          </p:spPr>
        </p:pic>
        <p:pic>
          <p:nvPicPr>
            <p:cNvPr id="214" name="Google Shape;214;p23">
              <a:hlinkClick r:id="rId9"/>
            </p:cNvPr>
            <p:cNvPicPr preferRelativeResize="0"/>
            <p:nvPr/>
          </p:nvPicPr>
          <p:blipFill>
            <a:blip r:embed="rId10">
              <a:alphaModFix/>
            </a:blip>
            <a:stretch>
              <a:fillRect/>
            </a:stretch>
          </p:blipFill>
          <p:spPr>
            <a:xfrm>
              <a:off x="10541715" y="5905569"/>
              <a:ext cx="612648" cy="624387"/>
            </a:xfrm>
            <a:prstGeom prst="rect">
              <a:avLst/>
            </a:prstGeom>
            <a:noFill/>
            <a:ln>
              <a:noFill/>
            </a:ln>
          </p:spPr>
        </p:pic>
        <p:pic>
          <p:nvPicPr>
            <p:cNvPr id="215" name="Google Shape;215;p23">
              <a:hlinkClick r:id="rId11"/>
            </p:cNvPr>
            <p:cNvPicPr preferRelativeResize="0"/>
            <p:nvPr/>
          </p:nvPicPr>
          <p:blipFill>
            <a:blip r:embed="rId12">
              <a:alphaModFix/>
            </a:blip>
            <a:stretch>
              <a:fillRect/>
            </a:stretch>
          </p:blipFill>
          <p:spPr>
            <a:xfrm>
              <a:off x="11219049" y="5916799"/>
              <a:ext cx="699516" cy="601927"/>
            </a:xfrm>
            <a:prstGeom prst="rect">
              <a:avLst/>
            </a:prstGeom>
            <a:noFill/>
            <a:ln>
              <a:noFill/>
            </a:ln>
          </p:spPr>
        </p:pic>
        <p:sp>
          <p:nvSpPr>
            <p:cNvPr id="216" name="Google Shape;216;p23"/>
            <p:cNvSpPr txBox="1"/>
            <p:nvPr/>
          </p:nvSpPr>
          <p:spPr>
            <a:xfrm>
              <a:off x="7072500" y="4813375"/>
              <a:ext cx="4915500" cy="1001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s-ES" sz="2400">
                  <a:solidFill>
                    <a:srgbClr val="252525"/>
                  </a:solidFill>
                  <a:latin typeface="Homemade Apple"/>
                  <a:ea typeface="Homemade Apple"/>
                  <a:cs typeface="Homemade Apple"/>
                  <a:sym typeface="Homemade Apple"/>
                </a:rPr>
                <a:t>Sharing is caring!</a:t>
              </a:r>
              <a:endParaRPr b="1" sz="2400">
                <a:solidFill>
                  <a:srgbClr val="252525"/>
                </a:solidFill>
                <a:latin typeface="Homemade Apple"/>
                <a:ea typeface="Homemade Apple"/>
                <a:cs typeface="Homemade Apple"/>
                <a:sym typeface="Homemade Apple"/>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a:solidFill>
                  <a:schemeClr val="accent2"/>
                </a:solidFill>
                <a:latin typeface="Barlow Condensed"/>
                <a:ea typeface="Barlow Condensed"/>
                <a:cs typeface="Barlow Condensed"/>
                <a:sym typeface="Barlow Condensed"/>
              </a:rPr>
              <a:t>SLIDESMANIA.COM</a:t>
            </a:r>
            <a:endParaRPr>
              <a:solidFill>
                <a:schemeClr val="accent2"/>
              </a:solidFill>
              <a:latin typeface="Barlow Condensed"/>
              <a:ea typeface="Barlow Condensed"/>
              <a:cs typeface="Barlow Condensed"/>
              <a:sym typeface="Barlow Condense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4"/>
          <p:cNvSpPr txBox="1"/>
          <p:nvPr/>
        </p:nvSpPr>
        <p:spPr>
          <a:xfrm>
            <a:off x="776748" y="2113935"/>
            <a:ext cx="6892413"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4800">
                <a:solidFill>
                  <a:schemeClr val="dk1"/>
                </a:solidFill>
                <a:latin typeface="Montserrat Black"/>
                <a:ea typeface="Montserrat Black"/>
                <a:cs typeface="Montserrat Black"/>
                <a:sym typeface="Montserrat Black"/>
              </a:rPr>
              <a:t>Eli Lilly + CO</a:t>
            </a:r>
            <a:endParaRPr sz="4800">
              <a:solidFill>
                <a:schemeClr val="dk1"/>
              </a:solidFill>
              <a:latin typeface="Montserrat Black"/>
              <a:ea typeface="Montserrat Black"/>
              <a:cs typeface="Montserrat Black"/>
              <a:sym typeface="Montserrat Black"/>
            </a:endParaRPr>
          </a:p>
        </p:txBody>
      </p:sp>
      <p:sp>
        <p:nvSpPr>
          <p:cNvPr id="222" name="Google Shape;222;p24"/>
          <p:cNvSpPr txBox="1"/>
          <p:nvPr/>
        </p:nvSpPr>
        <p:spPr>
          <a:xfrm>
            <a:off x="842450" y="4133225"/>
            <a:ext cx="4027800" cy="9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1900">
                <a:latin typeface="Montserrat"/>
                <a:ea typeface="Montserrat"/>
                <a:cs typeface="Montserrat"/>
                <a:sym typeface="Montserrat"/>
              </a:rPr>
              <a:t>Group 1</a:t>
            </a:r>
            <a:endParaRPr b="1" sz="1900">
              <a:latin typeface="Montserrat"/>
              <a:ea typeface="Montserrat"/>
              <a:cs typeface="Montserrat"/>
              <a:sym typeface="Montserrat"/>
            </a:endParaRPr>
          </a:p>
        </p:txBody>
      </p:sp>
      <p:sp>
        <p:nvSpPr>
          <p:cNvPr id="223" name="Google Shape;223;p24"/>
          <p:cNvSpPr/>
          <p:nvPr/>
        </p:nvSpPr>
        <p:spPr>
          <a:xfrm>
            <a:off x="-9000" y="5694525"/>
            <a:ext cx="12210000" cy="12480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5"/>
          <p:cNvSpPr txBox="1"/>
          <p:nvPr>
            <p:ph idx="1" type="body"/>
          </p:nvPr>
        </p:nvSpPr>
        <p:spPr>
          <a:xfrm>
            <a:off x="1528575" y="3205699"/>
            <a:ext cx="1800300" cy="30669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rPr b="1" lang="es-ES" sz="1700"/>
              <a:t>Strengths</a:t>
            </a:r>
            <a:endParaRPr b="1" sz="1700"/>
          </a:p>
          <a:p>
            <a:pPr indent="0" lvl="0" marL="0" rtl="0" algn="l">
              <a:lnSpc>
                <a:spcPct val="90000"/>
              </a:lnSpc>
              <a:spcBef>
                <a:spcPts val="0"/>
              </a:spcBef>
              <a:spcAft>
                <a:spcPts val="0"/>
              </a:spcAft>
              <a:buClr>
                <a:schemeClr val="dk1"/>
              </a:buClr>
              <a:buSzPts val="1800"/>
              <a:buNone/>
            </a:pPr>
            <a:r>
              <a:t/>
            </a:r>
            <a:endParaRPr/>
          </a:p>
          <a:p>
            <a:pPr indent="0" lvl="0" marL="0" rtl="0" algn="l">
              <a:lnSpc>
                <a:spcPct val="90000"/>
              </a:lnSpc>
              <a:spcBef>
                <a:spcPts val="0"/>
              </a:spcBef>
              <a:spcAft>
                <a:spcPts val="0"/>
              </a:spcAft>
              <a:buClr>
                <a:schemeClr val="dk1"/>
              </a:buClr>
              <a:buSzPts val="1800"/>
              <a:buNone/>
            </a:pPr>
            <a:r>
              <a:rPr lang="es-ES" sz="1500"/>
              <a:t>Strong historical performance </a:t>
            </a:r>
            <a:endParaRPr sz="1500"/>
          </a:p>
          <a:p>
            <a:pPr indent="0" lvl="0" marL="0" rtl="0" algn="l">
              <a:lnSpc>
                <a:spcPct val="90000"/>
              </a:lnSpc>
              <a:spcBef>
                <a:spcPts val="0"/>
              </a:spcBef>
              <a:spcAft>
                <a:spcPts val="0"/>
              </a:spcAft>
              <a:buClr>
                <a:schemeClr val="dk1"/>
              </a:buClr>
              <a:buSzPts val="1800"/>
              <a:buNone/>
            </a:pPr>
            <a:r>
              <a:t/>
            </a:r>
            <a:endParaRPr sz="1500"/>
          </a:p>
          <a:p>
            <a:pPr indent="0" lvl="0" marL="0" rtl="0" algn="l">
              <a:lnSpc>
                <a:spcPct val="90000"/>
              </a:lnSpc>
              <a:spcBef>
                <a:spcPts val="0"/>
              </a:spcBef>
              <a:spcAft>
                <a:spcPts val="0"/>
              </a:spcAft>
              <a:buClr>
                <a:schemeClr val="dk1"/>
              </a:buClr>
              <a:buSzPts val="1800"/>
              <a:buNone/>
            </a:pPr>
            <a:r>
              <a:rPr lang="es-ES" sz="1500"/>
              <a:t>High barriers to entry</a:t>
            </a:r>
            <a:endParaRPr sz="1500"/>
          </a:p>
          <a:p>
            <a:pPr indent="0" lvl="0" marL="0" rtl="0" algn="l">
              <a:lnSpc>
                <a:spcPct val="90000"/>
              </a:lnSpc>
              <a:spcBef>
                <a:spcPts val="0"/>
              </a:spcBef>
              <a:spcAft>
                <a:spcPts val="0"/>
              </a:spcAft>
              <a:buClr>
                <a:schemeClr val="dk1"/>
              </a:buClr>
              <a:buSzPts val="1800"/>
              <a:buNone/>
            </a:pPr>
            <a:r>
              <a:t/>
            </a:r>
            <a:endParaRPr sz="1500"/>
          </a:p>
          <a:p>
            <a:pPr indent="0" lvl="0" marL="0" rtl="0" algn="l">
              <a:lnSpc>
                <a:spcPct val="90000"/>
              </a:lnSpc>
              <a:spcBef>
                <a:spcPts val="0"/>
              </a:spcBef>
              <a:spcAft>
                <a:spcPts val="0"/>
              </a:spcAft>
              <a:buClr>
                <a:schemeClr val="dk1"/>
              </a:buClr>
              <a:buSzPts val="1800"/>
              <a:buNone/>
            </a:pPr>
            <a:r>
              <a:rPr lang="es-ES" sz="1500"/>
              <a:t>Exploding demand for obesity drugs</a:t>
            </a:r>
            <a:r>
              <a:rPr lang="es-ES"/>
              <a:t> </a:t>
            </a:r>
            <a:endParaRPr/>
          </a:p>
        </p:txBody>
      </p:sp>
      <p:sp>
        <p:nvSpPr>
          <p:cNvPr id="229" name="Google Shape;229;p25"/>
          <p:cNvSpPr txBox="1"/>
          <p:nvPr>
            <p:ph idx="2" type="body"/>
          </p:nvPr>
        </p:nvSpPr>
        <p:spPr>
          <a:xfrm>
            <a:off x="3839148" y="3205703"/>
            <a:ext cx="1800300" cy="238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rPr b="1" lang="es-ES" sz="1700"/>
              <a:t>Weaknesses</a:t>
            </a:r>
            <a:endParaRPr b="1" sz="1700"/>
          </a:p>
          <a:p>
            <a:pPr indent="0" lvl="0" marL="0" rtl="0" algn="l">
              <a:lnSpc>
                <a:spcPct val="90000"/>
              </a:lnSpc>
              <a:spcBef>
                <a:spcPts val="0"/>
              </a:spcBef>
              <a:spcAft>
                <a:spcPts val="0"/>
              </a:spcAft>
              <a:buClr>
                <a:schemeClr val="dk1"/>
              </a:buClr>
              <a:buSzPts val="1800"/>
              <a:buNone/>
            </a:pPr>
            <a:r>
              <a:t/>
            </a:r>
            <a:endParaRPr b="1"/>
          </a:p>
          <a:p>
            <a:pPr indent="0" lvl="0" marL="0" rtl="0" algn="l">
              <a:lnSpc>
                <a:spcPct val="90000"/>
              </a:lnSpc>
              <a:spcBef>
                <a:spcPts val="0"/>
              </a:spcBef>
              <a:spcAft>
                <a:spcPts val="0"/>
              </a:spcAft>
              <a:buClr>
                <a:schemeClr val="dk1"/>
              </a:buClr>
              <a:buSzPts val="1800"/>
              <a:buNone/>
            </a:pPr>
            <a:r>
              <a:rPr lang="es-ES" sz="1500"/>
              <a:t>R&amp;D costs are high and uncertain</a:t>
            </a:r>
            <a:endParaRPr sz="1500"/>
          </a:p>
          <a:p>
            <a:pPr indent="0" lvl="0" marL="0" rtl="0" algn="l">
              <a:lnSpc>
                <a:spcPct val="90000"/>
              </a:lnSpc>
              <a:spcBef>
                <a:spcPts val="0"/>
              </a:spcBef>
              <a:spcAft>
                <a:spcPts val="0"/>
              </a:spcAft>
              <a:buClr>
                <a:schemeClr val="dk1"/>
              </a:buClr>
              <a:buSzPts val="1800"/>
              <a:buNone/>
            </a:pPr>
            <a:r>
              <a:t/>
            </a:r>
            <a:endParaRPr sz="1500"/>
          </a:p>
          <a:p>
            <a:pPr indent="0" lvl="0" marL="0" rtl="0" algn="l">
              <a:lnSpc>
                <a:spcPct val="90000"/>
              </a:lnSpc>
              <a:spcBef>
                <a:spcPts val="0"/>
              </a:spcBef>
              <a:spcAft>
                <a:spcPts val="0"/>
              </a:spcAft>
              <a:buClr>
                <a:schemeClr val="dk1"/>
              </a:buClr>
              <a:buSzPts val="1800"/>
              <a:buNone/>
            </a:pPr>
            <a:r>
              <a:rPr lang="es-ES" sz="1500"/>
              <a:t>High dependency on patent exclusivity</a:t>
            </a:r>
            <a:endParaRPr sz="1500"/>
          </a:p>
        </p:txBody>
      </p:sp>
      <p:sp>
        <p:nvSpPr>
          <p:cNvPr id="230" name="Google Shape;230;p25"/>
          <p:cNvSpPr txBox="1"/>
          <p:nvPr>
            <p:ph idx="3" type="body"/>
          </p:nvPr>
        </p:nvSpPr>
        <p:spPr>
          <a:xfrm>
            <a:off x="6149725" y="3205700"/>
            <a:ext cx="1800300" cy="238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rPr b="1" lang="es-ES" sz="1700"/>
              <a:t>Opportunities</a:t>
            </a:r>
            <a:endParaRPr b="1" sz="1700"/>
          </a:p>
          <a:p>
            <a:pPr indent="0" lvl="0" marL="0" rtl="0" algn="ctr">
              <a:lnSpc>
                <a:spcPct val="90000"/>
              </a:lnSpc>
              <a:spcBef>
                <a:spcPts val="0"/>
              </a:spcBef>
              <a:spcAft>
                <a:spcPts val="0"/>
              </a:spcAft>
              <a:buClr>
                <a:schemeClr val="dk1"/>
              </a:buClr>
              <a:buSzPts val="1800"/>
              <a:buNone/>
            </a:pPr>
            <a:r>
              <a:t/>
            </a:r>
            <a:endParaRPr b="1"/>
          </a:p>
          <a:p>
            <a:pPr indent="0" lvl="0" marL="0" rtl="0" algn="l">
              <a:lnSpc>
                <a:spcPct val="90000"/>
              </a:lnSpc>
              <a:spcBef>
                <a:spcPts val="0"/>
              </a:spcBef>
              <a:spcAft>
                <a:spcPts val="0"/>
              </a:spcAft>
              <a:buClr>
                <a:schemeClr val="dk1"/>
              </a:buClr>
              <a:buSzPts val="1800"/>
              <a:buNone/>
            </a:pPr>
            <a:r>
              <a:rPr lang="es-ES" sz="1500"/>
              <a:t>M&amp;A environment improvement</a:t>
            </a:r>
            <a:endParaRPr sz="1500"/>
          </a:p>
          <a:p>
            <a:pPr indent="0" lvl="0" marL="0" rtl="0" algn="l">
              <a:lnSpc>
                <a:spcPct val="90000"/>
              </a:lnSpc>
              <a:spcBef>
                <a:spcPts val="0"/>
              </a:spcBef>
              <a:spcAft>
                <a:spcPts val="0"/>
              </a:spcAft>
              <a:buClr>
                <a:schemeClr val="dk1"/>
              </a:buClr>
              <a:buSzPts val="1800"/>
              <a:buNone/>
            </a:pPr>
            <a:br>
              <a:rPr lang="es-ES" sz="1500"/>
            </a:br>
            <a:r>
              <a:rPr lang="es-ES" sz="1500"/>
              <a:t>New GLP-1 innovations</a:t>
            </a:r>
            <a:endParaRPr sz="1500"/>
          </a:p>
        </p:txBody>
      </p:sp>
      <p:sp>
        <p:nvSpPr>
          <p:cNvPr id="231" name="Google Shape;231;p25"/>
          <p:cNvSpPr txBox="1"/>
          <p:nvPr>
            <p:ph idx="4" type="body"/>
          </p:nvPr>
        </p:nvSpPr>
        <p:spPr>
          <a:xfrm>
            <a:off x="8460199" y="3205703"/>
            <a:ext cx="1800300" cy="238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rPr b="1" lang="es-ES" sz="1700"/>
              <a:t>Threats</a:t>
            </a:r>
            <a:endParaRPr b="1" sz="1700"/>
          </a:p>
          <a:p>
            <a:pPr indent="0" lvl="0" marL="0" rtl="0" algn="l">
              <a:lnSpc>
                <a:spcPct val="90000"/>
              </a:lnSpc>
              <a:spcBef>
                <a:spcPts val="0"/>
              </a:spcBef>
              <a:spcAft>
                <a:spcPts val="0"/>
              </a:spcAft>
              <a:buClr>
                <a:schemeClr val="dk1"/>
              </a:buClr>
              <a:buSzPts val="1800"/>
              <a:buNone/>
            </a:pPr>
            <a:r>
              <a:t/>
            </a:r>
            <a:endParaRPr b="1"/>
          </a:p>
          <a:p>
            <a:pPr indent="0" lvl="0" marL="0" rtl="0" algn="l">
              <a:lnSpc>
                <a:spcPct val="90000"/>
              </a:lnSpc>
              <a:spcBef>
                <a:spcPts val="0"/>
              </a:spcBef>
              <a:spcAft>
                <a:spcPts val="0"/>
              </a:spcAft>
              <a:buClr>
                <a:schemeClr val="dk1"/>
              </a:buClr>
              <a:buSzPts val="1800"/>
              <a:buNone/>
            </a:pPr>
            <a:r>
              <a:rPr lang="es-ES" sz="1500"/>
              <a:t>Tariff uncertainty</a:t>
            </a:r>
            <a:endParaRPr sz="1500"/>
          </a:p>
          <a:p>
            <a:pPr indent="0" lvl="0" marL="0" rtl="0" algn="l">
              <a:lnSpc>
                <a:spcPct val="90000"/>
              </a:lnSpc>
              <a:spcBef>
                <a:spcPts val="0"/>
              </a:spcBef>
              <a:spcAft>
                <a:spcPts val="0"/>
              </a:spcAft>
              <a:buClr>
                <a:schemeClr val="dk1"/>
              </a:buClr>
              <a:buSzPts val="1800"/>
              <a:buNone/>
            </a:pPr>
            <a:r>
              <a:t/>
            </a:r>
            <a:endParaRPr sz="1500"/>
          </a:p>
          <a:p>
            <a:pPr indent="0" lvl="0" marL="0" rtl="0" algn="l">
              <a:lnSpc>
                <a:spcPct val="90000"/>
              </a:lnSpc>
              <a:spcBef>
                <a:spcPts val="0"/>
              </a:spcBef>
              <a:spcAft>
                <a:spcPts val="0"/>
              </a:spcAft>
              <a:buClr>
                <a:schemeClr val="dk1"/>
              </a:buClr>
              <a:buSzPts val="1800"/>
              <a:buNone/>
            </a:pPr>
            <a:r>
              <a:rPr lang="es-ES" sz="1500"/>
              <a:t>increased competition in GLP-1 market from Pfizer</a:t>
            </a:r>
            <a:endParaRPr sz="1500"/>
          </a:p>
          <a:p>
            <a:pPr indent="0" lvl="0" marL="0" rtl="0" algn="l">
              <a:lnSpc>
                <a:spcPct val="90000"/>
              </a:lnSpc>
              <a:spcBef>
                <a:spcPts val="0"/>
              </a:spcBef>
              <a:spcAft>
                <a:spcPts val="0"/>
              </a:spcAft>
              <a:buClr>
                <a:schemeClr val="dk1"/>
              </a:buClr>
              <a:buSzPts val="1800"/>
              <a:buNone/>
            </a:pPr>
            <a:r>
              <a:t/>
            </a:r>
            <a:endParaRPr/>
          </a:p>
          <a:p>
            <a:pPr indent="0" lvl="0" marL="0" rtl="0" algn="l">
              <a:lnSpc>
                <a:spcPct val="90000"/>
              </a:lnSpc>
              <a:spcBef>
                <a:spcPts val="0"/>
              </a:spcBef>
              <a:spcAft>
                <a:spcPts val="0"/>
              </a:spcAft>
              <a:buClr>
                <a:schemeClr val="dk1"/>
              </a:buClr>
              <a:buSzPts val="1800"/>
              <a:buNone/>
            </a:pPr>
            <a:r>
              <a:t/>
            </a:r>
            <a:endParaRPr/>
          </a:p>
        </p:txBody>
      </p:sp>
      <p:sp>
        <p:nvSpPr>
          <p:cNvPr id="232" name="Google Shape;232;p25"/>
          <p:cNvSpPr txBox="1"/>
          <p:nvPr>
            <p:ph idx="5" type="body"/>
          </p:nvPr>
        </p:nvSpPr>
        <p:spPr>
          <a:xfrm>
            <a:off x="1659125" y="136075"/>
            <a:ext cx="7381200" cy="896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3600"/>
              <a:buNone/>
            </a:pPr>
            <a:r>
              <a:rPr lang="es-ES"/>
              <a:t>Pharmaceutical Industry Overview</a:t>
            </a:r>
            <a:endParaRPr/>
          </a:p>
        </p:txBody>
      </p:sp>
      <p:grpSp>
        <p:nvGrpSpPr>
          <p:cNvPr id="233" name="Google Shape;233;p25"/>
          <p:cNvGrpSpPr/>
          <p:nvPr/>
        </p:nvGrpSpPr>
        <p:grpSpPr>
          <a:xfrm>
            <a:off x="6715424" y="2028733"/>
            <a:ext cx="843955" cy="907192"/>
            <a:chOff x="5262600" y="2942475"/>
            <a:chExt cx="241800" cy="265875"/>
          </a:xfrm>
        </p:grpSpPr>
        <p:sp>
          <p:nvSpPr>
            <p:cNvPr id="234" name="Google Shape;234;p25"/>
            <p:cNvSpPr/>
            <p:nvPr/>
          </p:nvSpPr>
          <p:spPr>
            <a:xfrm>
              <a:off x="5426300" y="3078075"/>
              <a:ext cx="51775" cy="51750"/>
            </a:xfrm>
            <a:custGeom>
              <a:rect b="b" l="l" r="r" t="t"/>
              <a:pathLst>
                <a:path extrusionOk="0" h="2070" w="2071">
                  <a:moveTo>
                    <a:pt x="1018" y="0"/>
                  </a:moveTo>
                  <a:cubicBezTo>
                    <a:pt x="465" y="0"/>
                    <a:pt x="1" y="464"/>
                    <a:pt x="1" y="1035"/>
                  </a:cubicBezTo>
                  <a:cubicBezTo>
                    <a:pt x="1" y="1606"/>
                    <a:pt x="465" y="2070"/>
                    <a:pt x="1018" y="2070"/>
                  </a:cubicBezTo>
                  <a:cubicBezTo>
                    <a:pt x="1607" y="2070"/>
                    <a:pt x="2071" y="1606"/>
                    <a:pt x="2071" y="1035"/>
                  </a:cubicBezTo>
                  <a:cubicBezTo>
                    <a:pt x="2071" y="464"/>
                    <a:pt x="1607" y="0"/>
                    <a:pt x="10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5"/>
            <p:cNvSpPr/>
            <p:nvPr/>
          </p:nvSpPr>
          <p:spPr>
            <a:xfrm>
              <a:off x="5288025" y="3078075"/>
              <a:ext cx="51775" cy="51750"/>
            </a:xfrm>
            <a:custGeom>
              <a:rect b="b" l="l" r="r" t="t"/>
              <a:pathLst>
                <a:path extrusionOk="0" h="2070" w="2071">
                  <a:moveTo>
                    <a:pt x="1053" y="0"/>
                  </a:moveTo>
                  <a:cubicBezTo>
                    <a:pt x="482" y="0"/>
                    <a:pt x="1" y="464"/>
                    <a:pt x="1" y="1035"/>
                  </a:cubicBezTo>
                  <a:cubicBezTo>
                    <a:pt x="1" y="1606"/>
                    <a:pt x="482" y="2070"/>
                    <a:pt x="1053" y="2070"/>
                  </a:cubicBezTo>
                  <a:cubicBezTo>
                    <a:pt x="1606" y="2070"/>
                    <a:pt x="2070" y="1606"/>
                    <a:pt x="2070" y="1035"/>
                  </a:cubicBezTo>
                  <a:cubicBezTo>
                    <a:pt x="2070" y="464"/>
                    <a:pt x="1606" y="0"/>
                    <a:pt x="105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5"/>
            <p:cNvSpPr/>
            <p:nvPr/>
          </p:nvSpPr>
          <p:spPr>
            <a:xfrm>
              <a:off x="5410250" y="3136950"/>
              <a:ext cx="93700" cy="51775"/>
            </a:xfrm>
            <a:custGeom>
              <a:rect b="b" l="l" r="r" t="t"/>
              <a:pathLst>
                <a:path extrusionOk="0" h="2071" w="3748">
                  <a:moveTo>
                    <a:pt x="1660" y="0"/>
                  </a:moveTo>
                  <a:cubicBezTo>
                    <a:pt x="1392" y="0"/>
                    <a:pt x="1089" y="36"/>
                    <a:pt x="821" y="125"/>
                  </a:cubicBezTo>
                  <a:cubicBezTo>
                    <a:pt x="554" y="197"/>
                    <a:pt x="286" y="322"/>
                    <a:pt x="36" y="464"/>
                  </a:cubicBezTo>
                  <a:lnTo>
                    <a:pt x="1" y="518"/>
                  </a:lnTo>
                  <a:cubicBezTo>
                    <a:pt x="375" y="625"/>
                    <a:pt x="750" y="803"/>
                    <a:pt x="1053" y="1053"/>
                  </a:cubicBezTo>
                  <a:cubicBezTo>
                    <a:pt x="1303" y="1232"/>
                    <a:pt x="1446" y="1517"/>
                    <a:pt x="1446" y="1838"/>
                  </a:cubicBezTo>
                  <a:lnTo>
                    <a:pt x="1446" y="2070"/>
                  </a:lnTo>
                  <a:lnTo>
                    <a:pt x="3730" y="2070"/>
                  </a:lnTo>
                  <a:lnTo>
                    <a:pt x="3730" y="1017"/>
                  </a:lnTo>
                  <a:cubicBezTo>
                    <a:pt x="3747" y="857"/>
                    <a:pt x="3676" y="714"/>
                    <a:pt x="3533" y="607"/>
                  </a:cubicBezTo>
                  <a:cubicBezTo>
                    <a:pt x="3230" y="375"/>
                    <a:pt x="2891" y="215"/>
                    <a:pt x="2516" y="125"/>
                  </a:cubicBezTo>
                  <a:cubicBezTo>
                    <a:pt x="2249" y="36"/>
                    <a:pt x="1963" y="0"/>
                    <a:pt x="16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5"/>
            <p:cNvSpPr/>
            <p:nvPr/>
          </p:nvSpPr>
          <p:spPr>
            <a:xfrm>
              <a:off x="5262600" y="3136950"/>
              <a:ext cx="93700" cy="51775"/>
            </a:xfrm>
            <a:custGeom>
              <a:rect b="b" l="l" r="r" t="t"/>
              <a:pathLst>
                <a:path extrusionOk="0" h="2071" w="3748">
                  <a:moveTo>
                    <a:pt x="2070" y="0"/>
                  </a:moveTo>
                  <a:cubicBezTo>
                    <a:pt x="1767" y="0"/>
                    <a:pt x="1482" y="36"/>
                    <a:pt x="1214" y="125"/>
                  </a:cubicBezTo>
                  <a:cubicBezTo>
                    <a:pt x="857" y="232"/>
                    <a:pt x="500" y="393"/>
                    <a:pt x="197" y="607"/>
                  </a:cubicBezTo>
                  <a:cubicBezTo>
                    <a:pt x="72" y="714"/>
                    <a:pt x="1" y="875"/>
                    <a:pt x="1" y="1017"/>
                  </a:cubicBezTo>
                  <a:lnTo>
                    <a:pt x="1" y="2070"/>
                  </a:lnTo>
                  <a:lnTo>
                    <a:pt x="2284" y="2070"/>
                  </a:lnTo>
                  <a:lnTo>
                    <a:pt x="2284" y="1838"/>
                  </a:lnTo>
                  <a:cubicBezTo>
                    <a:pt x="2284" y="1535"/>
                    <a:pt x="2427" y="1249"/>
                    <a:pt x="2659" y="1071"/>
                  </a:cubicBezTo>
                  <a:lnTo>
                    <a:pt x="2677" y="1053"/>
                  </a:lnTo>
                  <a:lnTo>
                    <a:pt x="2695" y="1035"/>
                  </a:lnTo>
                  <a:cubicBezTo>
                    <a:pt x="3016" y="803"/>
                    <a:pt x="3373" y="643"/>
                    <a:pt x="3748" y="518"/>
                  </a:cubicBezTo>
                  <a:cubicBezTo>
                    <a:pt x="3712" y="500"/>
                    <a:pt x="3694" y="464"/>
                    <a:pt x="3676" y="429"/>
                  </a:cubicBezTo>
                  <a:cubicBezTo>
                    <a:pt x="3426" y="286"/>
                    <a:pt x="3177" y="197"/>
                    <a:pt x="2909" y="125"/>
                  </a:cubicBezTo>
                  <a:cubicBezTo>
                    <a:pt x="2641" y="36"/>
                    <a:pt x="2356" y="0"/>
                    <a:pt x="20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a:off x="5331300" y="3157025"/>
              <a:ext cx="103500" cy="51325"/>
            </a:xfrm>
            <a:custGeom>
              <a:rect b="b" l="l" r="r" t="t"/>
              <a:pathLst>
                <a:path extrusionOk="0" h="2053" w="4140">
                  <a:moveTo>
                    <a:pt x="2070" y="0"/>
                  </a:moveTo>
                  <a:cubicBezTo>
                    <a:pt x="1785" y="0"/>
                    <a:pt x="1499" y="36"/>
                    <a:pt x="1214" y="125"/>
                  </a:cubicBezTo>
                  <a:cubicBezTo>
                    <a:pt x="857" y="232"/>
                    <a:pt x="518" y="393"/>
                    <a:pt x="214" y="607"/>
                  </a:cubicBezTo>
                  <a:cubicBezTo>
                    <a:pt x="90" y="714"/>
                    <a:pt x="0" y="857"/>
                    <a:pt x="0" y="1035"/>
                  </a:cubicBezTo>
                  <a:lnTo>
                    <a:pt x="0" y="2052"/>
                  </a:lnTo>
                  <a:lnTo>
                    <a:pt x="4140" y="2052"/>
                  </a:lnTo>
                  <a:lnTo>
                    <a:pt x="4140" y="1035"/>
                  </a:lnTo>
                  <a:cubicBezTo>
                    <a:pt x="4140" y="857"/>
                    <a:pt x="4068" y="714"/>
                    <a:pt x="3944" y="607"/>
                  </a:cubicBezTo>
                  <a:cubicBezTo>
                    <a:pt x="3640" y="375"/>
                    <a:pt x="3283" y="214"/>
                    <a:pt x="2927" y="125"/>
                  </a:cubicBezTo>
                  <a:cubicBezTo>
                    <a:pt x="2641" y="54"/>
                    <a:pt x="2356" y="0"/>
                    <a:pt x="20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
            <p:cNvSpPr/>
            <p:nvPr/>
          </p:nvSpPr>
          <p:spPr>
            <a:xfrm>
              <a:off x="5357175" y="3098150"/>
              <a:ext cx="51750" cy="51750"/>
            </a:xfrm>
            <a:custGeom>
              <a:rect b="b" l="l" r="r" t="t"/>
              <a:pathLst>
                <a:path extrusionOk="0" h="2070" w="2070">
                  <a:moveTo>
                    <a:pt x="1035" y="0"/>
                  </a:moveTo>
                  <a:cubicBezTo>
                    <a:pt x="464" y="0"/>
                    <a:pt x="0" y="464"/>
                    <a:pt x="0" y="1035"/>
                  </a:cubicBezTo>
                  <a:cubicBezTo>
                    <a:pt x="0" y="1606"/>
                    <a:pt x="464" y="2070"/>
                    <a:pt x="1035" y="2070"/>
                  </a:cubicBezTo>
                  <a:cubicBezTo>
                    <a:pt x="1606" y="2070"/>
                    <a:pt x="2070" y="1606"/>
                    <a:pt x="2070" y="1035"/>
                  </a:cubicBezTo>
                  <a:cubicBezTo>
                    <a:pt x="2070" y="464"/>
                    <a:pt x="1606" y="0"/>
                    <a:pt x="1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5"/>
            <p:cNvSpPr/>
            <p:nvPr/>
          </p:nvSpPr>
          <p:spPr>
            <a:xfrm>
              <a:off x="5262600" y="2942475"/>
              <a:ext cx="241800" cy="119550"/>
            </a:xfrm>
            <a:custGeom>
              <a:rect b="b" l="l" r="r" t="t"/>
              <a:pathLst>
                <a:path extrusionOk="0" h="4782" w="9672">
                  <a:moveTo>
                    <a:pt x="7548" y="1195"/>
                  </a:moveTo>
                  <a:lnTo>
                    <a:pt x="7548" y="1463"/>
                  </a:lnTo>
                  <a:lnTo>
                    <a:pt x="1321" y="1463"/>
                  </a:lnTo>
                  <a:lnTo>
                    <a:pt x="1321" y="1195"/>
                  </a:lnTo>
                  <a:close/>
                  <a:moveTo>
                    <a:pt x="8333" y="1856"/>
                  </a:moveTo>
                  <a:lnTo>
                    <a:pt x="8333" y="2123"/>
                  </a:lnTo>
                  <a:lnTo>
                    <a:pt x="1321" y="2123"/>
                  </a:lnTo>
                  <a:lnTo>
                    <a:pt x="1321" y="1856"/>
                  </a:lnTo>
                  <a:close/>
                  <a:moveTo>
                    <a:pt x="6210" y="2534"/>
                  </a:moveTo>
                  <a:lnTo>
                    <a:pt x="6210" y="2783"/>
                  </a:lnTo>
                  <a:lnTo>
                    <a:pt x="1321" y="2783"/>
                  </a:lnTo>
                  <a:lnTo>
                    <a:pt x="1321" y="2534"/>
                  </a:lnTo>
                  <a:close/>
                  <a:moveTo>
                    <a:pt x="536" y="0"/>
                  </a:moveTo>
                  <a:cubicBezTo>
                    <a:pt x="233" y="0"/>
                    <a:pt x="1" y="232"/>
                    <a:pt x="1" y="535"/>
                  </a:cubicBezTo>
                  <a:lnTo>
                    <a:pt x="1" y="3461"/>
                  </a:lnTo>
                  <a:cubicBezTo>
                    <a:pt x="1" y="3765"/>
                    <a:pt x="233" y="3997"/>
                    <a:pt x="536" y="3997"/>
                  </a:cubicBezTo>
                  <a:lnTo>
                    <a:pt x="2481" y="3997"/>
                  </a:lnTo>
                  <a:lnTo>
                    <a:pt x="2481" y="4782"/>
                  </a:lnTo>
                  <a:lnTo>
                    <a:pt x="3319" y="3997"/>
                  </a:lnTo>
                  <a:lnTo>
                    <a:pt x="4229" y="3997"/>
                  </a:lnTo>
                  <a:lnTo>
                    <a:pt x="4747" y="4782"/>
                  </a:lnTo>
                  <a:lnTo>
                    <a:pt x="5228" y="3997"/>
                  </a:lnTo>
                  <a:lnTo>
                    <a:pt x="6174" y="3997"/>
                  </a:lnTo>
                  <a:lnTo>
                    <a:pt x="7013" y="4782"/>
                  </a:lnTo>
                  <a:lnTo>
                    <a:pt x="7013" y="3997"/>
                  </a:lnTo>
                  <a:lnTo>
                    <a:pt x="9136" y="3997"/>
                  </a:lnTo>
                  <a:cubicBezTo>
                    <a:pt x="9439" y="3997"/>
                    <a:pt x="9671" y="3765"/>
                    <a:pt x="9671" y="3461"/>
                  </a:cubicBezTo>
                  <a:lnTo>
                    <a:pt x="9671" y="535"/>
                  </a:lnTo>
                  <a:cubicBezTo>
                    <a:pt x="9671" y="232"/>
                    <a:pt x="9439" y="0"/>
                    <a:pt x="91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 name="Google Shape;241;p25"/>
          <p:cNvGrpSpPr/>
          <p:nvPr/>
        </p:nvGrpSpPr>
        <p:grpSpPr>
          <a:xfrm>
            <a:off x="9040334" y="2059177"/>
            <a:ext cx="843955" cy="846286"/>
            <a:chOff x="5697075" y="2950500"/>
            <a:chExt cx="241800" cy="248025"/>
          </a:xfrm>
        </p:grpSpPr>
        <p:sp>
          <p:nvSpPr>
            <p:cNvPr id="242" name="Google Shape;242;p25"/>
            <p:cNvSpPr/>
            <p:nvPr/>
          </p:nvSpPr>
          <p:spPr>
            <a:xfrm>
              <a:off x="5798325" y="3045950"/>
              <a:ext cx="39275" cy="9850"/>
            </a:xfrm>
            <a:custGeom>
              <a:rect b="b" l="l" r="r" t="t"/>
              <a:pathLst>
                <a:path extrusionOk="0" h="394" w="1571">
                  <a:moveTo>
                    <a:pt x="197" y="1"/>
                  </a:moveTo>
                  <a:cubicBezTo>
                    <a:pt x="90" y="1"/>
                    <a:pt x="1" y="90"/>
                    <a:pt x="1" y="197"/>
                  </a:cubicBezTo>
                  <a:cubicBezTo>
                    <a:pt x="1" y="304"/>
                    <a:pt x="90" y="393"/>
                    <a:pt x="197" y="393"/>
                  </a:cubicBezTo>
                  <a:lnTo>
                    <a:pt x="1374" y="393"/>
                  </a:lnTo>
                  <a:cubicBezTo>
                    <a:pt x="1482" y="393"/>
                    <a:pt x="1571" y="304"/>
                    <a:pt x="1571" y="197"/>
                  </a:cubicBezTo>
                  <a:cubicBezTo>
                    <a:pt x="1571" y="90"/>
                    <a:pt x="1482" y="1"/>
                    <a:pt x="137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a:off x="5807250" y="3062000"/>
              <a:ext cx="21425" cy="10300"/>
            </a:xfrm>
            <a:custGeom>
              <a:rect b="b" l="l" r="r" t="t"/>
              <a:pathLst>
                <a:path extrusionOk="0" h="412" w="857">
                  <a:moveTo>
                    <a:pt x="0" y="1"/>
                  </a:moveTo>
                  <a:cubicBezTo>
                    <a:pt x="18" y="233"/>
                    <a:pt x="215" y="411"/>
                    <a:pt x="429" y="411"/>
                  </a:cubicBezTo>
                  <a:cubicBezTo>
                    <a:pt x="661" y="411"/>
                    <a:pt x="839" y="233"/>
                    <a:pt x="85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
            <p:cNvSpPr/>
            <p:nvPr/>
          </p:nvSpPr>
          <p:spPr>
            <a:xfrm>
              <a:off x="5775575" y="2950500"/>
              <a:ext cx="85225" cy="88775"/>
            </a:xfrm>
            <a:custGeom>
              <a:rect b="b" l="l" r="r" t="t"/>
              <a:pathLst>
                <a:path extrusionOk="0" h="3551" w="3409">
                  <a:moveTo>
                    <a:pt x="1696" y="393"/>
                  </a:moveTo>
                  <a:cubicBezTo>
                    <a:pt x="2409" y="393"/>
                    <a:pt x="2998" y="982"/>
                    <a:pt x="2998" y="1695"/>
                  </a:cubicBezTo>
                  <a:lnTo>
                    <a:pt x="2998" y="1731"/>
                  </a:lnTo>
                  <a:cubicBezTo>
                    <a:pt x="2998" y="1892"/>
                    <a:pt x="2963" y="2052"/>
                    <a:pt x="2909" y="2195"/>
                  </a:cubicBezTo>
                  <a:cubicBezTo>
                    <a:pt x="2855" y="2338"/>
                    <a:pt x="2784" y="2445"/>
                    <a:pt x="2677" y="2552"/>
                  </a:cubicBezTo>
                  <a:cubicBezTo>
                    <a:pt x="2534" y="2730"/>
                    <a:pt x="2409" y="2926"/>
                    <a:pt x="2320" y="3140"/>
                  </a:cubicBezTo>
                  <a:lnTo>
                    <a:pt x="1089" y="3140"/>
                  </a:lnTo>
                  <a:cubicBezTo>
                    <a:pt x="982" y="2926"/>
                    <a:pt x="857" y="2730"/>
                    <a:pt x="696" y="2552"/>
                  </a:cubicBezTo>
                  <a:cubicBezTo>
                    <a:pt x="607" y="2445"/>
                    <a:pt x="536" y="2338"/>
                    <a:pt x="482" y="2195"/>
                  </a:cubicBezTo>
                  <a:cubicBezTo>
                    <a:pt x="429" y="2052"/>
                    <a:pt x="393" y="1892"/>
                    <a:pt x="393" y="1731"/>
                  </a:cubicBezTo>
                  <a:lnTo>
                    <a:pt x="393" y="1695"/>
                  </a:lnTo>
                  <a:cubicBezTo>
                    <a:pt x="393" y="982"/>
                    <a:pt x="982" y="393"/>
                    <a:pt x="1696" y="393"/>
                  </a:cubicBezTo>
                  <a:close/>
                  <a:moveTo>
                    <a:pt x="1696" y="0"/>
                  </a:moveTo>
                  <a:cubicBezTo>
                    <a:pt x="768" y="0"/>
                    <a:pt x="18" y="750"/>
                    <a:pt x="1" y="1695"/>
                  </a:cubicBezTo>
                  <a:lnTo>
                    <a:pt x="1" y="1749"/>
                  </a:lnTo>
                  <a:cubicBezTo>
                    <a:pt x="1" y="1945"/>
                    <a:pt x="36" y="2159"/>
                    <a:pt x="126" y="2338"/>
                  </a:cubicBezTo>
                  <a:cubicBezTo>
                    <a:pt x="179" y="2516"/>
                    <a:pt x="286" y="2694"/>
                    <a:pt x="411" y="2837"/>
                  </a:cubicBezTo>
                  <a:cubicBezTo>
                    <a:pt x="572" y="3033"/>
                    <a:pt x="696" y="3248"/>
                    <a:pt x="804" y="3462"/>
                  </a:cubicBezTo>
                  <a:cubicBezTo>
                    <a:pt x="839" y="3515"/>
                    <a:pt x="875" y="3551"/>
                    <a:pt x="928" y="3551"/>
                  </a:cubicBezTo>
                  <a:lnTo>
                    <a:pt x="2463" y="3551"/>
                  </a:lnTo>
                  <a:cubicBezTo>
                    <a:pt x="2516" y="3551"/>
                    <a:pt x="2570" y="3515"/>
                    <a:pt x="2588" y="3462"/>
                  </a:cubicBezTo>
                  <a:cubicBezTo>
                    <a:pt x="2695" y="3248"/>
                    <a:pt x="2820" y="3033"/>
                    <a:pt x="2980" y="2837"/>
                  </a:cubicBezTo>
                  <a:cubicBezTo>
                    <a:pt x="3105" y="2694"/>
                    <a:pt x="3212" y="2516"/>
                    <a:pt x="3284" y="2338"/>
                  </a:cubicBezTo>
                  <a:cubicBezTo>
                    <a:pt x="3355" y="2159"/>
                    <a:pt x="3391" y="1963"/>
                    <a:pt x="3409" y="1749"/>
                  </a:cubicBezTo>
                  <a:lnTo>
                    <a:pt x="3409" y="1695"/>
                  </a:lnTo>
                  <a:cubicBezTo>
                    <a:pt x="3391" y="750"/>
                    <a:pt x="2624" y="0"/>
                    <a:pt x="16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5"/>
            <p:cNvSpPr/>
            <p:nvPr/>
          </p:nvSpPr>
          <p:spPr>
            <a:xfrm>
              <a:off x="5801900" y="2969225"/>
              <a:ext cx="35700" cy="49550"/>
            </a:xfrm>
            <a:custGeom>
              <a:rect b="b" l="l" r="r" t="t"/>
              <a:pathLst>
                <a:path extrusionOk="0" h="1982" w="1428">
                  <a:moveTo>
                    <a:pt x="696" y="1"/>
                  </a:moveTo>
                  <a:lnTo>
                    <a:pt x="0" y="1374"/>
                  </a:lnTo>
                  <a:lnTo>
                    <a:pt x="696" y="1214"/>
                  </a:lnTo>
                  <a:lnTo>
                    <a:pt x="696" y="1981"/>
                  </a:lnTo>
                  <a:lnTo>
                    <a:pt x="1428" y="643"/>
                  </a:lnTo>
                  <a:lnTo>
                    <a:pt x="696" y="786"/>
                  </a:lnTo>
                  <a:lnTo>
                    <a:pt x="69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5"/>
            <p:cNvSpPr/>
            <p:nvPr/>
          </p:nvSpPr>
          <p:spPr>
            <a:xfrm>
              <a:off x="5860775" y="3067800"/>
              <a:ext cx="51775" cy="51775"/>
            </a:xfrm>
            <a:custGeom>
              <a:rect b="b" l="l" r="r" t="t"/>
              <a:pathLst>
                <a:path extrusionOk="0" h="2071" w="2071">
                  <a:moveTo>
                    <a:pt x="1035" y="1"/>
                  </a:moveTo>
                  <a:cubicBezTo>
                    <a:pt x="482" y="1"/>
                    <a:pt x="1" y="465"/>
                    <a:pt x="1" y="1054"/>
                  </a:cubicBezTo>
                  <a:cubicBezTo>
                    <a:pt x="1" y="1624"/>
                    <a:pt x="482" y="2071"/>
                    <a:pt x="1035" y="2071"/>
                  </a:cubicBezTo>
                  <a:cubicBezTo>
                    <a:pt x="1606" y="2071"/>
                    <a:pt x="2070" y="1624"/>
                    <a:pt x="2070" y="1054"/>
                  </a:cubicBezTo>
                  <a:cubicBezTo>
                    <a:pt x="2070" y="465"/>
                    <a:pt x="1606" y="1"/>
                    <a:pt x="10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5"/>
            <p:cNvSpPr/>
            <p:nvPr/>
          </p:nvSpPr>
          <p:spPr>
            <a:xfrm>
              <a:off x="5722950" y="3067800"/>
              <a:ext cx="51750" cy="51775"/>
            </a:xfrm>
            <a:custGeom>
              <a:rect b="b" l="l" r="r" t="t"/>
              <a:pathLst>
                <a:path extrusionOk="0" h="2071" w="2070">
                  <a:moveTo>
                    <a:pt x="1035" y="1"/>
                  </a:moveTo>
                  <a:cubicBezTo>
                    <a:pt x="464" y="1"/>
                    <a:pt x="0" y="465"/>
                    <a:pt x="0" y="1054"/>
                  </a:cubicBezTo>
                  <a:cubicBezTo>
                    <a:pt x="0" y="1624"/>
                    <a:pt x="464" y="2071"/>
                    <a:pt x="1035" y="2071"/>
                  </a:cubicBezTo>
                  <a:cubicBezTo>
                    <a:pt x="1606" y="2071"/>
                    <a:pt x="2070" y="1624"/>
                    <a:pt x="2070" y="1054"/>
                  </a:cubicBezTo>
                  <a:cubicBezTo>
                    <a:pt x="2070" y="465"/>
                    <a:pt x="1606" y="1"/>
                    <a:pt x="10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5"/>
            <p:cNvSpPr/>
            <p:nvPr/>
          </p:nvSpPr>
          <p:spPr>
            <a:xfrm>
              <a:off x="5844725" y="3126700"/>
              <a:ext cx="94150" cy="51750"/>
            </a:xfrm>
            <a:custGeom>
              <a:rect b="b" l="l" r="r" t="t"/>
              <a:pathLst>
                <a:path extrusionOk="0" h="2070" w="3766">
                  <a:moveTo>
                    <a:pt x="1677" y="0"/>
                  </a:moveTo>
                  <a:cubicBezTo>
                    <a:pt x="1392" y="0"/>
                    <a:pt x="1106" y="54"/>
                    <a:pt x="839" y="143"/>
                  </a:cubicBezTo>
                  <a:cubicBezTo>
                    <a:pt x="553" y="214"/>
                    <a:pt x="286" y="321"/>
                    <a:pt x="54" y="482"/>
                  </a:cubicBezTo>
                  <a:cubicBezTo>
                    <a:pt x="36" y="500"/>
                    <a:pt x="18" y="517"/>
                    <a:pt x="0" y="535"/>
                  </a:cubicBezTo>
                  <a:cubicBezTo>
                    <a:pt x="393" y="642"/>
                    <a:pt x="750" y="803"/>
                    <a:pt x="1071" y="1053"/>
                  </a:cubicBezTo>
                  <a:cubicBezTo>
                    <a:pt x="1321" y="1249"/>
                    <a:pt x="1463" y="1534"/>
                    <a:pt x="1463" y="1838"/>
                  </a:cubicBezTo>
                  <a:lnTo>
                    <a:pt x="1463" y="2070"/>
                  </a:lnTo>
                  <a:lnTo>
                    <a:pt x="3747" y="2070"/>
                  </a:lnTo>
                  <a:lnTo>
                    <a:pt x="3747" y="1035"/>
                  </a:lnTo>
                  <a:cubicBezTo>
                    <a:pt x="3765" y="874"/>
                    <a:pt x="3676" y="714"/>
                    <a:pt x="3533" y="625"/>
                  </a:cubicBezTo>
                  <a:cubicBezTo>
                    <a:pt x="3248" y="393"/>
                    <a:pt x="2909" y="232"/>
                    <a:pt x="2534" y="143"/>
                  </a:cubicBezTo>
                  <a:cubicBezTo>
                    <a:pt x="2266" y="54"/>
                    <a:pt x="1963" y="18"/>
                    <a:pt x="16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p:nvPr/>
          </p:nvSpPr>
          <p:spPr>
            <a:xfrm>
              <a:off x="5697075" y="3126700"/>
              <a:ext cx="94150" cy="51750"/>
            </a:xfrm>
            <a:custGeom>
              <a:rect b="b" l="l" r="r" t="t"/>
              <a:pathLst>
                <a:path extrusionOk="0" h="2070" w="3766">
                  <a:moveTo>
                    <a:pt x="2070" y="0"/>
                  </a:moveTo>
                  <a:cubicBezTo>
                    <a:pt x="1785" y="0"/>
                    <a:pt x="1499" y="54"/>
                    <a:pt x="1231" y="143"/>
                  </a:cubicBezTo>
                  <a:cubicBezTo>
                    <a:pt x="875" y="232"/>
                    <a:pt x="518" y="410"/>
                    <a:pt x="214" y="625"/>
                  </a:cubicBezTo>
                  <a:cubicBezTo>
                    <a:pt x="90" y="714"/>
                    <a:pt x="18" y="874"/>
                    <a:pt x="0" y="1035"/>
                  </a:cubicBezTo>
                  <a:lnTo>
                    <a:pt x="0" y="2070"/>
                  </a:lnTo>
                  <a:lnTo>
                    <a:pt x="2302" y="2070"/>
                  </a:lnTo>
                  <a:lnTo>
                    <a:pt x="2302" y="1838"/>
                  </a:lnTo>
                  <a:cubicBezTo>
                    <a:pt x="2302" y="1552"/>
                    <a:pt x="2445" y="1267"/>
                    <a:pt x="2677" y="1071"/>
                  </a:cubicBezTo>
                  <a:lnTo>
                    <a:pt x="2695" y="1053"/>
                  </a:lnTo>
                  <a:lnTo>
                    <a:pt x="2712" y="1053"/>
                  </a:lnTo>
                  <a:cubicBezTo>
                    <a:pt x="3034" y="821"/>
                    <a:pt x="3390" y="642"/>
                    <a:pt x="3765" y="535"/>
                  </a:cubicBezTo>
                  <a:cubicBezTo>
                    <a:pt x="3729" y="500"/>
                    <a:pt x="3712" y="464"/>
                    <a:pt x="3676" y="446"/>
                  </a:cubicBezTo>
                  <a:cubicBezTo>
                    <a:pt x="3444" y="303"/>
                    <a:pt x="3194" y="196"/>
                    <a:pt x="2927" y="143"/>
                  </a:cubicBezTo>
                  <a:cubicBezTo>
                    <a:pt x="2659" y="54"/>
                    <a:pt x="2373" y="18"/>
                    <a:pt x="20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p:nvPr/>
          </p:nvSpPr>
          <p:spPr>
            <a:xfrm>
              <a:off x="5766200" y="3146750"/>
              <a:ext cx="103525" cy="51775"/>
            </a:xfrm>
            <a:custGeom>
              <a:rect b="b" l="l" r="r" t="t"/>
              <a:pathLst>
                <a:path extrusionOk="0" h="2071" w="4141">
                  <a:moveTo>
                    <a:pt x="2071" y="1"/>
                  </a:moveTo>
                  <a:cubicBezTo>
                    <a:pt x="1785" y="1"/>
                    <a:pt x="1482" y="54"/>
                    <a:pt x="1214" y="144"/>
                  </a:cubicBezTo>
                  <a:cubicBezTo>
                    <a:pt x="857" y="251"/>
                    <a:pt x="518" y="411"/>
                    <a:pt x="197" y="625"/>
                  </a:cubicBezTo>
                  <a:cubicBezTo>
                    <a:pt x="72" y="732"/>
                    <a:pt x="1" y="875"/>
                    <a:pt x="1" y="1036"/>
                  </a:cubicBezTo>
                  <a:lnTo>
                    <a:pt x="1" y="2071"/>
                  </a:lnTo>
                  <a:lnTo>
                    <a:pt x="4140" y="2071"/>
                  </a:lnTo>
                  <a:lnTo>
                    <a:pt x="4140" y="1036"/>
                  </a:lnTo>
                  <a:cubicBezTo>
                    <a:pt x="4140" y="875"/>
                    <a:pt x="4069" y="732"/>
                    <a:pt x="3926" y="625"/>
                  </a:cubicBezTo>
                  <a:cubicBezTo>
                    <a:pt x="3641" y="393"/>
                    <a:pt x="3284" y="233"/>
                    <a:pt x="2927" y="144"/>
                  </a:cubicBezTo>
                  <a:cubicBezTo>
                    <a:pt x="2642" y="54"/>
                    <a:pt x="2356" y="19"/>
                    <a:pt x="20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5"/>
            <p:cNvSpPr/>
            <p:nvPr/>
          </p:nvSpPr>
          <p:spPr>
            <a:xfrm>
              <a:off x="5792075" y="3088325"/>
              <a:ext cx="51775" cy="51775"/>
            </a:xfrm>
            <a:custGeom>
              <a:rect b="b" l="l" r="r" t="t"/>
              <a:pathLst>
                <a:path extrusionOk="0" h="2071" w="2071">
                  <a:moveTo>
                    <a:pt x="1036" y="1"/>
                  </a:moveTo>
                  <a:cubicBezTo>
                    <a:pt x="465" y="1"/>
                    <a:pt x="1" y="464"/>
                    <a:pt x="1" y="1035"/>
                  </a:cubicBezTo>
                  <a:cubicBezTo>
                    <a:pt x="1" y="1606"/>
                    <a:pt x="465" y="2070"/>
                    <a:pt x="1036" y="2070"/>
                  </a:cubicBezTo>
                  <a:cubicBezTo>
                    <a:pt x="1607" y="2070"/>
                    <a:pt x="2071" y="1606"/>
                    <a:pt x="2071" y="1035"/>
                  </a:cubicBezTo>
                  <a:cubicBezTo>
                    <a:pt x="2071" y="464"/>
                    <a:pt x="1607" y="1"/>
                    <a:pt x="10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 name="Google Shape;252;p25"/>
          <p:cNvGrpSpPr/>
          <p:nvPr/>
        </p:nvGrpSpPr>
        <p:grpSpPr>
          <a:xfrm>
            <a:off x="4327449" y="1952533"/>
            <a:ext cx="823711" cy="907192"/>
            <a:chOff x="6491950" y="2942475"/>
            <a:chExt cx="236000" cy="265875"/>
          </a:xfrm>
        </p:grpSpPr>
        <p:sp>
          <p:nvSpPr>
            <p:cNvPr id="253" name="Google Shape;253;p25"/>
            <p:cNvSpPr/>
            <p:nvPr/>
          </p:nvSpPr>
          <p:spPr>
            <a:xfrm>
              <a:off x="6521850" y="3034350"/>
              <a:ext cx="59800" cy="59800"/>
            </a:xfrm>
            <a:custGeom>
              <a:rect b="b" l="l" r="r" t="t"/>
              <a:pathLst>
                <a:path extrusionOk="0" h="2392" w="2392">
                  <a:moveTo>
                    <a:pt x="1196" y="1"/>
                  </a:moveTo>
                  <a:cubicBezTo>
                    <a:pt x="536" y="1"/>
                    <a:pt x="0" y="536"/>
                    <a:pt x="0" y="1196"/>
                  </a:cubicBezTo>
                  <a:cubicBezTo>
                    <a:pt x="0" y="1856"/>
                    <a:pt x="536" y="2392"/>
                    <a:pt x="1196" y="2392"/>
                  </a:cubicBezTo>
                  <a:cubicBezTo>
                    <a:pt x="1874" y="2392"/>
                    <a:pt x="2391" y="1856"/>
                    <a:pt x="2391" y="1196"/>
                  </a:cubicBezTo>
                  <a:cubicBezTo>
                    <a:pt x="2391" y="536"/>
                    <a:pt x="1874" y="1"/>
                    <a:pt x="11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5"/>
            <p:cNvSpPr/>
            <p:nvPr/>
          </p:nvSpPr>
          <p:spPr>
            <a:xfrm>
              <a:off x="6571800" y="3148550"/>
              <a:ext cx="120025" cy="59800"/>
            </a:xfrm>
            <a:custGeom>
              <a:rect b="b" l="l" r="r" t="t"/>
              <a:pathLst>
                <a:path extrusionOk="0" h="2392" w="4801">
                  <a:moveTo>
                    <a:pt x="2392" y="0"/>
                  </a:moveTo>
                  <a:cubicBezTo>
                    <a:pt x="2053" y="18"/>
                    <a:pt x="1732" y="54"/>
                    <a:pt x="1410" y="179"/>
                  </a:cubicBezTo>
                  <a:cubicBezTo>
                    <a:pt x="1000" y="286"/>
                    <a:pt x="590" y="464"/>
                    <a:pt x="233" y="732"/>
                  </a:cubicBezTo>
                  <a:cubicBezTo>
                    <a:pt x="90" y="839"/>
                    <a:pt x="1" y="1017"/>
                    <a:pt x="1" y="1196"/>
                  </a:cubicBezTo>
                  <a:lnTo>
                    <a:pt x="1" y="2391"/>
                  </a:lnTo>
                  <a:lnTo>
                    <a:pt x="4783" y="2391"/>
                  </a:lnTo>
                  <a:lnTo>
                    <a:pt x="4783" y="1196"/>
                  </a:lnTo>
                  <a:cubicBezTo>
                    <a:pt x="4800" y="1017"/>
                    <a:pt x="4711" y="839"/>
                    <a:pt x="4551" y="732"/>
                  </a:cubicBezTo>
                  <a:cubicBezTo>
                    <a:pt x="4212" y="446"/>
                    <a:pt x="3801" y="268"/>
                    <a:pt x="3373" y="179"/>
                  </a:cubicBezTo>
                  <a:cubicBezTo>
                    <a:pt x="3052" y="72"/>
                    <a:pt x="2731" y="18"/>
                    <a:pt x="239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5"/>
            <p:cNvSpPr/>
            <p:nvPr/>
          </p:nvSpPr>
          <p:spPr>
            <a:xfrm>
              <a:off x="6601700" y="3080750"/>
              <a:ext cx="59800" cy="60225"/>
            </a:xfrm>
            <a:custGeom>
              <a:rect b="b" l="l" r="r" t="t"/>
              <a:pathLst>
                <a:path extrusionOk="0" h="2409" w="2392">
                  <a:moveTo>
                    <a:pt x="1196" y="0"/>
                  </a:moveTo>
                  <a:cubicBezTo>
                    <a:pt x="536" y="0"/>
                    <a:pt x="0" y="553"/>
                    <a:pt x="0" y="1196"/>
                  </a:cubicBezTo>
                  <a:cubicBezTo>
                    <a:pt x="0" y="1874"/>
                    <a:pt x="536" y="2409"/>
                    <a:pt x="1196" y="2409"/>
                  </a:cubicBezTo>
                  <a:cubicBezTo>
                    <a:pt x="1856" y="2409"/>
                    <a:pt x="2391" y="1874"/>
                    <a:pt x="2391" y="1196"/>
                  </a:cubicBezTo>
                  <a:cubicBezTo>
                    <a:pt x="2391" y="553"/>
                    <a:pt x="1856" y="0"/>
                    <a:pt x="11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5"/>
            <p:cNvSpPr/>
            <p:nvPr/>
          </p:nvSpPr>
          <p:spPr>
            <a:xfrm>
              <a:off x="6491950" y="3102150"/>
              <a:ext cx="108425" cy="59800"/>
            </a:xfrm>
            <a:custGeom>
              <a:rect b="b" l="l" r="r" t="t"/>
              <a:pathLst>
                <a:path extrusionOk="0" h="2392" w="4337">
                  <a:moveTo>
                    <a:pt x="2392" y="1"/>
                  </a:moveTo>
                  <a:cubicBezTo>
                    <a:pt x="2071" y="1"/>
                    <a:pt x="1732" y="54"/>
                    <a:pt x="1410" y="161"/>
                  </a:cubicBezTo>
                  <a:cubicBezTo>
                    <a:pt x="1000" y="286"/>
                    <a:pt x="608" y="482"/>
                    <a:pt x="251" y="714"/>
                  </a:cubicBezTo>
                  <a:cubicBezTo>
                    <a:pt x="90" y="821"/>
                    <a:pt x="1" y="1018"/>
                    <a:pt x="1" y="1196"/>
                  </a:cubicBezTo>
                  <a:lnTo>
                    <a:pt x="1" y="2392"/>
                  </a:lnTo>
                  <a:lnTo>
                    <a:pt x="2874" y="2392"/>
                  </a:lnTo>
                  <a:cubicBezTo>
                    <a:pt x="2945" y="2302"/>
                    <a:pt x="3034" y="2231"/>
                    <a:pt x="3123" y="2160"/>
                  </a:cubicBezTo>
                  <a:cubicBezTo>
                    <a:pt x="3498" y="1892"/>
                    <a:pt x="3908" y="1678"/>
                    <a:pt x="4337" y="1553"/>
                  </a:cubicBezTo>
                  <a:cubicBezTo>
                    <a:pt x="4033" y="1232"/>
                    <a:pt x="3873" y="804"/>
                    <a:pt x="3855" y="375"/>
                  </a:cubicBezTo>
                  <a:lnTo>
                    <a:pt x="3855" y="322"/>
                  </a:lnTo>
                  <a:cubicBezTo>
                    <a:pt x="3712" y="250"/>
                    <a:pt x="3552" y="197"/>
                    <a:pt x="3391" y="161"/>
                  </a:cubicBezTo>
                  <a:cubicBezTo>
                    <a:pt x="3070" y="72"/>
                    <a:pt x="2731" y="19"/>
                    <a:pt x="23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5"/>
            <p:cNvSpPr/>
            <p:nvPr/>
          </p:nvSpPr>
          <p:spPr>
            <a:xfrm>
              <a:off x="6588300" y="2942475"/>
              <a:ext cx="139650" cy="128025"/>
            </a:xfrm>
            <a:custGeom>
              <a:rect b="b" l="l" r="r" t="t"/>
              <a:pathLst>
                <a:path extrusionOk="0" h="5121" w="5586">
                  <a:moveTo>
                    <a:pt x="2767" y="500"/>
                  </a:moveTo>
                  <a:cubicBezTo>
                    <a:pt x="3284" y="500"/>
                    <a:pt x="3677" y="892"/>
                    <a:pt x="3694" y="1410"/>
                  </a:cubicBezTo>
                  <a:lnTo>
                    <a:pt x="3694" y="1427"/>
                  </a:lnTo>
                  <a:cubicBezTo>
                    <a:pt x="3712" y="1856"/>
                    <a:pt x="3391" y="2230"/>
                    <a:pt x="2963" y="2284"/>
                  </a:cubicBezTo>
                  <a:lnTo>
                    <a:pt x="2963" y="2694"/>
                  </a:lnTo>
                  <a:lnTo>
                    <a:pt x="2588" y="2694"/>
                  </a:lnTo>
                  <a:lnTo>
                    <a:pt x="2588" y="1909"/>
                  </a:lnTo>
                  <a:lnTo>
                    <a:pt x="2767" y="1909"/>
                  </a:lnTo>
                  <a:cubicBezTo>
                    <a:pt x="3106" y="1909"/>
                    <a:pt x="3320" y="1713"/>
                    <a:pt x="3320" y="1427"/>
                  </a:cubicBezTo>
                  <a:cubicBezTo>
                    <a:pt x="3320" y="1124"/>
                    <a:pt x="3088" y="892"/>
                    <a:pt x="2802" y="874"/>
                  </a:cubicBezTo>
                  <a:lnTo>
                    <a:pt x="2767" y="874"/>
                  </a:lnTo>
                  <a:cubicBezTo>
                    <a:pt x="2755" y="874"/>
                    <a:pt x="2744" y="873"/>
                    <a:pt x="2733" y="873"/>
                  </a:cubicBezTo>
                  <a:cubicBezTo>
                    <a:pt x="2478" y="873"/>
                    <a:pt x="2248" y="1064"/>
                    <a:pt x="2231" y="1320"/>
                  </a:cubicBezTo>
                  <a:lnTo>
                    <a:pt x="2231" y="1427"/>
                  </a:lnTo>
                  <a:lnTo>
                    <a:pt x="2231" y="1445"/>
                  </a:lnTo>
                  <a:lnTo>
                    <a:pt x="1857" y="1445"/>
                  </a:lnTo>
                  <a:lnTo>
                    <a:pt x="1857" y="1427"/>
                  </a:lnTo>
                  <a:cubicBezTo>
                    <a:pt x="1821" y="946"/>
                    <a:pt x="2196" y="535"/>
                    <a:pt x="2677" y="500"/>
                  </a:cubicBezTo>
                  <a:close/>
                  <a:moveTo>
                    <a:pt x="2767" y="2908"/>
                  </a:moveTo>
                  <a:cubicBezTo>
                    <a:pt x="2945" y="2908"/>
                    <a:pt x="3070" y="3033"/>
                    <a:pt x="3070" y="3194"/>
                  </a:cubicBezTo>
                  <a:cubicBezTo>
                    <a:pt x="3070" y="3354"/>
                    <a:pt x="2945" y="3497"/>
                    <a:pt x="2784" y="3497"/>
                  </a:cubicBezTo>
                  <a:lnTo>
                    <a:pt x="2767" y="3497"/>
                  </a:lnTo>
                  <a:cubicBezTo>
                    <a:pt x="2606" y="3497"/>
                    <a:pt x="2481" y="3372"/>
                    <a:pt x="2481" y="3194"/>
                  </a:cubicBezTo>
                  <a:cubicBezTo>
                    <a:pt x="2481" y="3033"/>
                    <a:pt x="2606" y="2908"/>
                    <a:pt x="2767" y="2908"/>
                  </a:cubicBezTo>
                  <a:close/>
                  <a:moveTo>
                    <a:pt x="286" y="0"/>
                  </a:moveTo>
                  <a:cubicBezTo>
                    <a:pt x="126" y="0"/>
                    <a:pt x="1" y="125"/>
                    <a:pt x="1" y="286"/>
                  </a:cubicBezTo>
                  <a:lnTo>
                    <a:pt x="1" y="3711"/>
                  </a:lnTo>
                  <a:cubicBezTo>
                    <a:pt x="1" y="3872"/>
                    <a:pt x="126" y="3997"/>
                    <a:pt x="286" y="3997"/>
                  </a:cubicBezTo>
                  <a:lnTo>
                    <a:pt x="1089" y="3997"/>
                  </a:lnTo>
                  <a:lnTo>
                    <a:pt x="1089" y="5121"/>
                  </a:lnTo>
                  <a:lnTo>
                    <a:pt x="2178" y="3997"/>
                  </a:lnTo>
                  <a:lnTo>
                    <a:pt x="5300" y="3997"/>
                  </a:lnTo>
                  <a:cubicBezTo>
                    <a:pt x="5461" y="3997"/>
                    <a:pt x="5586" y="3872"/>
                    <a:pt x="5586" y="3711"/>
                  </a:cubicBezTo>
                  <a:lnTo>
                    <a:pt x="5586" y="286"/>
                  </a:lnTo>
                  <a:cubicBezTo>
                    <a:pt x="5586" y="125"/>
                    <a:pt x="5461" y="0"/>
                    <a:pt x="53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 name="Google Shape;258;p25"/>
          <p:cNvGrpSpPr/>
          <p:nvPr/>
        </p:nvGrpSpPr>
        <p:grpSpPr>
          <a:xfrm>
            <a:off x="2040262" y="1957823"/>
            <a:ext cx="776941" cy="896615"/>
            <a:chOff x="6896550" y="2945575"/>
            <a:chExt cx="222600" cy="262775"/>
          </a:xfrm>
        </p:grpSpPr>
        <p:sp>
          <p:nvSpPr>
            <p:cNvPr id="259" name="Google Shape;259;p25"/>
            <p:cNvSpPr/>
            <p:nvPr/>
          </p:nvSpPr>
          <p:spPr>
            <a:xfrm>
              <a:off x="6896550" y="3151225"/>
              <a:ext cx="115550" cy="57125"/>
            </a:xfrm>
            <a:custGeom>
              <a:rect b="b" l="l" r="r" t="t"/>
              <a:pathLst>
                <a:path extrusionOk="0" h="2285" w="4622">
                  <a:moveTo>
                    <a:pt x="2302" y="0"/>
                  </a:moveTo>
                  <a:cubicBezTo>
                    <a:pt x="1981" y="0"/>
                    <a:pt x="1660" y="54"/>
                    <a:pt x="1356" y="143"/>
                  </a:cubicBezTo>
                  <a:cubicBezTo>
                    <a:pt x="946" y="250"/>
                    <a:pt x="571" y="429"/>
                    <a:pt x="232" y="678"/>
                  </a:cubicBezTo>
                  <a:cubicBezTo>
                    <a:pt x="72" y="785"/>
                    <a:pt x="0" y="946"/>
                    <a:pt x="0" y="1142"/>
                  </a:cubicBezTo>
                  <a:lnTo>
                    <a:pt x="0" y="2284"/>
                  </a:lnTo>
                  <a:lnTo>
                    <a:pt x="4621" y="2284"/>
                  </a:lnTo>
                  <a:lnTo>
                    <a:pt x="4621" y="1142"/>
                  </a:lnTo>
                  <a:cubicBezTo>
                    <a:pt x="4621" y="964"/>
                    <a:pt x="4532" y="785"/>
                    <a:pt x="4372" y="678"/>
                  </a:cubicBezTo>
                  <a:cubicBezTo>
                    <a:pt x="4050" y="429"/>
                    <a:pt x="3658" y="232"/>
                    <a:pt x="3248" y="143"/>
                  </a:cubicBezTo>
                  <a:cubicBezTo>
                    <a:pt x="2944" y="54"/>
                    <a:pt x="2623" y="0"/>
                    <a:pt x="23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5"/>
            <p:cNvSpPr/>
            <p:nvPr/>
          </p:nvSpPr>
          <p:spPr>
            <a:xfrm>
              <a:off x="6925100" y="3085650"/>
              <a:ext cx="58000" cy="57575"/>
            </a:xfrm>
            <a:custGeom>
              <a:rect b="b" l="l" r="r" t="t"/>
              <a:pathLst>
                <a:path extrusionOk="0" h="2303" w="2320">
                  <a:moveTo>
                    <a:pt x="1160" y="1"/>
                  </a:moveTo>
                  <a:cubicBezTo>
                    <a:pt x="518" y="1"/>
                    <a:pt x="0" y="518"/>
                    <a:pt x="0" y="1142"/>
                  </a:cubicBezTo>
                  <a:cubicBezTo>
                    <a:pt x="0" y="1785"/>
                    <a:pt x="518" y="2302"/>
                    <a:pt x="1160" y="2302"/>
                  </a:cubicBezTo>
                  <a:cubicBezTo>
                    <a:pt x="1802" y="2302"/>
                    <a:pt x="2320" y="1785"/>
                    <a:pt x="2320" y="1142"/>
                  </a:cubicBezTo>
                  <a:cubicBezTo>
                    <a:pt x="2320" y="518"/>
                    <a:pt x="1802" y="1"/>
                    <a:pt x="116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5"/>
            <p:cNvSpPr/>
            <p:nvPr/>
          </p:nvSpPr>
          <p:spPr>
            <a:xfrm>
              <a:off x="6966125" y="2945575"/>
              <a:ext cx="153025" cy="157050"/>
            </a:xfrm>
            <a:custGeom>
              <a:rect b="b" l="l" r="r" t="t"/>
              <a:pathLst>
                <a:path extrusionOk="0" h="6282" w="6121">
                  <a:moveTo>
                    <a:pt x="3073" y="531"/>
                  </a:moveTo>
                  <a:cubicBezTo>
                    <a:pt x="3105" y="531"/>
                    <a:pt x="3141" y="561"/>
                    <a:pt x="3141" y="590"/>
                  </a:cubicBezTo>
                  <a:lnTo>
                    <a:pt x="3141" y="625"/>
                  </a:lnTo>
                  <a:lnTo>
                    <a:pt x="3141" y="911"/>
                  </a:lnTo>
                  <a:cubicBezTo>
                    <a:pt x="3159" y="947"/>
                    <a:pt x="3123" y="1000"/>
                    <a:pt x="3070" y="1000"/>
                  </a:cubicBezTo>
                  <a:cubicBezTo>
                    <a:pt x="3063" y="1003"/>
                    <a:pt x="3056" y="1005"/>
                    <a:pt x="3049" y="1005"/>
                  </a:cubicBezTo>
                  <a:cubicBezTo>
                    <a:pt x="3017" y="1005"/>
                    <a:pt x="2980" y="973"/>
                    <a:pt x="2980" y="929"/>
                  </a:cubicBezTo>
                  <a:lnTo>
                    <a:pt x="2980" y="911"/>
                  </a:lnTo>
                  <a:lnTo>
                    <a:pt x="2980" y="625"/>
                  </a:lnTo>
                  <a:cubicBezTo>
                    <a:pt x="2963" y="572"/>
                    <a:pt x="2998" y="536"/>
                    <a:pt x="3052" y="536"/>
                  </a:cubicBezTo>
                  <a:cubicBezTo>
                    <a:pt x="3058" y="533"/>
                    <a:pt x="3065" y="531"/>
                    <a:pt x="3073" y="531"/>
                  </a:cubicBezTo>
                  <a:close/>
                  <a:moveTo>
                    <a:pt x="1921" y="1009"/>
                  </a:moveTo>
                  <a:cubicBezTo>
                    <a:pt x="1941" y="1009"/>
                    <a:pt x="1963" y="1018"/>
                    <a:pt x="1981" y="1036"/>
                  </a:cubicBezTo>
                  <a:lnTo>
                    <a:pt x="2195" y="1250"/>
                  </a:lnTo>
                  <a:cubicBezTo>
                    <a:pt x="2213" y="1286"/>
                    <a:pt x="2213" y="1321"/>
                    <a:pt x="2195" y="1357"/>
                  </a:cubicBezTo>
                  <a:cubicBezTo>
                    <a:pt x="2177" y="1375"/>
                    <a:pt x="2160" y="1393"/>
                    <a:pt x="2124" y="1393"/>
                  </a:cubicBezTo>
                  <a:cubicBezTo>
                    <a:pt x="2106" y="1393"/>
                    <a:pt x="2088" y="1375"/>
                    <a:pt x="2070" y="1357"/>
                  </a:cubicBezTo>
                  <a:lnTo>
                    <a:pt x="1874" y="1161"/>
                  </a:lnTo>
                  <a:cubicBezTo>
                    <a:pt x="1838" y="1125"/>
                    <a:pt x="1838" y="1071"/>
                    <a:pt x="1874" y="1054"/>
                  </a:cubicBezTo>
                  <a:lnTo>
                    <a:pt x="1874" y="1036"/>
                  </a:lnTo>
                  <a:cubicBezTo>
                    <a:pt x="1883" y="1018"/>
                    <a:pt x="1901" y="1009"/>
                    <a:pt x="1921" y="1009"/>
                  </a:cubicBezTo>
                  <a:close/>
                  <a:moveTo>
                    <a:pt x="4187" y="1034"/>
                  </a:moveTo>
                  <a:cubicBezTo>
                    <a:pt x="4214" y="1034"/>
                    <a:pt x="4243" y="1049"/>
                    <a:pt x="4265" y="1071"/>
                  </a:cubicBezTo>
                  <a:cubicBezTo>
                    <a:pt x="4283" y="1089"/>
                    <a:pt x="4283" y="1143"/>
                    <a:pt x="4265" y="1179"/>
                  </a:cubicBezTo>
                  <a:lnTo>
                    <a:pt x="4051" y="1375"/>
                  </a:lnTo>
                  <a:cubicBezTo>
                    <a:pt x="4033" y="1393"/>
                    <a:pt x="4015" y="1410"/>
                    <a:pt x="3997" y="1410"/>
                  </a:cubicBezTo>
                  <a:cubicBezTo>
                    <a:pt x="3962" y="1410"/>
                    <a:pt x="3944" y="1393"/>
                    <a:pt x="3926" y="1375"/>
                  </a:cubicBezTo>
                  <a:cubicBezTo>
                    <a:pt x="3908" y="1339"/>
                    <a:pt x="3908" y="1303"/>
                    <a:pt x="3926" y="1268"/>
                  </a:cubicBezTo>
                  <a:lnTo>
                    <a:pt x="4140" y="1054"/>
                  </a:lnTo>
                  <a:cubicBezTo>
                    <a:pt x="4154" y="1040"/>
                    <a:pt x="4170" y="1034"/>
                    <a:pt x="4187" y="1034"/>
                  </a:cubicBezTo>
                  <a:close/>
                  <a:moveTo>
                    <a:pt x="1767" y="2106"/>
                  </a:moveTo>
                  <a:cubicBezTo>
                    <a:pt x="1821" y="2106"/>
                    <a:pt x="1856" y="2142"/>
                    <a:pt x="1856" y="2178"/>
                  </a:cubicBezTo>
                  <a:cubicBezTo>
                    <a:pt x="1856" y="2231"/>
                    <a:pt x="1838" y="2267"/>
                    <a:pt x="1785" y="2267"/>
                  </a:cubicBezTo>
                  <a:cubicBezTo>
                    <a:pt x="1785" y="2276"/>
                    <a:pt x="1780" y="2280"/>
                    <a:pt x="1776" y="2280"/>
                  </a:cubicBezTo>
                  <a:cubicBezTo>
                    <a:pt x="1772" y="2280"/>
                    <a:pt x="1767" y="2276"/>
                    <a:pt x="1767" y="2267"/>
                  </a:cubicBezTo>
                  <a:lnTo>
                    <a:pt x="1482" y="2267"/>
                  </a:lnTo>
                  <a:cubicBezTo>
                    <a:pt x="1446" y="2267"/>
                    <a:pt x="1410" y="2231"/>
                    <a:pt x="1410" y="2178"/>
                  </a:cubicBezTo>
                  <a:cubicBezTo>
                    <a:pt x="1410" y="2142"/>
                    <a:pt x="1446" y="2106"/>
                    <a:pt x="1482" y="2106"/>
                  </a:cubicBezTo>
                  <a:close/>
                  <a:moveTo>
                    <a:pt x="4640" y="2106"/>
                  </a:moveTo>
                  <a:cubicBezTo>
                    <a:pt x="4675" y="2106"/>
                    <a:pt x="4729" y="2142"/>
                    <a:pt x="4729" y="2178"/>
                  </a:cubicBezTo>
                  <a:cubicBezTo>
                    <a:pt x="4729" y="2231"/>
                    <a:pt x="4693" y="2267"/>
                    <a:pt x="4658" y="2267"/>
                  </a:cubicBezTo>
                  <a:cubicBezTo>
                    <a:pt x="4658" y="2276"/>
                    <a:pt x="4653" y="2280"/>
                    <a:pt x="4649" y="2280"/>
                  </a:cubicBezTo>
                  <a:cubicBezTo>
                    <a:pt x="4644" y="2280"/>
                    <a:pt x="4640" y="2276"/>
                    <a:pt x="4640" y="2267"/>
                  </a:cubicBezTo>
                  <a:lnTo>
                    <a:pt x="4336" y="2267"/>
                  </a:lnTo>
                  <a:cubicBezTo>
                    <a:pt x="4330" y="2270"/>
                    <a:pt x="4324" y="2272"/>
                    <a:pt x="4318" y="2272"/>
                  </a:cubicBezTo>
                  <a:cubicBezTo>
                    <a:pt x="4289" y="2272"/>
                    <a:pt x="4262" y="2240"/>
                    <a:pt x="4247" y="2196"/>
                  </a:cubicBezTo>
                  <a:cubicBezTo>
                    <a:pt x="4247" y="2160"/>
                    <a:pt x="4283" y="2106"/>
                    <a:pt x="4319" y="2106"/>
                  </a:cubicBezTo>
                  <a:close/>
                  <a:moveTo>
                    <a:pt x="3055" y="1249"/>
                  </a:moveTo>
                  <a:cubicBezTo>
                    <a:pt x="3066" y="1249"/>
                    <a:pt x="3077" y="1250"/>
                    <a:pt x="3087" y="1250"/>
                  </a:cubicBezTo>
                  <a:cubicBezTo>
                    <a:pt x="3605" y="1268"/>
                    <a:pt x="4015" y="1678"/>
                    <a:pt x="4033" y="2196"/>
                  </a:cubicBezTo>
                  <a:lnTo>
                    <a:pt x="4033" y="2231"/>
                  </a:lnTo>
                  <a:cubicBezTo>
                    <a:pt x="4033" y="2338"/>
                    <a:pt x="3997" y="2463"/>
                    <a:pt x="3962" y="2570"/>
                  </a:cubicBezTo>
                  <a:cubicBezTo>
                    <a:pt x="3926" y="2659"/>
                    <a:pt x="3873" y="2767"/>
                    <a:pt x="3801" y="2838"/>
                  </a:cubicBezTo>
                  <a:cubicBezTo>
                    <a:pt x="3694" y="2963"/>
                    <a:pt x="3605" y="3106"/>
                    <a:pt x="3551" y="3248"/>
                  </a:cubicBezTo>
                  <a:cubicBezTo>
                    <a:pt x="3534" y="3248"/>
                    <a:pt x="3534" y="3266"/>
                    <a:pt x="3534" y="3266"/>
                  </a:cubicBezTo>
                  <a:lnTo>
                    <a:pt x="2570" y="3266"/>
                  </a:lnTo>
                  <a:cubicBezTo>
                    <a:pt x="2499" y="3106"/>
                    <a:pt x="2427" y="2963"/>
                    <a:pt x="2320" y="2838"/>
                  </a:cubicBezTo>
                  <a:cubicBezTo>
                    <a:pt x="2249" y="2767"/>
                    <a:pt x="2195" y="2659"/>
                    <a:pt x="2160" y="2570"/>
                  </a:cubicBezTo>
                  <a:cubicBezTo>
                    <a:pt x="2106" y="2463"/>
                    <a:pt x="2088" y="2356"/>
                    <a:pt x="2088" y="2231"/>
                  </a:cubicBezTo>
                  <a:lnTo>
                    <a:pt x="2088" y="2196"/>
                  </a:lnTo>
                  <a:cubicBezTo>
                    <a:pt x="2106" y="1671"/>
                    <a:pt x="2534" y="1249"/>
                    <a:pt x="3055" y="1249"/>
                  </a:cubicBezTo>
                  <a:close/>
                  <a:moveTo>
                    <a:pt x="3994" y="2969"/>
                  </a:moveTo>
                  <a:cubicBezTo>
                    <a:pt x="4018" y="2969"/>
                    <a:pt x="4040" y="2978"/>
                    <a:pt x="4051" y="2998"/>
                  </a:cubicBezTo>
                  <a:lnTo>
                    <a:pt x="4265" y="3195"/>
                  </a:lnTo>
                  <a:cubicBezTo>
                    <a:pt x="4301" y="3230"/>
                    <a:pt x="4301" y="3266"/>
                    <a:pt x="4265" y="3302"/>
                  </a:cubicBezTo>
                  <a:cubicBezTo>
                    <a:pt x="4247" y="3320"/>
                    <a:pt x="4229" y="3337"/>
                    <a:pt x="4194" y="3337"/>
                  </a:cubicBezTo>
                  <a:cubicBezTo>
                    <a:pt x="4176" y="3337"/>
                    <a:pt x="4158" y="3320"/>
                    <a:pt x="4140" y="3302"/>
                  </a:cubicBezTo>
                  <a:lnTo>
                    <a:pt x="3926" y="3106"/>
                  </a:lnTo>
                  <a:cubicBezTo>
                    <a:pt x="3908" y="3070"/>
                    <a:pt x="3926" y="3016"/>
                    <a:pt x="3944" y="2981"/>
                  </a:cubicBezTo>
                  <a:cubicBezTo>
                    <a:pt x="3959" y="2973"/>
                    <a:pt x="3977" y="2969"/>
                    <a:pt x="3994" y="2969"/>
                  </a:cubicBezTo>
                  <a:close/>
                  <a:moveTo>
                    <a:pt x="2133" y="2990"/>
                  </a:moveTo>
                  <a:cubicBezTo>
                    <a:pt x="2155" y="2990"/>
                    <a:pt x="2177" y="2998"/>
                    <a:pt x="2195" y="3016"/>
                  </a:cubicBezTo>
                  <a:cubicBezTo>
                    <a:pt x="2213" y="3052"/>
                    <a:pt x="2213" y="3088"/>
                    <a:pt x="2195" y="3123"/>
                  </a:cubicBezTo>
                  <a:lnTo>
                    <a:pt x="1981" y="3337"/>
                  </a:lnTo>
                  <a:cubicBezTo>
                    <a:pt x="1966" y="3345"/>
                    <a:pt x="1949" y="3349"/>
                    <a:pt x="1930" y="3349"/>
                  </a:cubicBezTo>
                  <a:cubicBezTo>
                    <a:pt x="1904" y="3349"/>
                    <a:pt x="1877" y="3341"/>
                    <a:pt x="1856" y="3320"/>
                  </a:cubicBezTo>
                  <a:cubicBezTo>
                    <a:pt x="1838" y="3284"/>
                    <a:pt x="1838" y="3248"/>
                    <a:pt x="1856" y="3213"/>
                  </a:cubicBezTo>
                  <a:lnTo>
                    <a:pt x="2070" y="3016"/>
                  </a:lnTo>
                  <a:cubicBezTo>
                    <a:pt x="2088" y="2998"/>
                    <a:pt x="2111" y="2990"/>
                    <a:pt x="2133" y="2990"/>
                  </a:cubicBezTo>
                  <a:close/>
                  <a:moveTo>
                    <a:pt x="3391" y="3427"/>
                  </a:moveTo>
                  <a:cubicBezTo>
                    <a:pt x="3444" y="3427"/>
                    <a:pt x="3498" y="3480"/>
                    <a:pt x="3498" y="3534"/>
                  </a:cubicBezTo>
                  <a:cubicBezTo>
                    <a:pt x="3498" y="3605"/>
                    <a:pt x="3444" y="3659"/>
                    <a:pt x="3391" y="3659"/>
                  </a:cubicBezTo>
                  <a:lnTo>
                    <a:pt x="2731" y="3659"/>
                  </a:lnTo>
                  <a:cubicBezTo>
                    <a:pt x="2677" y="3659"/>
                    <a:pt x="2606" y="3605"/>
                    <a:pt x="2606" y="3534"/>
                  </a:cubicBezTo>
                  <a:cubicBezTo>
                    <a:pt x="2606" y="3480"/>
                    <a:pt x="2677" y="3427"/>
                    <a:pt x="2731" y="3427"/>
                  </a:cubicBezTo>
                  <a:close/>
                  <a:moveTo>
                    <a:pt x="3302" y="3837"/>
                  </a:moveTo>
                  <a:cubicBezTo>
                    <a:pt x="3302" y="3962"/>
                    <a:pt x="3195" y="4069"/>
                    <a:pt x="3070" y="4069"/>
                  </a:cubicBezTo>
                  <a:cubicBezTo>
                    <a:pt x="2927" y="4069"/>
                    <a:pt x="2802" y="3962"/>
                    <a:pt x="2802" y="3837"/>
                  </a:cubicBezTo>
                  <a:close/>
                  <a:moveTo>
                    <a:pt x="322" y="1"/>
                  </a:moveTo>
                  <a:cubicBezTo>
                    <a:pt x="143" y="19"/>
                    <a:pt x="1" y="162"/>
                    <a:pt x="1" y="340"/>
                  </a:cubicBezTo>
                  <a:lnTo>
                    <a:pt x="1" y="4604"/>
                  </a:lnTo>
                  <a:cubicBezTo>
                    <a:pt x="1" y="4783"/>
                    <a:pt x="143" y="4925"/>
                    <a:pt x="322" y="4925"/>
                  </a:cubicBezTo>
                  <a:lnTo>
                    <a:pt x="1339" y="4925"/>
                  </a:lnTo>
                  <a:lnTo>
                    <a:pt x="1339" y="6282"/>
                  </a:lnTo>
                  <a:lnTo>
                    <a:pt x="2552" y="4925"/>
                  </a:lnTo>
                  <a:lnTo>
                    <a:pt x="5782" y="4925"/>
                  </a:lnTo>
                  <a:cubicBezTo>
                    <a:pt x="5960" y="4925"/>
                    <a:pt x="6121" y="4783"/>
                    <a:pt x="6121" y="4622"/>
                  </a:cubicBezTo>
                  <a:lnTo>
                    <a:pt x="6121" y="4604"/>
                  </a:lnTo>
                  <a:lnTo>
                    <a:pt x="6121" y="340"/>
                  </a:lnTo>
                  <a:cubicBezTo>
                    <a:pt x="6121" y="162"/>
                    <a:pt x="5978" y="19"/>
                    <a:pt x="580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2" name="Google Shape;262;p25"/>
          <p:cNvSpPr/>
          <p:nvPr/>
        </p:nvSpPr>
        <p:spPr>
          <a:xfrm>
            <a:off x="-9000" y="5694525"/>
            <a:ext cx="12210000" cy="12480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6"/>
          <p:cNvSpPr txBox="1"/>
          <p:nvPr>
            <p:ph idx="1" type="body"/>
          </p:nvPr>
        </p:nvSpPr>
        <p:spPr>
          <a:xfrm>
            <a:off x="4902227" y="1191775"/>
            <a:ext cx="6609300" cy="7584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rgbClr val="E91A4D"/>
              </a:buClr>
              <a:buSzPts val="3600"/>
              <a:buNone/>
            </a:pPr>
            <a:r>
              <a:rPr lang="es-ES">
                <a:solidFill>
                  <a:srgbClr val="E91A4D"/>
                </a:solidFill>
              </a:rPr>
              <a:t>Key Metrics at a Glance</a:t>
            </a:r>
            <a:endParaRPr/>
          </a:p>
        </p:txBody>
      </p:sp>
      <p:sp>
        <p:nvSpPr>
          <p:cNvPr id="268" name="Google Shape;268;p26"/>
          <p:cNvSpPr/>
          <p:nvPr/>
        </p:nvSpPr>
        <p:spPr>
          <a:xfrm>
            <a:off x="5493527" y="1979700"/>
            <a:ext cx="6018000" cy="289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2100"/>
              <a:t>Drug Industry Rank: 55 out of 93</a:t>
            </a:r>
            <a:endParaRPr sz="2100"/>
          </a:p>
          <a:p>
            <a:pPr indent="0" lvl="0" marL="0" marR="0" rtl="0" algn="l">
              <a:spcBef>
                <a:spcPts val="0"/>
              </a:spcBef>
              <a:spcAft>
                <a:spcPts val="0"/>
              </a:spcAft>
              <a:buNone/>
            </a:pPr>
            <a:r>
              <a:t/>
            </a:r>
            <a:endParaRPr sz="2100"/>
          </a:p>
          <a:p>
            <a:pPr indent="0" lvl="0" marL="0" marR="0" rtl="0" algn="l">
              <a:spcBef>
                <a:spcPts val="0"/>
              </a:spcBef>
              <a:spcAft>
                <a:spcPts val="0"/>
              </a:spcAft>
              <a:buNone/>
            </a:pPr>
            <a:r>
              <a:rPr b="1" lang="es-ES" sz="2100" u="sng"/>
              <a:t>Eli Lilly &amp; CO</a:t>
            </a:r>
            <a:endParaRPr b="1" sz="2100" u="sng"/>
          </a:p>
          <a:p>
            <a:pPr indent="0" lvl="0" marL="0" marR="0" rtl="0" algn="l">
              <a:spcBef>
                <a:spcPts val="0"/>
              </a:spcBef>
              <a:spcAft>
                <a:spcPts val="0"/>
              </a:spcAft>
              <a:buNone/>
            </a:pPr>
            <a:r>
              <a:rPr lang="es-ES" sz="2100"/>
              <a:t>Financial Strength Rating: A++ (Since 2015)</a:t>
            </a:r>
            <a:endParaRPr sz="2100"/>
          </a:p>
          <a:p>
            <a:pPr indent="0" lvl="0" marL="0" marR="0" rtl="0" algn="l">
              <a:spcBef>
                <a:spcPts val="0"/>
              </a:spcBef>
              <a:spcAft>
                <a:spcPts val="0"/>
              </a:spcAft>
              <a:buNone/>
            </a:pPr>
            <a:r>
              <a:rPr lang="es-ES" sz="2100"/>
              <a:t>Operating Margin: 37.6% (impressive profitability)</a:t>
            </a:r>
            <a:endParaRPr sz="2100"/>
          </a:p>
          <a:p>
            <a:pPr indent="0" lvl="0" marL="0" marR="0" rtl="0" algn="l">
              <a:spcBef>
                <a:spcPts val="0"/>
              </a:spcBef>
              <a:spcAft>
                <a:spcPts val="0"/>
              </a:spcAft>
              <a:buNone/>
            </a:pPr>
            <a:r>
              <a:rPr lang="es-ES" sz="2100"/>
              <a:t>Return on Equity: 82.8% (extremely high)</a:t>
            </a:r>
            <a:endParaRPr sz="2100"/>
          </a:p>
          <a:p>
            <a:pPr indent="0" lvl="0" marL="0" marR="0" rtl="0" algn="l">
              <a:spcBef>
                <a:spcPts val="0"/>
              </a:spcBef>
              <a:spcAft>
                <a:spcPts val="0"/>
              </a:spcAft>
              <a:buNone/>
            </a:pPr>
            <a:r>
              <a:rPr lang="es-ES" sz="2100"/>
              <a:t>Total Sales: $45.04 billion</a:t>
            </a:r>
            <a:endParaRPr sz="2100"/>
          </a:p>
          <a:p>
            <a:pPr indent="0" lvl="0" marL="0" marR="0" rtl="0" algn="l">
              <a:spcBef>
                <a:spcPts val="0"/>
              </a:spcBef>
              <a:spcAft>
                <a:spcPts val="0"/>
              </a:spcAft>
              <a:buNone/>
            </a:pPr>
            <a:r>
              <a:t/>
            </a:r>
            <a:endParaRPr sz="2100"/>
          </a:p>
          <a:p>
            <a:pPr indent="0" lvl="0" marL="0" marR="0" rtl="0" algn="l">
              <a:spcBef>
                <a:spcPts val="0"/>
              </a:spcBef>
              <a:spcAft>
                <a:spcPts val="0"/>
              </a:spcAft>
              <a:buNone/>
            </a:pPr>
            <a:r>
              <a:rPr lang="es-ES" sz="2100"/>
              <a:t>Growth Trajectory: $9.5B Q3 2023 -&gt; $13.5B Q4 2024</a:t>
            </a:r>
            <a:endParaRPr sz="2100"/>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pic>
        <p:nvPicPr>
          <p:cNvPr id="269" name="Google Shape;269;p26"/>
          <p:cNvPicPr preferRelativeResize="0"/>
          <p:nvPr/>
        </p:nvPicPr>
        <p:blipFill>
          <a:blip r:embed="rId3">
            <a:alphaModFix/>
          </a:blip>
          <a:stretch>
            <a:fillRect/>
          </a:stretch>
        </p:blipFill>
        <p:spPr>
          <a:xfrm>
            <a:off x="162525" y="1191773"/>
            <a:ext cx="4632600" cy="2637151"/>
          </a:xfrm>
          <a:prstGeom prst="rect">
            <a:avLst/>
          </a:prstGeom>
          <a:noFill/>
          <a:ln>
            <a:noFill/>
          </a:ln>
        </p:spPr>
      </p:pic>
      <p:pic>
        <p:nvPicPr>
          <p:cNvPr id="270" name="Google Shape;270;p26"/>
          <p:cNvPicPr preferRelativeResize="0"/>
          <p:nvPr/>
        </p:nvPicPr>
        <p:blipFill>
          <a:blip r:embed="rId4">
            <a:alphaModFix/>
          </a:blip>
          <a:stretch>
            <a:fillRect/>
          </a:stretch>
        </p:blipFill>
        <p:spPr>
          <a:xfrm>
            <a:off x="341324" y="4009450"/>
            <a:ext cx="4274997" cy="1826343"/>
          </a:xfrm>
          <a:prstGeom prst="rect">
            <a:avLst/>
          </a:prstGeom>
          <a:noFill/>
          <a:ln>
            <a:noFill/>
          </a:ln>
        </p:spPr>
      </p:pic>
      <p:sp>
        <p:nvSpPr>
          <p:cNvPr id="271" name="Google Shape;271;p26"/>
          <p:cNvSpPr/>
          <p:nvPr/>
        </p:nvSpPr>
        <p:spPr>
          <a:xfrm>
            <a:off x="-9000" y="5694525"/>
            <a:ext cx="12210000" cy="12480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7"/>
          <p:cNvSpPr txBox="1"/>
          <p:nvPr>
            <p:ph idx="1" type="body"/>
          </p:nvPr>
        </p:nvSpPr>
        <p:spPr>
          <a:xfrm>
            <a:off x="138504" y="170450"/>
            <a:ext cx="8533200" cy="758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91A4D"/>
              </a:buClr>
              <a:buSzPts val="3600"/>
              <a:buNone/>
            </a:pPr>
            <a:r>
              <a:rPr lang="es-ES"/>
              <a:t>Firm Overview</a:t>
            </a:r>
            <a:endParaRPr/>
          </a:p>
        </p:txBody>
      </p:sp>
      <p:sp>
        <p:nvSpPr>
          <p:cNvPr id="277" name="Google Shape;277;p27"/>
          <p:cNvSpPr/>
          <p:nvPr/>
        </p:nvSpPr>
        <p:spPr>
          <a:xfrm>
            <a:off x="-9000" y="5694525"/>
            <a:ext cx="12210000" cy="12480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278" name="Google Shape;278;p27"/>
          <p:cNvGraphicFramePr/>
          <p:nvPr/>
        </p:nvGraphicFramePr>
        <p:xfrm>
          <a:off x="1407788" y="1414096"/>
          <a:ext cx="3000000" cy="3000000"/>
        </p:xfrm>
        <a:graphic>
          <a:graphicData uri="http://schemas.openxmlformats.org/drawingml/2006/table">
            <a:tbl>
              <a:tblPr bandRow="1" firstRow="1">
                <a:noFill/>
                <a:tableStyleId>{04C54F2A-745E-49F1-AF27-C41236E3E5E9}</a:tableStyleId>
              </a:tblPr>
              <a:tblGrid>
                <a:gridCol w="2385875"/>
                <a:gridCol w="2443900"/>
                <a:gridCol w="2221475"/>
                <a:gridCol w="2351250"/>
              </a:tblGrid>
              <a:tr h="1208050">
                <a:tc>
                  <a:txBody>
                    <a:bodyPr/>
                    <a:lstStyle/>
                    <a:p>
                      <a:pPr indent="0" lvl="0" marL="0" marR="0" rtl="0" algn="ctr">
                        <a:lnSpc>
                          <a:spcPct val="150000"/>
                        </a:lnSpc>
                        <a:spcBef>
                          <a:spcPts val="0"/>
                        </a:spcBef>
                        <a:spcAft>
                          <a:spcPts val="0"/>
                        </a:spcAft>
                        <a:buNone/>
                      </a:pPr>
                      <a:r>
                        <a:rPr b="0" lang="es-ES" sz="2000">
                          <a:latin typeface="Montserrat Medium"/>
                          <a:ea typeface="Montserrat Medium"/>
                          <a:cs typeface="Montserrat Medium"/>
                          <a:sym typeface="Montserrat Medium"/>
                        </a:rPr>
                        <a:t>Strengths</a:t>
                      </a:r>
                      <a:endParaRPr/>
                    </a:p>
                  </a:txBody>
                  <a:tcPr marT="154800"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0000"/>
                    </a:solidFill>
                  </a:tcPr>
                </a:tc>
                <a:tc>
                  <a:txBody>
                    <a:bodyPr/>
                    <a:lstStyle/>
                    <a:p>
                      <a:pPr indent="0" lvl="0" marL="0" marR="0" rtl="0" algn="ctr">
                        <a:lnSpc>
                          <a:spcPct val="150000"/>
                        </a:lnSpc>
                        <a:spcBef>
                          <a:spcPts val="0"/>
                        </a:spcBef>
                        <a:spcAft>
                          <a:spcPts val="0"/>
                        </a:spcAft>
                        <a:buNone/>
                      </a:pPr>
                      <a:r>
                        <a:rPr b="0" lang="es-ES" sz="2000">
                          <a:latin typeface="Montserrat Medium"/>
                          <a:ea typeface="Montserrat Medium"/>
                          <a:cs typeface="Montserrat Medium"/>
                          <a:sym typeface="Montserrat Medium"/>
                        </a:rPr>
                        <a:t>Weaknesses</a:t>
                      </a:r>
                      <a:endParaRPr/>
                    </a:p>
                  </a:txBody>
                  <a:tcPr marT="154800"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0000"/>
                    </a:solidFill>
                  </a:tcPr>
                </a:tc>
                <a:tc>
                  <a:txBody>
                    <a:bodyPr/>
                    <a:lstStyle/>
                    <a:p>
                      <a:pPr indent="0" lvl="0" marL="0" marR="0" rtl="0" algn="ctr">
                        <a:lnSpc>
                          <a:spcPct val="150000"/>
                        </a:lnSpc>
                        <a:spcBef>
                          <a:spcPts val="0"/>
                        </a:spcBef>
                        <a:spcAft>
                          <a:spcPts val="0"/>
                        </a:spcAft>
                        <a:buNone/>
                      </a:pPr>
                      <a:r>
                        <a:rPr b="0" lang="es-ES" sz="2000">
                          <a:latin typeface="Montserrat Medium"/>
                          <a:ea typeface="Montserrat Medium"/>
                          <a:cs typeface="Montserrat Medium"/>
                          <a:sym typeface="Montserrat Medium"/>
                        </a:rPr>
                        <a:t>Opportunities</a:t>
                      </a:r>
                      <a:endParaRPr/>
                    </a:p>
                  </a:txBody>
                  <a:tcPr marT="154800"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0000"/>
                    </a:solidFill>
                  </a:tcPr>
                </a:tc>
                <a:tc>
                  <a:txBody>
                    <a:bodyPr/>
                    <a:lstStyle/>
                    <a:p>
                      <a:pPr indent="0" lvl="0" marL="0" marR="0" rtl="0" algn="ctr">
                        <a:lnSpc>
                          <a:spcPct val="150000"/>
                        </a:lnSpc>
                        <a:spcBef>
                          <a:spcPts val="0"/>
                        </a:spcBef>
                        <a:spcAft>
                          <a:spcPts val="0"/>
                        </a:spcAft>
                        <a:buNone/>
                      </a:pPr>
                      <a:r>
                        <a:rPr b="0" lang="es-ES" sz="2000">
                          <a:latin typeface="Montserrat Medium"/>
                          <a:ea typeface="Montserrat Medium"/>
                          <a:cs typeface="Montserrat Medium"/>
                          <a:sym typeface="Montserrat Medium"/>
                        </a:rPr>
                        <a:t>Threats</a:t>
                      </a:r>
                      <a:endParaRPr/>
                    </a:p>
                  </a:txBody>
                  <a:tcPr marT="154800"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0000"/>
                    </a:solidFill>
                  </a:tcPr>
                </a:tc>
              </a:tr>
              <a:tr h="1114725">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Market Leader in weight-loss drugs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Dividend yield low vs peers </a:t>
                      </a:r>
                      <a:endParaRPr sz="1600">
                        <a:latin typeface="Montserrat"/>
                        <a:ea typeface="Montserrat"/>
                        <a:cs typeface="Montserrat"/>
                        <a:sym typeface="Montserrat"/>
                      </a:endParaRPr>
                    </a:p>
                    <a:p>
                      <a:pPr indent="0" lvl="0" marL="0" marR="0" rtl="0" algn="l">
                        <a:lnSpc>
                          <a:spcPct val="150000"/>
                        </a:lnSpc>
                        <a:spcBef>
                          <a:spcPts val="0"/>
                        </a:spcBef>
                        <a:spcAft>
                          <a:spcPts val="0"/>
                        </a:spcAft>
                        <a:buNone/>
                      </a:pPr>
                      <a:r>
                        <a:rPr lang="es-ES" sz="1600">
                          <a:latin typeface="Montserrat"/>
                          <a:ea typeface="Montserrat"/>
                          <a:cs typeface="Montserrat"/>
                          <a:sym typeface="Montserrat"/>
                        </a:rPr>
                        <a:t>0.83%</a:t>
                      </a:r>
                      <a:endParaRPr sz="1600">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Expansion into adjacent indications </a:t>
                      </a:r>
                      <a:endParaRPr sz="1600">
                        <a:solidFill>
                          <a:schemeClr val="dk1"/>
                        </a:solidFill>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Entry of GLP-1 Therapies could erode market share</a:t>
                      </a:r>
                      <a:endParaRPr sz="1600">
                        <a:solidFill>
                          <a:schemeClr val="dk1"/>
                        </a:solidFill>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r>
              <a:tr h="1114725">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A++ strength rating</a:t>
                      </a:r>
                      <a:endParaRPr sz="1600">
                        <a:latin typeface="Montserrat"/>
                        <a:ea typeface="Montserrat"/>
                        <a:cs typeface="Montserrat"/>
                        <a:sym typeface="Montserrat"/>
                      </a:endParaRPr>
                    </a:p>
                    <a:p>
                      <a:pPr indent="0" lvl="0" marL="0" marR="0" rtl="0" algn="l">
                        <a:lnSpc>
                          <a:spcPct val="150000"/>
                        </a:lnSpc>
                        <a:spcBef>
                          <a:spcPts val="0"/>
                        </a:spcBef>
                        <a:spcAft>
                          <a:spcPts val="0"/>
                        </a:spcAft>
                        <a:buNone/>
                      </a:pPr>
                      <a:r>
                        <a:rPr lang="es-ES" sz="1600">
                          <a:latin typeface="Montserrat"/>
                          <a:ea typeface="Montserrat"/>
                          <a:cs typeface="Montserrat"/>
                          <a:sym typeface="Montserrat"/>
                        </a:rPr>
                        <a:t>82.8% ROE | 37.6 % operating margin</a:t>
                      </a:r>
                      <a:endParaRPr sz="1600">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Recent downgrades in price stability and earnings predictions</a:t>
                      </a:r>
                      <a:endParaRPr sz="1600">
                        <a:solidFill>
                          <a:schemeClr val="dk1"/>
                        </a:solidFill>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Forecasted sales growth to $71B by 2026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Global supply chain due to tariffs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r>
              <a:tr h="1114725">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533% total return over 5 years </a:t>
                      </a:r>
                      <a:endParaRPr sz="1600">
                        <a:solidFill>
                          <a:schemeClr val="dk1"/>
                        </a:solidFill>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50000"/>
                        </a:lnSpc>
                        <a:spcBef>
                          <a:spcPts val="0"/>
                        </a:spcBef>
                        <a:spcAft>
                          <a:spcPts val="0"/>
                        </a:spcAft>
                        <a:buNone/>
                      </a:pPr>
                      <a:r>
                        <a:t/>
                      </a:r>
                      <a:endParaRPr sz="1600">
                        <a:solidFill>
                          <a:schemeClr val="dk1"/>
                        </a:solidFill>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3-5 year price target: $930</a:t>
                      </a:r>
                      <a:endParaRPr sz="1600">
                        <a:latin typeface="Montserrat"/>
                        <a:ea typeface="Montserrat"/>
                        <a:cs typeface="Montserrat"/>
                        <a:sym typeface="Montserrat"/>
                      </a:endParaRPr>
                    </a:p>
                    <a:p>
                      <a:pPr indent="0" lvl="0" marL="0" marR="0" rtl="0" algn="l">
                        <a:lnSpc>
                          <a:spcPct val="150000"/>
                        </a:lnSpc>
                        <a:spcBef>
                          <a:spcPts val="0"/>
                        </a:spcBef>
                        <a:spcAft>
                          <a:spcPts val="0"/>
                        </a:spcAft>
                        <a:buNone/>
                      </a:pPr>
                      <a:r>
                        <a:rPr lang="es-ES" sz="1600">
                          <a:latin typeface="Montserrat"/>
                          <a:ea typeface="Montserrat"/>
                          <a:cs typeface="Montserrat"/>
                          <a:sym typeface="Montserrat"/>
                        </a:rPr>
                        <a:t>30-55% upside</a:t>
                      </a:r>
                      <a:endParaRPr sz="1600">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l">
                        <a:lnSpc>
                          <a:spcPct val="150000"/>
                        </a:lnSpc>
                        <a:spcBef>
                          <a:spcPts val="0"/>
                        </a:spcBef>
                        <a:spcAft>
                          <a:spcPts val="0"/>
                        </a:spcAft>
                        <a:buNone/>
                      </a:pPr>
                      <a:r>
                        <a:rPr lang="es-ES" sz="1600">
                          <a:latin typeface="Montserrat"/>
                          <a:ea typeface="Montserrat"/>
                          <a:cs typeface="Montserrat"/>
                          <a:sym typeface="Montserrat"/>
                        </a:rPr>
                        <a:t>Stock trading near upper valuation bonds</a:t>
                      </a:r>
                      <a:endParaRPr sz="1600">
                        <a:solidFill>
                          <a:schemeClr val="dk1"/>
                        </a:solidFill>
                        <a:latin typeface="Montserrat"/>
                        <a:ea typeface="Montserrat"/>
                        <a:cs typeface="Montserrat"/>
                        <a:sym typeface="Montserrat"/>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8"/>
          <p:cNvSpPr txBox="1"/>
          <p:nvPr>
            <p:ph idx="1" type="body"/>
          </p:nvPr>
        </p:nvSpPr>
        <p:spPr>
          <a:xfrm>
            <a:off x="138504" y="170450"/>
            <a:ext cx="8533200" cy="758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91A4D"/>
              </a:buClr>
              <a:buSzPts val="3600"/>
              <a:buNone/>
            </a:pPr>
            <a:r>
              <a:rPr lang="es-ES"/>
              <a:t>SPY vs PPH Daily Chart</a:t>
            </a:r>
            <a:endParaRPr/>
          </a:p>
        </p:txBody>
      </p:sp>
      <p:sp>
        <p:nvSpPr>
          <p:cNvPr id="284" name="Google Shape;284;p28"/>
          <p:cNvSpPr/>
          <p:nvPr/>
        </p:nvSpPr>
        <p:spPr>
          <a:xfrm>
            <a:off x="4411575" y="1584150"/>
            <a:ext cx="7317000" cy="3816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a:t>S&amp;P 500 (SPY)</a:t>
            </a:r>
            <a:endParaRPr/>
          </a:p>
          <a:p>
            <a:pPr indent="-317500" lvl="0" marL="457200" marR="0" rtl="0" algn="l">
              <a:spcBef>
                <a:spcPts val="0"/>
              </a:spcBef>
              <a:spcAft>
                <a:spcPts val="0"/>
              </a:spcAft>
              <a:buSzPts val="1400"/>
              <a:buChar char="●"/>
            </a:pPr>
            <a:r>
              <a:rPr lang="es-ES"/>
              <a:t>Experienced growth for most of the year and peaked at +54%</a:t>
            </a:r>
            <a:endParaRPr/>
          </a:p>
          <a:p>
            <a:pPr indent="-317500" lvl="0" marL="457200" marR="0" rtl="0" algn="l">
              <a:spcBef>
                <a:spcPts val="0"/>
              </a:spcBef>
              <a:spcAft>
                <a:spcPts val="0"/>
              </a:spcAft>
              <a:buSzPts val="1400"/>
              <a:buChar char="●"/>
            </a:pPr>
            <a:r>
              <a:rPr lang="es-ES"/>
              <a:t>underwent significant </a:t>
            </a:r>
            <a:r>
              <a:rPr lang="es-ES"/>
              <a:t>volatility</a:t>
            </a:r>
            <a:r>
              <a:rPr lang="es-ES"/>
              <a:t> and a sharp decline towards the end of the period</a:t>
            </a:r>
            <a:endParaRPr/>
          </a:p>
          <a:p>
            <a:pPr indent="-317500" lvl="0" marL="457200" marR="0" rtl="0" algn="l">
              <a:spcBef>
                <a:spcPts val="0"/>
              </a:spcBef>
              <a:spcAft>
                <a:spcPts val="0"/>
              </a:spcAft>
              <a:buSzPts val="1400"/>
              <a:buChar char="●"/>
            </a:pPr>
            <a:r>
              <a:rPr lang="es-ES"/>
              <a:t>Currently stands at +24.59%, year-over-year, reflecting a considerable correction from its peak</a:t>
            </a:r>
            <a:endParaRPr/>
          </a:p>
          <a:p>
            <a:pPr indent="0" lvl="0" marL="0" marR="0" rtl="0" algn="l">
              <a:spcBef>
                <a:spcPts val="0"/>
              </a:spcBef>
              <a:spcAft>
                <a:spcPts val="0"/>
              </a:spcAft>
              <a:buNone/>
            </a:pPr>
            <a:r>
              <a:rPr lang="es-ES"/>
              <a:t>Pharmaceutical Industry (PPH)</a:t>
            </a:r>
            <a:endParaRPr/>
          </a:p>
          <a:p>
            <a:pPr indent="-317500" lvl="0" marL="457200" marR="0" rtl="0" algn="l">
              <a:spcBef>
                <a:spcPts val="0"/>
              </a:spcBef>
              <a:spcAft>
                <a:spcPts val="0"/>
              </a:spcAft>
              <a:buSzPts val="1400"/>
              <a:buChar char="●"/>
            </a:pPr>
            <a:r>
              <a:rPr lang="es-ES"/>
              <a:t>Initially showed </a:t>
            </a:r>
            <a:r>
              <a:rPr lang="es-ES"/>
              <a:t>positive</a:t>
            </a:r>
            <a:r>
              <a:rPr lang="es-ES"/>
              <a:t> returns but consistently underperformed the S&amp;P 500</a:t>
            </a:r>
            <a:endParaRPr/>
          </a:p>
          <a:p>
            <a:pPr indent="-317500" lvl="0" marL="457200" marR="0" rtl="0" algn="l">
              <a:spcBef>
                <a:spcPts val="0"/>
              </a:spcBef>
              <a:spcAft>
                <a:spcPts val="0"/>
              </a:spcAft>
              <a:buSzPts val="1400"/>
              <a:buChar char="●"/>
            </a:pPr>
            <a:r>
              <a:rPr lang="es-ES"/>
              <a:t>Peaked at around +36% during the period but faced a similar notable decline as the S&amp;P 500</a:t>
            </a:r>
            <a:endParaRPr/>
          </a:p>
          <a:p>
            <a:pPr indent="-317500" lvl="0" marL="457200" marR="0" rtl="0" algn="l">
              <a:spcBef>
                <a:spcPts val="0"/>
              </a:spcBef>
              <a:spcAft>
                <a:spcPts val="0"/>
              </a:spcAft>
              <a:buSzPts val="1400"/>
              <a:buChar char="●"/>
            </a:pPr>
            <a:r>
              <a:rPr lang="es-ES"/>
              <a:t>Currently stands at +10.20% year-over-year, reflecting its underperformance relative to the S&amp;P 500</a:t>
            </a:r>
            <a:endParaRPr/>
          </a:p>
          <a:p>
            <a:pPr indent="0" lvl="0" marL="0" marR="0" rtl="0" algn="l">
              <a:spcBef>
                <a:spcPts val="0"/>
              </a:spcBef>
              <a:spcAft>
                <a:spcPts val="0"/>
              </a:spcAft>
              <a:buNone/>
            </a:pPr>
            <a:r>
              <a:rPr lang="es-ES"/>
              <a:t>Analysis:</a:t>
            </a:r>
            <a:endParaRPr/>
          </a:p>
          <a:p>
            <a:pPr indent="0" lvl="0" marL="0" marR="0" rtl="0" algn="l">
              <a:spcBef>
                <a:spcPts val="0"/>
              </a:spcBef>
              <a:spcAft>
                <a:spcPts val="0"/>
              </a:spcAft>
              <a:buNone/>
            </a:pPr>
            <a:r>
              <a:rPr lang="es-ES"/>
              <a:t>The pharmaceutical industry generally tracked the direction of the S&amp;P 500 throughout much of the period. However significant divergence emerged in late 2024 and early 2025. While both SPY and PPH experienced downturns, PPH’s decline was substantially steeper, which reflects industry specific challenges.</a:t>
            </a:r>
            <a:endParaRPr/>
          </a:p>
        </p:txBody>
      </p:sp>
      <p:sp>
        <p:nvSpPr>
          <p:cNvPr id="285" name="Google Shape;285;p28"/>
          <p:cNvSpPr/>
          <p:nvPr/>
        </p:nvSpPr>
        <p:spPr>
          <a:xfrm>
            <a:off x="-9000" y="5846925"/>
            <a:ext cx="12210000" cy="10956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6" name="Google Shape;286;p28" title="spy-pph-p.jpg"/>
          <p:cNvPicPr preferRelativeResize="0"/>
          <p:nvPr/>
        </p:nvPicPr>
        <p:blipFill>
          <a:blip r:embed="rId3">
            <a:alphaModFix/>
          </a:blip>
          <a:stretch>
            <a:fillRect/>
          </a:stretch>
        </p:blipFill>
        <p:spPr>
          <a:xfrm>
            <a:off x="0" y="1079775"/>
            <a:ext cx="3983801" cy="47671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9"/>
          <p:cNvSpPr txBox="1"/>
          <p:nvPr>
            <p:ph idx="1" type="body"/>
          </p:nvPr>
        </p:nvSpPr>
        <p:spPr>
          <a:xfrm>
            <a:off x="138504" y="170450"/>
            <a:ext cx="8533200" cy="758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91A4D"/>
              </a:buClr>
              <a:buSzPts val="3600"/>
              <a:buNone/>
            </a:pPr>
            <a:r>
              <a:rPr lang="es-ES"/>
              <a:t>LLY vs PPH Daily Chart</a:t>
            </a:r>
            <a:endParaRPr/>
          </a:p>
        </p:txBody>
      </p:sp>
      <p:sp>
        <p:nvSpPr>
          <p:cNvPr id="292" name="Google Shape;292;p29"/>
          <p:cNvSpPr/>
          <p:nvPr/>
        </p:nvSpPr>
        <p:spPr>
          <a:xfrm>
            <a:off x="4277900" y="1397000"/>
            <a:ext cx="7637700" cy="421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a:t>Eli Lilly (LLY)</a:t>
            </a:r>
            <a:endParaRPr/>
          </a:p>
          <a:p>
            <a:pPr indent="-317500" lvl="0" marL="457200" marR="0" rtl="0" algn="l">
              <a:spcBef>
                <a:spcPts val="0"/>
              </a:spcBef>
              <a:spcAft>
                <a:spcPts val="0"/>
              </a:spcAft>
              <a:buSzPts val="1400"/>
              <a:buChar char="●"/>
            </a:pPr>
            <a:r>
              <a:rPr lang="es-ES"/>
              <a:t>Experienced </a:t>
            </a:r>
            <a:r>
              <a:rPr lang="es-ES"/>
              <a:t>significant</a:t>
            </a:r>
            <a:r>
              <a:rPr lang="es-ES"/>
              <a:t> growth throughout the past 12 months and outperformed the broader pharmaceutical industry</a:t>
            </a:r>
            <a:endParaRPr/>
          </a:p>
          <a:p>
            <a:pPr indent="-317500" lvl="0" marL="457200" marR="0" rtl="0" algn="l">
              <a:spcBef>
                <a:spcPts val="0"/>
              </a:spcBef>
              <a:spcAft>
                <a:spcPts val="0"/>
              </a:spcAft>
              <a:buSzPts val="1400"/>
              <a:buChar char="●"/>
            </a:pPr>
            <a:r>
              <a:rPr lang="es-ES"/>
              <a:t>Peaked at +165% year-over-year, reflecting strong investor optimism</a:t>
            </a:r>
            <a:endParaRPr/>
          </a:p>
          <a:p>
            <a:pPr indent="-317500" lvl="0" marL="457200" marR="0" rtl="0" algn="l">
              <a:spcBef>
                <a:spcPts val="0"/>
              </a:spcBef>
              <a:spcAft>
                <a:spcPts val="0"/>
              </a:spcAft>
              <a:buSzPts val="1400"/>
              <a:buChar char="●"/>
            </a:pPr>
            <a:r>
              <a:rPr lang="es-ES"/>
              <a:t>Underwent </a:t>
            </a:r>
            <a:r>
              <a:rPr lang="es-ES"/>
              <a:t>significant</a:t>
            </a:r>
            <a:r>
              <a:rPr lang="es-ES"/>
              <a:t> volatility in recent months</a:t>
            </a:r>
            <a:endParaRPr/>
          </a:p>
          <a:p>
            <a:pPr indent="-317500" lvl="0" marL="457200" marR="0" rtl="0" algn="l">
              <a:spcBef>
                <a:spcPts val="0"/>
              </a:spcBef>
              <a:spcAft>
                <a:spcPts val="0"/>
              </a:spcAft>
              <a:buSzPts val="1400"/>
              <a:buChar char="●"/>
            </a:pPr>
            <a:r>
              <a:rPr lang="es-ES"/>
              <a:t>Currently stands at +101.8%, year-over-year, reflecting exceptional performance relative to industry comparables</a:t>
            </a:r>
            <a:endParaRPr/>
          </a:p>
          <a:p>
            <a:pPr indent="0" lvl="0" marL="0" marR="0" rtl="0" algn="l">
              <a:spcBef>
                <a:spcPts val="0"/>
              </a:spcBef>
              <a:spcAft>
                <a:spcPts val="0"/>
              </a:spcAft>
              <a:buNone/>
            </a:pPr>
            <a:r>
              <a:rPr lang="es-ES"/>
              <a:t>Pharmaceutical Industry (PPH)</a:t>
            </a:r>
            <a:endParaRPr/>
          </a:p>
          <a:p>
            <a:pPr indent="-317500" lvl="0" marL="457200" marR="0" rtl="0" algn="l">
              <a:spcBef>
                <a:spcPts val="0"/>
              </a:spcBef>
              <a:spcAft>
                <a:spcPts val="0"/>
              </a:spcAft>
              <a:buSzPts val="1400"/>
              <a:buChar char="●"/>
            </a:pPr>
            <a:r>
              <a:rPr lang="es-ES"/>
              <a:t>Exhibited growth early on but substantially underperformed LLY </a:t>
            </a:r>
            <a:r>
              <a:rPr lang="es-ES"/>
              <a:t>throughout</a:t>
            </a:r>
            <a:r>
              <a:rPr lang="es-ES"/>
              <a:t> the entire period</a:t>
            </a:r>
            <a:endParaRPr/>
          </a:p>
          <a:p>
            <a:pPr indent="-317500" lvl="0" marL="457200" marR="0" rtl="0" algn="l">
              <a:spcBef>
                <a:spcPts val="0"/>
              </a:spcBef>
              <a:spcAft>
                <a:spcPts val="0"/>
              </a:spcAft>
              <a:buSzPts val="1400"/>
              <a:buChar char="●"/>
            </a:pPr>
            <a:r>
              <a:rPr lang="es-ES"/>
              <a:t>Peaked at around +35% but experienced a significant decline in late 2024 and early 2025</a:t>
            </a:r>
            <a:endParaRPr/>
          </a:p>
          <a:p>
            <a:pPr indent="-317500" lvl="0" marL="457200" marR="0" rtl="0" algn="l">
              <a:spcBef>
                <a:spcPts val="0"/>
              </a:spcBef>
              <a:spcAft>
                <a:spcPts val="0"/>
              </a:spcAft>
              <a:buSzPts val="1400"/>
              <a:buChar char="●"/>
            </a:pPr>
            <a:r>
              <a:rPr lang="es-ES"/>
              <a:t>Current stands at +8.23%, year-over-year, significantly lower than LLY</a:t>
            </a:r>
            <a:endParaRPr/>
          </a:p>
          <a:p>
            <a:pPr indent="0" lvl="0" marL="0" marR="0" rtl="0" algn="l">
              <a:spcBef>
                <a:spcPts val="0"/>
              </a:spcBef>
              <a:spcAft>
                <a:spcPts val="0"/>
              </a:spcAft>
              <a:buNone/>
            </a:pPr>
            <a:r>
              <a:rPr lang="es-ES"/>
              <a:t>Analysis:</a:t>
            </a:r>
            <a:endParaRPr/>
          </a:p>
          <a:p>
            <a:pPr indent="0" lvl="0" marL="0" marR="0" rtl="0" algn="l">
              <a:spcBef>
                <a:spcPts val="0"/>
              </a:spcBef>
              <a:spcAft>
                <a:spcPts val="0"/>
              </a:spcAft>
              <a:buNone/>
            </a:pPr>
            <a:r>
              <a:rPr lang="es-ES"/>
              <a:t>Eli Lilly </a:t>
            </a:r>
            <a:r>
              <a:rPr lang="es-ES"/>
              <a:t>consistently</a:t>
            </a:r>
            <a:r>
              <a:rPr lang="es-ES"/>
              <a:t> outperformed the pharmaceutical industry, </a:t>
            </a:r>
            <a:r>
              <a:rPr lang="es-ES"/>
              <a:t>highlighting strong company performance. A pronounced divergence emerged from the beginning of the period and was maintained throughout, suggesting a sustained investor confidence specifically towards Eli Lilly. Despite recent market volatility affecting both LLY and PPH, LLY maintained significantly higher returns, reflecting its notable performance within the pharmaceutical sector. </a:t>
            </a:r>
            <a:endParaRPr/>
          </a:p>
        </p:txBody>
      </p:sp>
      <p:sp>
        <p:nvSpPr>
          <p:cNvPr id="293" name="Google Shape;293;p29"/>
          <p:cNvSpPr/>
          <p:nvPr/>
        </p:nvSpPr>
        <p:spPr>
          <a:xfrm>
            <a:off x="-9000" y="5846925"/>
            <a:ext cx="12210000" cy="10956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4" name="Google Shape;294;p29" title="lly-pph-p.jpg"/>
          <p:cNvPicPr preferRelativeResize="0"/>
          <p:nvPr/>
        </p:nvPicPr>
        <p:blipFill>
          <a:blip r:embed="rId3">
            <a:alphaModFix/>
          </a:blip>
          <a:stretch>
            <a:fillRect/>
          </a:stretch>
        </p:blipFill>
        <p:spPr>
          <a:xfrm>
            <a:off x="0" y="1078375"/>
            <a:ext cx="3919074" cy="47685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ph idx="1" type="body"/>
          </p:nvPr>
        </p:nvSpPr>
        <p:spPr>
          <a:xfrm>
            <a:off x="138504" y="170450"/>
            <a:ext cx="8533200" cy="758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91A4D"/>
              </a:buClr>
              <a:buSzPts val="3600"/>
              <a:buNone/>
            </a:pPr>
            <a:r>
              <a:rPr lang="es-ES"/>
              <a:t>Comparable Companies Selection</a:t>
            </a:r>
            <a:endParaRPr/>
          </a:p>
        </p:txBody>
      </p:sp>
      <p:sp>
        <p:nvSpPr>
          <p:cNvPr id="300" name="Google Shape;300;p30"/>
          <p:cNvSpPr/>
          <p:nvPr/>
        </p:nvSpPr>
        <p:spPr>
          <a:xfrm>
            <a:off x="-9000" y="5694525"/>
            <a:ext cx="12210000" cy="12480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1" name="Google Shape;301;p30"/>
          <p:cNvPicPr preferRelativeResize="0"/>
          <p:nvPr/>
        </p:nvPicPr>
        <p:blipFill>
          <a:blip r:embed="rId3">
            <a:alphaModFix/>
          </a:blip>
          <a:stretch>
            <a:fillRect/>
          </a:stretch>
        </p:blipFill>
        <p:spPr>
          <a:xfrm>
            <a:off x="0" y="1060175"/>
            <a:ext cx="12192000" cy="4596050"/>
          </a:xfrm>
          <a:prstGeom prst="rect">
            <a:avLst/>
          </a:prstGeom>
          <a:noFill/>
          <a:ln>
            <a:noFill/>
          </a:ln>
        </p:spPr>
      </p:pic>
      <p:sp>
        <p:nvSpPr>
          <p:cNvPr id="302" name="Google Shape;302;p30"/>
          <p:cNvSpPr txBox="1"/>
          <p:nvPr/>
        </p:nvSpPr>
        <p:spPr>
          <a:xfrm>
            <a:off x="433525" y="5993100"/>
            <a:ext cx="11386500" cy="72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ES" sz="1200">
                <a:solidFill>
                  <a:schemeClr val="dk1"/>
                </a:solidFill>
              </a:rPr>
              <a:t>Notes:</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ES" sz="1200">
                <a:solidFill>
                  <a:schemeClr val="dk1"/>
                </a:solidFill>
              </a:rPr>
              <a:t>1. XPH included other companies that were too far from Eli Lilly from the perspective of size, profitability, and business model comparability</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ES" sz="1200">
                <a:solidFill>
                  <a:schemeClr val="dk1"/>
                </a:solidFill>
              </a:rPr>
              <a:t>2. XPH does not include several foreign pharma companies with US ADRs like GSK, Novartis, Sanofi, and Roche. It also does not include AbbVie.</a:t>
            </a:r>
            <a:endParaRPr b="1" sz="1200">
              <a:solidFill>
                <a:schemeClr val="dk1"/>
              </a:solidFill>
            </a:endParaRPr>
          </a:p>
          <a:p>
            <a:pPr indent="0" lvl="0" marL="0" rtl="0" algn="l">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1"/>
          <p:cNvSpPr txBox="1"/>
          <p:nvPr>
            <p:ph idx="1" type="body"/>
          </p:nvPr>
        </p:nvSpPr>
        <p:spPr>
          <a:xfrm>
            <a:off x="138504" y="170450"/>
            <a:ext cx="8533200" cy="758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91A4D"/>
              </a:buClr>
              <a:buSzPts val="3600"/>
              <a:buNone/>
            </a:pPr>
            <a:r>
              <a:rPr lang="es-ES"/>
              <a:t>Comparable Company Valuations</a:t>
            </a:r>
            <a:endParaRPr/>
          </a:p>
        </p:txBody>
      </p:sp>
      <p:sp>
        <p:nvSpPr>
          <p:cNvPr id="308" name="Google Shape;308;p31"/>
          <p:cNvSpPr/>
          <p:nvPr/>
        </p:nvSpPr>
        <p:spPr>
          <a:xfrm>
            <a:off x="-9000" y="5651525"/>
            <a:ext cx="12210000" cy="12909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31"/>
          <p:cNvSpPr txBox="1"/>
          <p:nvPr/>
        </p:nvSpPr>
        <p:spPr>
          <a:xfrm>
            <a:off x="0" y="5704800"/>
            <a:ext cx="12192000" cy="72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ES" sz="1200">
                <a:solidFill>
                  <a:schemeClr val="dk1"/>
                </a:solidFill>
              </a:rPr>
              <a:t>Notes:</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ES" sz="1200">
                <a:solidFill>
                  <a:schemeClr val="dk1"/>
                </a:solidFill>
              </a:rPr>
              <a:t>1. JNJ's high multiple is attributable to its diversified businesses (pharma, medtech, and consumer health), consistent earnings growth, and strong balance sheet</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ES" sz="1200">
                <a:solidFill>
                  <a:schemeClr val="dk1"/>
                </a:solidFill>
              </a:rPr>
              <a:t>2. Zoetis's high multiple is underpinned by its market leadership in animal health, consistent growth, and premium profitability</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ES" sz="1200">
                <a:solidFill>
                  <a:schemeClr val="dk1"/>
                </a:solidFill>
              </a:rPr>
              <a:t>3. While some of the smaller companies may have comparable profitability as the larger ones, their multiples are lower due to higher leverage and smaller breadth</a:t>
            </a:r>
            <a:endParaRPr b="1" sz="1200">
              <a:solidFill>
                <a:schemeClr val="dk1"/>
              </a:solidFill>
            </a:endParaRPr>
          </a:p>
          <a:p>
            <a:pPr indent="0" lvl="0" marL="0" rtl="0" algn="l">
              <a:lnSpc>
                <a:spcPct val="115000"/>
              </a:lnSpc>
              <a:spcBef>
                <a:spcPts val="0"/>
              </a:spcBef>
              <a:spcAft>
                <a:spcPts val="0"/>
              </a:spcAft>
              <a:buNone/>
            </a:pPr>
            <a:r>
              <a:t/>
            </a:r>
            <a:endParaRPr b="1" sz="1200">
              <a:solidFill>
                <a:schemeClr val="dk1"/>
              </a:solidFill>
            </a:endParaRPr>
          </a:p>
          <a:p>
            <a:pPr indent="0" lvl="0" marL="0" rtl="0" algn="l">
              <a:spcBef>
                <a:spcPts val="0"/>
              </a:spcBef>
              <a:spcAft>
                <a:spcPts val="0"/>
              </a:spcAft>
              <a:buNone/>
            </a:pPr>
            <a:r>
              <a:t/>
            </a:r>
            <a:endParaRPr/>
          </a:p>
        </p:txBody>
      </p:sp>
      <p:pic>
        <p:nvPicPr>
          <p:cNvPr id="310" name="Google Shape;310;p31"/>
          <p:cNvPicPr preferRelativeResize="0"/>
          <p:nvPr/>
        </p:nvPicPr>
        <p:blipFill rotWithShape="1">
          <a:blip r:embed="rId3">
            <a:alphaModFix/>
          </a:blip>
          <a:srcRect b="0" l="0" r="0" t="13307"/>
          <a:stretch/>
        </p:blipFill>
        <p:spPr>
          <a:xfrm>
            <a:off x="0" y="1088075"/>
            <a:ext cx="12210276" cy="45634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2"/>
          <p:cNvSpPr txBox="1"/>
          <p:nvPr>
            <p:ph idx="1" type="body"/>
          </p:nvPr>
        </p:nvSpPr>
        <p:spPr>
          <a:xfrm>
            <a:off x="138504" y="170450"/>
            <a:ext cx="8533200" cy="758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91A4D"/>
              </a:buClr>
              <a:buSzPts val="3600"/>
              <a:buNone/>
            </a:pPr>
            <a:r>
              <a:rPr lang="es-ES"/>
              <a:t>Capital Structure</a:t>
            </a:r>
            <a:endParaRPr/>
          </a:p>
        </p:txBody>
      </p:sp>
      <p:sp>
        <p:nvSpPr>
          <p:cNvPr id="316" name="Google Shape;316;p32"/>
          <p:cNvSpPr/>
          <p:nvPr/>
        </p:nvSpPr>
        <p:spPr>
          <a:xfrm>
            <a:off x="-9000" y="5651525"/>
            <a:ext cx="12210000" cy="12909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32"/>
          <p:cNvSpPr txBox="1"/>
          <p:nvPr/>
        </p:nvSpPr>
        <p:spPr>
          <a:xfrm>
            <a:off x="0" y="5704800"/>
            <a:ext cx="12192000" cy="72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ES" sz="1500">
                <a:solidFill>
                  <a:schemeClr val="dk1"/>
                </a:solidFill>
              </a:rPr>
              <a:t>Notes:</a:t>
            </a:r>
            <a:endParaRPr b="1" sz="1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ES" sz="1500">
                <a:solidFill>
                  <a:schemeClr val="dk1"/>
                </a:solidFill>
              </a:rPr>
              <a:t>1. JNJ and Zoetis have very little leverage</a:t>
            </a:r>
            <a:endParaRPr b="1" sz="1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ES" sz="1500">
                <a:solidFill>
                  <a:schemeClr val="dk1"/>
                </a:solidFill>
              </a:rPr>
              <a:t>2. Viatris and Organon have comparatively the highest leverage</a:t>
            </a:r>
            <a:endParaRPr b="1" sz="1500">
              <a:solidFill>
                <a:schemeClr val="dk1"/>
              </a:solidFill>
            </a:endParaRPr>
          </a:p>
          <a:p>
            <a:pPr indent="0" lvl="0" marL="0" rtl="0" algn="l">
              <a:spcBef>
                <a:spcPts val="0"/>
              </a:spcBef>
              <a:spcAft>
                <a:spcPts val="0"/>
              </a:spcAft>
              <a:buNone/>
            </a:pPr>
            <a:r>
              <a:t/>
            </a:r>
            <a:endParaRPr b="1" sz="1200">
              <a:solidFill>
                <a:schemeClr val="dk1"/>
              </a:solidFill>
            </a:endParaRPr>
          </a:p>
        </p:txBody>
      </p:sp>
      <p:pic>
        <p:nvPicPr>
          <p:cNvPr id="318" name="Google Shape;318;p32"/>
          <p:cNvPicPr preferRelativeResize="0"/>
          <p:nvPr/>
        </p:nvPicPr>
        <p:blipFill>
          <a:blip r:embed="rId3">
            <a:alphaModFix/>
          </a:blip>
          <a:stretch>
            <a:fillRect/>
          </a:stretch>
        </p:blipFill>
        <p:spPr>
          <a:xfrm>
            <a:off x="0" y="1044050"/>
            <a:ext cx="12209999" cy="4607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3"/>
          <p:cNvSpPr txBox="1"/>
          <p:nvPr>
            <p:ph idx="1" type="body"/>
          </p:nvPr>
        </p:nvSpPr>
        <p:spPr>
          <a:xfrm>
            <a:off x="1652613" y="275073"/>
            <a:ext cx="7381200" cy="758400"/>
          </a:xfrm>
          <a:prstGeom prst="rect">
            <a:avLst/>
          </a:prstGeom>
        </p:spPr>
        <p:txBody>
          <a:bodyPr anchorCtr="0" anchor="ctr" bIns="45700" lIns="91425" spcFirstLastPara="1" rIns="91425" wrap="square" tIns="45700">
            <a:noAutofit/>
          </a:bodyPr>
          <a:lstStyle/>
          <a:p>
            <a:pPr indent="0" lvl="0" marL="0" rtl="0" algn="r">
              <a:spcBef>
                <a:spcPts val="1000"/>
              </a:spcBef>
              <a:spcAft>
                <a:spcPts val="0"/>
              </a:spcAft>
              <a:buNone/>
            </a:pPr>
            <a:r>
              <a:rPr lang="es-ES"/>
              <a:t>Betas</a:t>
            </a:r>
            <a:endParaRPr/>
          </a:p>
        </p:txBody>
      </p:sp>
      <p:pic>
        <p:nvPicPr>
          <p:cNvPr id="324" name="Google Shape;324;p33"/>
          <p:cNvPicPr preferRelativeResize="0"/>
          <p:nvPr/>
        </p:nvPicPr>
        <p:blipFill>
          <a:blip r:embed="rId3">
            <a:alphaModFix/>
          </a:blip>
          <a:stretch>
            <a:fillRect/>
          </a:stretch>
        </p:blipFill>
        <p:spPr>
          <a:xfrm>
            <a:off x="2514600" y="1276348"/>
            <a:ext cx="7162800" cy="4305300"/>
          </a:xfrm>
          <a:prstGeom prst="rect">
            <a:avLst/>
          </a:prstGeom>
          <a:noFill/>
          <a:ln>
            <a:noFill/>
          </a:ln>
        </p:spPr>
      </p:pic>
      <p:sp>
        <p:nvSpPr>
          <p:cNvPr id="325" name="Google Shape;325;p33"/>
          <p:cNvSpPr/>
          <p:nvPr/>
        </p:nvSpPr>
        <p:spPr>
          <a:xfrm>
            <a:off x="-9000" y="5651525"/>
            <a:ext cx="12210000" cy="12909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4"/>
          <p:cNvSpPr txBox="1"/>
          <p:nvPr>
            <p:ph idx="1" type="body"/>
          </p:nvPr>
        </p:nvSpPr>
        <p:spPr>
          <a:xfrm>
            <a:off x="138504" y="170450"/>
            <a:ext cx="8533200" cy="758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91A4D"/>
              </a:buClr>
              <a:buSzPts val="3600"/>
              <a:buNone/>
            </a:pPr>
            <a:r>
              <a:rPr lang="es-ES"/>
              <a:t>Beta Graphs (1)</a:t>
            </a:r>
            <a:endParaRPr/>
          </a:p>
        </p:txBody>
      </p:sp>
      <p:sp>
        <p:nvSpPr>
          <p:cNvPr id="331" name="Google Shape;331;p34"/>
          <p:cNvSpPr/>
          <p:nvPr/>
        </p:nvSpPr>
        <p:spPr>
          <a:xfrm>
            <a:off x="-9000" y="5651525"/>
            <a:ext cx="12210000" cy="12909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32" name="Google Shape;332;p34"/>
          <p:cNvPicPr preferRelativeResize="0"/>
          <p:nvPr/>
        </p:nvPicPr>
        <p:blipFill>
          <a:blip r:embed="rId3">
            <a:alphaModFix/>
          </a:blip>
          <a:stretch>
            <a:fillRect/>
          </a:stretch>
        </p:blipFill>
        <p:spPr>
          <a:xfrm>
            <a:off x="357175" y="1972675"/>
            <a:ext cx="5278450" cy="2635025"/>
          </a:xfrm>
          <a:prstGeom prst="rect">
            <a:avLst/>
          </a:prstGeom>
          <a:noFill/>
          <a:ln>
            <a:noFill/>
          </a:ln>
        </p:spPr>
      </p:pic>
      <p:pic>
        <p:nvPicPr>
          <p:cNvPr id="333" name="Google Shape;333;p34"/>
          <p:cNvPicPr preferRelativeResize="0"/>
          <p:nvPr/>
        </p:nvPicPr>
        <p:blipFill>
          <a:blip r:embed="rId4">
            <a:alphaModFix/>
          </a:blip>
          <a:stretch>
            <a:fillRect/>
          </a:stretch>
        </p:blipFill>
        <p:spPr>
          <a:xfrm>
            <a:off x="6725708" y="1972675"/>
            <a:ext cx="5278442" cy="26350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5"/>
          <p:cNvSpPr txBox="1"/>
          <p:nvPr>
            <p:ph idx="1" type="body"/>
          </p:nvPr>
        </p:nvSpPr>
        <p:spPr>
          <a:xfrm>
            <a:off x="138504" y="170450"/>
            <a:ext cx="8533200" cy="758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91A4D"/>
              </a:buClr>
              <a:buSzPts val="3600"/>
              <a:buNone/>
            </a:pPr>
            <a:r>
              <a:rPr lang="es-ES"/>
              <a:t>Beta Graphs (2)</a:t>
            </a:r>
            <a:endParaRPr/>
          </a:p>
        </p:txBody>
      </p:sp>
      <p:sp>
        <p:nvSpPr>
          <p:cNvPr id="339" name="Google Shape;339;p35"/>
          <p:cNvSpPr/>
          <p:nvPr/>
        </p:nvSpPr>
        <p:spPr>
          <a:xfrm>
            <a:off x="-9000" y="5651525"/>
            <a:ext cx="12210000" cy="12909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0" name="Google Shape;340;p35"/>
          <p:cNvPicPr preferRelativeResize="0"/>
          <p:nvPr/>
        </p:nvPicPr>
        <p:blipFill>
          <a:blip r:embed="rId3">
            <a:alphaModFix/>
          </a:blip>
          <a:stretch>
            <a:fillRect/>
          </a:stretch>
        </p:blipFill>
        <p:spPr>
          <a:xfrm>
            <a:off x="6598375" y="2038825"/>
            <a:ext cx="5228474" cy="2635025"/>
          </a:xfrm>
          <a:prstGeom prst="rect">
            <a:avLst/>
          </a:prstGeom>
          <a:noFill/>
          <a:ln>
            <a:noFill/>
          </a:ln>
        </p:spPr>
      </p:pic>
      <p:pic>
        <p:nvPicPr>
          <p:cNvPr id="341" name="Google Shape;341;p35"/>
          <p:cNvPicPr preferRelativeResize="0"/>
          <p:nvPr/>
        </p:nvPicPr>
        <p:blipFill>
          <a:blip r:embed="rId4">
            <a:alphaModFix/>
          </a:blip>
          <a:stretch>
            <a:fillRect/>
          </a:stretch>
        </p:blipFill>
        <p:spPr>
          <a:xfrm>
            <a:off x="370425" y="2038825"/>
            <a:ext cx="5278437" cy="26350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6"/>
          <p:cNvSpPr txBox="1"/>
          <p:nvPr>
            <p:ph idx="1" type="body"/>
          </p:nvPr>
        </p:nvSpPr>
        <p:spPr>
          <a:xfrm>
            <a:off x="138504" y="170450"/>
            <a:ext cx="8533200" cy="758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91A4D"/>
              </a:buClr>
              <a:buSzPts val="3600"/>
              <a:buNone/>
            </a:pPr>
            <a:r>
              <a:rPr lang="es-ES"/>
              <a:t>Beta Graphs (3)</a:t>
            </a:r>
            <a:endParaRPr/>
          </a:p>
        </p:txBody>
      </p:sp>
      <p:sp>
        <p:nvSpPr>
          <p:cNvPr id="347" name="Google Shape;347;p36"/>
          <p:cNvSpPr/>
          <p:nvPr/>
        </p:nvSpPr>
        <p:spPr>
          <a:xfrm>
            <a:off x="-9000" y="5651525"/>
            <a:ext cx="12210000" cy="12909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8" name="Google Shape;348;p36"/>
          <p:cNvPicPr preferRelativeResize="0"/>
          <p:nvPr/>
        </p:nvPicPr>
        <p:blipFill>
          <a:blip r:embed="rId3">
            <a:alphaModFix/>
          </a:blip>
          <a:stretch>
            <a:fillRect/>
          </a:stretch>
        </p:blipFill>
        <p:spPr>
          <a:xfrm>
            <a:off x="396876" y="2043013"/>
            <a:ext cx="5278425" cy="2626655"/>
          </a:xfrm>
          <a:prstGeom prst="rect">
            <a:avLst/>
          </a:prstGeom>
          <a:noFill/>
          <a:ln>
            <a:noFill/>
          </a:ln>
        </p:spPr>
      </p:pic>
      <p:pic>
        <p:nvPicPr>
          <p:cNvPr id="349" name="Google Shape;349;p36"/>
          <p:cNvPicPr preferRelativeResize="0"/>
          <p:nvPr/>
        </p:nvPicPr>
        <p:blipFill>
          <a:blip r:embed="rId4">
            <a:alphaModFix/>
          </a:blip>
          <a:stretch>
            <a:fillRect/>
          </a:stretch>
        </p:blipFill>
        <p:spPr>
          <a:xfrm>
            <a:off x="6482250" y="2043025"/>
            <a:ext cx="5278425" cy="26266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7"/>
          <p:cNvSpPr txBox="1"/>
          <p:nvPr>
            <p:ph idx="1" type="body"/>
          </p:nvPr>
        </p:nvSpPr>
        <p:spPr>
          <a:xfrm>
            <a:off x="138504" y="170450"/>
            <a:ext cx="8533200" cy="758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91A4D"/>
              </a:buClr>
              <a:buSzPts val="3600"/>
              <a:buNone/>
            </a:pPr>
            <a:r>
              <a:rPr lang="es-ES"/>
              <a:t>Beta Graphs (4)</a:t>
            </a:r>
            <a:endParaRPr/>
          </a:p>
        </p:txBody>
      </p:sp>
      <p:sp>
        <p:nvSpPr>
          <p:cNvPr id="355" name="Google Shape;355;p37"/>
          <p:cNvSpPr/>
          <p:nvPr/>
        </p:nvSpPr>
        <p:spPr>
          <a:xfrm>
            <a:off x="-9000" y="5651525"/>
            <a:ext cx="12210000" cy="1290900"/>
          </a:xfrm>
          <a:prstGeom prst="rect">
            <a:avLst/>
          </a:prstGeom>
          <a:solidFill>
            <a:srgbClr val="A5A5A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56" name="Google Shape;356;p37"/>
          <p:cNvPicPr preferRelativeResize="0"/>
          <p:nvPr/>
        </p:nvPicPr>
        <p:blipFill>
          <a:blip r:embed="rId3">
            <a:alphaModFix/>
          </a:blip>
          <a:stretch>
            <a:fillRect/>
          </a:stretch>
        </p:blipFill>
        <p:spPr>
          <a:xfrm>
            <a:off x="350850" y="1976863"/>
            <a:ext cx="5278425" cy="2626650"/>
          </a:xfrm>
          <a:prstGeom prst="rect">
            <a:avLst/>
          </a:prstGeom>
          <a:noFill/>
          <a:ln>
            <a:noFill/>
          </a:ln>
        </p:spPr>
      </p:pic>
      <p:pic>
        <p:nvPicPr>
          <p:cNvPr id="357" name="Google Shape;357;p37"/>
          <p:cNvPicPr preferRelativeResize="0"/>
          <p:nvPr/>
        </p:nvPicPr>
        <p:blipFill>
          <a:blip r:embed="rId4">
            <a:alphaModFix/>
          </a:blip>
          <a:stretch>
            <a:fillRect/>
          </a:stretch>
        </p:blipFill>
        <p:spPr>
          <a:xfrm>
            <a:off x="6647925" y="1976875"/>
            <a:ext cx="5278425" cy="26266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0077_Robinson_Template_SlidesMania">
  <a:themeElements>
    <a:clrScheme name="Office">
      <a:dk1>
        <a:srgbClr val="000000"/>
      </a:dk1>
      <a:lt1>
        <a:srgbClr val="FFFFFF"/>
      </a:lt1>
      <a:dk2>
        <a:srgbClr val="434343"/>
      </a:dk2>
      <a:lt2>
        <a:srgbClr val="E7E6E6"/>
      </a:lt2>
      <a:accent1>
        <a:srgbClr val="E91A4D"/>
      </a:accent1>
      <a:accent2>
        <a:srgbClr val="030303"/>
      </a:accent2>
      <a:accent3>
        <a:srgbClr val="C3C3C3"/>
      </a:accent3>
      <a:accent4>
        <a:srgbClr val="B6153D"/>
      </a:accent4>
      <a:accent5>
        <a:srgbClr val="5B9BD5"/>
      </a:accent5>
      <a:accent6>
        <a:srgbClr val="E16382"/>
      </a:accent6>
      <a:hlink>
        <a:srgbClr val="E91A4D"/>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